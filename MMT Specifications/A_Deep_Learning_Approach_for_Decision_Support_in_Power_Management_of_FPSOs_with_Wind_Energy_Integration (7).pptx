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320" r:id="rId7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21" r:id="rId72"/>
    <p:sldId id="319" r:id="rId65"/>
  </p:sldIdLst>
  <p:notesMasterIdLst>
    <p:notesMasterId r:id="rId6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1" Type="http://schemas.openxmlformats.org/officeDocument/2006/relationships/slide" Target="slides/slide11.xml"/><Relationship Id="rId72"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Bom dia a todos. Meu nome é Marcos Vinicios Lima dos Santos e hoje apresentarei minha dissertação de mestrado, que aborda uma abordagem de Deep Learning para suporte à decisão no gerenciamento de potência de FPSOs com integração de energia eólica. Este trabalho, desenvolvido no Programa de Engenharia Elétrica da COPPE/UFRJ, sob a orientação do Professor Robson Francisco da Silva Dias, explora como a inteligência artificial pode otimizar a gestão de energia em plataformas offshore. A pesquisa visa contribuir para a descarbonização da indústria de óleo e gás, um tema de crescente relevância global. Vamos agora ao roteiro da apresentação.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Nossa jornada hoje será dividida em sete seções principais. Começaremos com a introdução e motivação, onde contextualizaremos o problema e os objetivos da dissertação. Em seguida, abordaremos a fundamentação teórica, explorando a geração eólica e os sistemas FPSO. Depois, mergulharemos nas técnicas de Deep Learning e na metodologia proposta, detalhando o modelo CEEMDAN-EWT-TFT Aggregator. Apresentaremos o sistema de suporte à decisão, incluindo o Dashboard, o ORI e o AI Copilot. Finalmente, discutiremos os resultados, as conclusões e os trabalhos futuros. Este roteiro nos guiará por aproximadamente 40 minutos de apresentação.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Iniciamos agora a primeira seção, focada na introdução e motivação deste trabalho. Aqui, vamos estabelecer o contexto global e a relevância da nossa pesquisa. É fundamental entender o cenário atual para compreender a importância das soluções propostas. Vamos explorar como a indústria offshore está se adaptando às novas demandas energéticas. Com isso em mente, vamos ao próximo slide para detalhar o cenário de FPSOs integrados com energia eólica.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descarbonização de ativos offshore é uma prioridade global na transição energética. FPSOs integrados com parques eólicos offshore formam sistemas de potência híbridos isolados. Esta arquitetura combina geração eólica renovável com turbinas a gás de backup, conectadas por um barramento AC comum. O desafio fundamental é que estes são sistemas isolados, sem conexão com a rede elétrica continental, tornando a estabilidade do sistema uma questão crítica de segurança. Agora, vamos aprofundar no principal problema físico que surge com essa integração.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intermitência do vento ameaça diretamente a estabilidade do sistema de potência do FPSO. A geração eólica é inerentemente variável e imprevisível, com flutuações extremas em intervalos de minutos. Quedas abruptas de geração, conhecidas como ramp-down events, podem causar desbalanço entre geração e carga, levando a eventos catastróficos como blackouts. A natureza estocástica do vento não é apenas um problema de eficiência, mas um risco direto à continuidade operacional da plataforma. Entender essa volatilidade é crucial para desenvolver soluções robustas, que abordaremos a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sistemas isolados, como os FPSOs, a dinâmica de frequência é um ponto crítico. Uma perda súbita de geração, como uma queda de vento, causa um declínio rápido na frequência. Isso ocorre porque esses sistemas têm baixa inércia. Se a frequência cair abaixo de um limite, os relés de proteção atuam, levando a um blackout. O RoCoF, ou taxa de variação da frequência, é um conceito chave aqui. Ele acelera a queda de frequência em sistemas com alta penetração eólica. A figura ilustra a resposta típica de frequência após a perda de um gerador. Podemos ver a diferença entre um sistema sem load shedding, que colapsa, e um com load shedding, que se recupera. Agora, vamos entender como a previsão pode mitigar esses riscos.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evitar esses colapsos, a previsão é essencial, mas não qualquer previsão. As abordagens determinísticas fornecem apenas uma estimativa pontual. Elas ignoram a incerteza inerente à volatilidade do vento, o que cria uma falsa sensação de segurança. Em contraste, a abordagem probabilística quantifica essa incerteza. Ela nos dá intervalos de confiança, como o P10, P50 e P90. O P10, por exemplo, representa o cenário pessimista, crucial para evitar blackouts. O P50 é a previsão mais provável, e o P90 indica o potencial de excedente. A figura mostra claramente essa diferença, com as faixas de incerteza da previsão probabilística. Com isso em mente, vamos aos objetivos da minha dissertação.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objetivo geral desta dissertação é desenvolver um framework de Deep Learning para suporte à decisão no gerenciamento de potência de FPSOs. Isso envolve quatro pilares principais. Primeiro, na modelagem preditiva, vamos avaliar modelos de Deep Learning e propor uma arquitetura híbrida baseada em decomposição de sinais. Segundo, na gestão de risco, vamos criar um Índice de Risco Operacional, o ORI, para traduzir previsões probabilísticas em ações concretas. Terceiro, vamos desenvolver um Dashboard interativo. Ele será uma ferramenta de decisão para análise tecno-econômica e simulação de estratégias. E, por fim, vamos integrar assistentes baseados em LLM, ou RAG, para fornecer suporte contextual e automatizado ao operador. Esses objetivos nos levam às contribuições principais do 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Minha dissertação apresenta três contribuições principais. A primeira é uma nova arquitetura híbrida: o CEEMDAN-EWT-TFT Aggregator. Este modelo reformula a decomposição de sinais como engenharia de features, superando benchmarks em precisão e eficiência. Ele alcança um MAPE de 1.79%. A segunda contribuição é um sistema de suporte à decisão. Criamos um Dashboard completo que integra o Índice de Risco Operacional, o ORI, e módulos de análise tecno-econômica. Isso traduz previsões em valor financeiro e segurança. Por último, e de forma pioneira, integramos Inteligência Artificial Generativa. Usamos LLMs com RAG no loop operacional, com agentes proativos para vigilância e agentes interativos para execução de tarefas complexas. Essas contribuições se encaixam na visão geral do framework proposto.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visão geral do framework proposto se estrutura em quatro pilares interconectados. O primeiro é a decomposição de sinais, utilizando CEEMDAN e EWT para separar tendências e ruído. Isso é crucial para melhorar a precisão da previsão. O segundo pilar é a previsão probabilística, onde o TFT Aggregator gera previsões multi-horizonte, com os percentis P10, P50 e P90. O terceiro pilar é a gestão de risco, através do Índice de Risco Operacional, o ORI. Ele traduz as incertezas das previsões em níveis de risco operacionais acionáveis. E o quarto pilar é a inteligência artificial, com o AI Copilot e RAG, fornecendo suporte à decisão contextual. A figura ilustra essa arquitetura de alto nível. Agora, vamos aprofundar na fundamentação teórica.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vamos mergulhar na fundamentação teórica que sustenta este trabalho. Esta seção estabelece as bases conceituais para entender a complexidade da integração eólica em FPSOs. É crucial compreender os princípios por trás da conversão de energia eólica e a dinâmica dos sistemas de potência isolados. Isso nos permitirá contextualizar os desafios operacionais e as soluções propostas. Em seguida, exploraremos a curva de potência e como ela governa a conversão de energia eólica.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curva de potência é fundamental para entender a conversão de energia eólica. Ela define quatro regiões operacionais distintas, cada uma com um comportamento específico da turbina. Na Região 1, o vento é insuficiente, e a turbina permanece parada. Na Região 2, o objetivo é otimizar o torque para extrair a máxima potência possível. Já na Região 3, a potência é limitada pelo controle de pitch para não exceder a capacidade nominal. Por fim, na Região 4, a turbina desliga por segurança devido a ventos excessivos. Essa não-linearidade da curva de potência torna a previsão um desafio complexo. Agora, vamos entender como esses sistemas eólicos se integram aos FPSOs.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FPSOs tradicionalmente dependem de turbinas a gás para sua demanda energética, o que implica altos custos e emissões. A integração da energia eólica cria um sistema híbrido isolado, uma microgrid. O grande desafio é balancear a carga variável com a geração intermitente, sem a estabilidade de uma conexão com a rede continental. O conceito de plataforma LEOGO, ou Low Emission Oil &amp; Gas Offshore, é um exemplo de como a eletrificação e descarbonização de ativos offshore podem ser alcançadas. Contudo, essa integração traz riscos operacionais significativos, como veremos a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intermitência do vento representa um risco operacional crítico para FPSOs. Uma queda abrupta na velocidade do vento pode reduzir drasticamente a potência ativa injetada, levando a uma perda súbita de geração. Para mitigar isso, existe o Load Shedding, um mecanismo de proteção que desliga cargas não essenciais para tentar estabilizar a frequência. No entanto, se esse mecanismo falhar ou a inércia do sistema for insuficiente, ocorre um blackout total. Um evento de blackout pode custar cerca de 100 mil dólares, sem contar os riscos de segurança. Entender esses riscos é crucial para a necessidade de uma previsão de potência eólica robusta, que abordaremos no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previsão de potência eólica tem evoluído significativamente ao longo do tempo. Começamos com modelos estatísticos como ARIMA, que são eficazes para padrões lineares, mas limitados pela volatilidade. Em seguida, surgiram os modelos de Machine Learning, como SVR e Random Forest, que lidam melhor com não-linearidades, mas exigem muita engenharia de features. O Deep Learning, com redes como LSTM e GRU, trouxe a capacidade de aprender dependências temporais de longo prazo automaticamente. Atualmente, o estado da arte são as abordagens híbridas, que combinam decomposição de sinais com Deep Learning avançado, como Transformers. Esta evolução é o ponto de partida para as lacunas que esta dissertação busca preencher.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Apesar do avanço das técnicas de previsão, identificamos três lacunas cruciais na literatura que esta dissertação busca preencher. Primeiro, há uma desconexão entre a previsão e a decisão operacional, especialmente em sistemas isolados como FPSOs. A maioria dos trabalhos foca apenas em métricas de erro, sem traduzir isso em ações concretas para o operador. Nossa proposta é um framework integrado que foca na decisão final de despacho. Em segundo lugar, falta uma calibração de risco eficaz para as previsões probabilísticas. Previsões puras são difíceis de interpretar. Propomos um Índice de Risco Operacional, o ORI, com um Safety Factor para traduzir previsões em níveis de risco acionáveis. Por fim, a aplicação de IA generativa em operações offshore é praticamente inexplorada. Nosso AI Copilot, com arquitetura RAG e agentes, aborda essa lacuna. Agora, vamos mergulhar nas técnicas de Deep Learning que sustentam essas inovações.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vamos explorar as técnicas de Deep Learning que são a espinha dorsal da nossa metodologia. Esta seção cobrirá os fundamentos e as arquiteturas específicas que utilizamos. Começaremos com a base de como preparamos os dados para esses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aplicar Deep Learning em séries temporais, precisamos transformar os dados contínuos em um formato que os modelos possam aprender. Usamos a técnica de janela deslizante para isso. Essencialmente, pegamos um histórico de 60 minutos, nosso 'look-back', e o usamos como input para prever os próximos 10, 20 e 30 minutos. Isso cria pares de input e target, permitindo que os modelos aprendam padrões temporais. Em seguida, vamos ver como as arquiteturas recorrentes lidam com esses padrões.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arquiteturas recorrentes, como RNNs, LSTM e GRU, são fundamentais para processar sequências de dados. RNNs simples sofrem com o problema do desvanecimento do gradiente, dificultando o aprendizado de dependências de longo prazo. As LSTMs resolvem isso com suas 'gates' – forget, input e output – que controlam o fluxo de informação, permitindo reter ou descartar memórias importantes. As GRUs são uma versão simplificada das LSTMs, com 'update' e 'reset gates', oferecendo um bom equilíbrio entre desempenho e complexidade. Agora, vamos explorar como as CNNs se encaixam nesse cenário de séries temporais.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Redes Neurais Convolucionais, ou CNNs, são mais conhecidas por processamento de imagens, mas também são poderosas para séries temporais. Usamos a Convolução 1D, onde os filtros deslizam apenas na dimensão do tempo, o que é excelente para extrair padrões locais, como picos ou quedas abruptas. Nossa arquitetura híbrida combina uma CNN como extrator de características, reduzindo ruído e dimensionalidade, com uma Bi-LSTM que modela as dependências temporais sequenciais. Essa combinação tira o melhor de ambos os mundos. A seguir, vamos discutir o mecanismo de atenção e os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mecanismo de atenção é a inovação central dos Transformers, permitindo que o modelo pondere a importância de diferentes partes da sequência de entrada. O Scaled Dot-Product Attention calcula a relevância de cada passo de tempo passado, usando Queries, Keys e Values. A Multi-Head Attention estende isso, permitindo que o modelo capture simultaneamente diferentes tipos de dependências temporais. Isso é crucial para entender relações de longo alcance em séries temporais. Agora, vamos ver como o Temporal Fusion Transformer adapta essa ideia para previsão.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Temporal Fusion Transformer, ou TFT, é uma arquitetura de atenção especializada para séries temporais. Ele incorpora Variable Selection Networks, que selecionam as variáveis mais relevantes a cada passo, e Gated Residual Networks, que aplicam processamento não-linear apenas quando necessário. O coração do TFT é o Temporal Self-Attention, que captura dependências de longo prazo e oferece interpretabilidade. Além disso, ele gera previsões probabilísticas nativamente, fornecendo P10, P50 e P90 para quantificar a incerteza. Em seguida, exploraremos a decomposição de sinais com CEEMDAN.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TFT, ou Temporal Fusion Transformer, é uma arquitetura robusta para séries temporais, e esta imagem detalha seus componentes internos. Ele se destaca por mecanismos de gating, que filtram informações irrelevantes, e por redes de seleção de variáveis, que identificam os dados mais importantes. O coração do TFT é o mecanismo de autoatenção temporal, que permite ao modelo focar em dependências de longo prazo e oferece interpretabilidade. Além disso, ele gera previsões probabilísticas diretamente, fornecendo os percentis P10, P50 e P90 em uma única passagem. Agora, vamos explorar a decomposição de sinais com CEEMDAN.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decomposição CEEMDAN é uma técnica avançada para lidar com sinais não-lineares e não-estacionários, superando limitações de métodos anteriores. Seu processo envolve a adição de ruído branco adaptativo ao sinal original, seguido pela decomposição via EMD para extrair as IMFs. A média do ensemble é então calculada para cancelar o ruído, e o processo se repete iterativamente. Isso resolve o problema de Mode Mixing, garantindo uma separação mais limpa dos componentes do sinal. Agora, veremos como combinamos CEEMDAN com EWT para um refinamento ainda maior.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Continuando a discussão sobre decomposição, a estratégia híbrida CEEMDAN-EWT refina ainda mais a separação dos componentes do sinal. Primeiro, o CEEMDAN decompõe o sinal original em múltiplos Modos Intrínsecos. Em seguida, usamos a Permutation Entropy para identificar os componentes de alta frequência, que geralmente contêm ruído. A Empirical Wavelet Transform, ou EWT, é então aplicada especificamente à IMF de mais alta frequência. Isso permite separar o ruído estocástico dos padrões úteis de alta frequência, otimizando a qualidade do sinal para a previsão. Em seguida, abordaremos as estratégias de treinamento e validação.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garantir previsões robustas e quantificar a incerteza, utilizamos a Regressão Quantílica, que prevê P10, P50 e P90, em vez de apenas a média. A função de perda Pinball Loss é fundamental aqui, pois penaliza erros de forma assimétrica, dependendo do quantil. A otimização de hiperparâmetros é feita com Optuna, usando o algoritmo TPE, que converge mais rápido que métodos tradicionais. Para validar a robustez do modelo e evitar data leakage, empregamos a Time Series Cross-Validation com uma janela deslizante. Isso garante que o modelo seja testado em dados futuros, como em um cenário real. Agora, vamos para a metodologia proposta.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vamos mergulhar na metodologia proposta, que é o coração deste trabalho. Nossa abordagem foi estruturada em quatro estágios principais, garantindo uma transição lógica dos dados brutos até as decisões operacionais. Cada etapa foi cuidadosamente desenhada para otimizar a precisão e a robustez do sistema. A seguir, detalharemos cada um desses estágios, começando pela origem dos nossos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desenvolver e validar nossa metodologia, utilizamos o dataset CARE to Compare, fornecido pelo Fraunhofer IEE. Este dataset é crucial por sua granularidade e representatividade. Selecionamos especificamente os dados da turbina 44 do parque eólico offshore C, que oferece uma série temporal de potência eólica com resolução de 10 minutos. Essa escolha nos permitiu trabalhar com dados realistas e de alta qualidade. Com os dados em mãos, o próximo passo foi prepará-los para o treinamento dos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pipeline de pré-processamento é fundamental para garantir a qualidade e a consistência dos dados. Iniciamos com a limpeza, convertendo timestamps e removendo valores nulos para assegurar a integridade da série temporal. Em seguida, realizamos feature engineering, extraindo o mês para capturar a sazonalidade anual do vento, um fator importante na previsão. Aplicamos uma janela deslizante de 60 minutos para o look-back e 30 minutos para o horizonte de previsão, transformando os dados em pares supervisionados. Por fim, a partição cronológica de 80/20 evitou qualquer vazamento de dados, mantendo a ordem temporal. Após o pré-processamento, a próxima etapa crucial foi a decomposição do sinal.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estratégia de decomposição CEEMDAN-EWT é um dos pilares da nossa metodologia, transformando um problema complexo em partes mais gerenciáveis. Começamos com a série temporal original de potência eólica, que é não-estacionária e ruidosa. No primeiro estágio, o CEEMDAN decompõe essa série em Intrinsic Mode Functions, ou IMFs, onde a IMF1 captura a maior parte da volatilidade de alta frequência. No segundo estágio, aplicamos o EWT exclusivamente à IMF1 para refinar ainda mais, separando o ruído estocástico de padrões rápidos significativos. Essa abordagem nos permite extrair componentes mais previsíveis do sinal. Com essa decomposição, pudemos então aplicar nosso funil metodológico.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Nosso funil metodológico representa uma progressão sistemática, avaliando 17 modelos para encontrar a arquitetura ideal. O objetivo não era apenas minimizar o erro, mas equilibrar precisão, custo computacional e interpretabilidade. Começamos com modelos clássicos de Machine Learning, como SVR e Random Forest, que servem como benchmarks. Em seguida, avançamos para modelos de Deep Learning, como LSTM e Transformer. A etapa seguinte foram os modelos híbridos 'Divide and Conquer', combinando CEEMDAN-EWT com diferentes arquiteturas. Finalmente, chegamos ao nosso modelo proposto, o CEEMDAN-EWT-TFT Aggregator, que integra a decomposição de forma inovadora. Agora, vamos detalhar os modelos benchmark que usamos para estabelecer nossa linha de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abordagem 'Divide and Conquer' é uma estratégia clássica para lidar com a complexidade de séries temporais. Ela funciona decompondo o sinal original em componentes de frequência, as IMFs, e tratando cada uma como um problema de previsão independente. Em essência, treinamos um modelo específico para cada IMF e para o resíduo, somando as previsões individuais no final. Isso significa que, para o nosso caso, precisaríamos de 13 modelos separados, o que aumenta a complexidade computacional e de manutenção. Mas essa abordagem nos permite entender as dinâmicas de cada componente. Agora, vamos ver como inovamos essa ideia.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Nosso modelo proposto, o CEEMDAN-EWT-TFT Aggregator, representa uma mudança de paradigma. Em vez de prever cada IMF separadamente, nós reformulamos a decomposição como uma etapa de 'Feature Engineering'. As IMFs do passado são usadas como variáveis exógenas dinâmicas, alimentando um único modelo TFT. Isso permite que o modelo aprenda as correlações entre as diferentes frequências internamente, gerando a previsão final em uma única inferência. E o mais importante, ele gera nativamente os quantis P10, P50 e P90, que são essenciais para a nossa análise de risco. Vamos explorar as vantagens dessa abordagem.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TFT Aggregator oferece vantagens práticas decisivas para a implantação em um ambiente real. Primeiro, ele aprende as interdependências não-lineares entre os componentes de frequência, algo que a soma simples ignora. Segundo, ele substitui a necessidade de treinar e manter múltiplos modelos por apenas um modelo robusto, simplificando o pipeline de MLOps. Terceiro, ele gera nativamente as previsões probabilísticas, essenciais para a quantificação de incerteza. E por fim, o mecanismo de Self-Attention do TFT oferece interpretabilidade, mostrando quais variáveis e passos de tempo foram mais importantes para cada previsão. Com essas vantagens, podemos avançar para a aplicação prática no gerenciamento de risco.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Índice de Risco Operacional, ou ORI, é uma métrica que desenvolvemos para traduzir as previsões probabilísticas, especificamente o P10, em níveis de alerta acionáveis para o operador do FPSO. Ele categoriza o risco em três níveis: 'Low Risk', quando o P10 está acima do limiar operacional, indicando segurança. 'Attention', quando o P10 prevê uma queda no futuro distante, mas ainda fora do horizonte de gatilho, exigindo monitoramento. E 'High Risk', quando o P10 indica um risco iminente de blackout, exigindo ação imediata, como a partida do gerador de backup. Essa lógica nos permite uma gestão proativa. Agora, vamos ver como isso se traduz em termos econômicos.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análise tecno-econômica quantifica o valor do nosso framework preditivo, simulando os custos operacionais sob diferentes estratégias. Consideramos o alto custo de um blackout, o custo de operação do gerador a gás e o custo de cada partida. Comparamos três estratégias: a reativa, que liga o gerador apenas após a falha, resultando em blackouts. A conservadora, que mantém o gerador ligado o tempo todo, eliminando blackouts, mas maximizando custos. E a nossa proposta, a estratégia preditiva baseada no ORI, que busca o equilíbrio ótimo, ligando o gerador preventivamente. O objetivo é minimizar o custo total, combinando eficiência e segurança. Passamos agora para o Sistema de Suporte à Decisão, o coração da aplicação prática desta dissertação. Este sistema integra as previsões que discutimos com ferramentas que capacitam o operador a tomar decisões informadas. Ele foi projetado para ser intuitivo e eficaz, transformando dados complexos em ações claras. Vamos explorar como ele funciona em detalhes.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Passamos agora para o Sistema de Suporte à Decisão, o coração da aplicação prática desta dissertação. Este sistema integra as previsões que discutimos com ferramentas que capacitam o operador a tomar decisões informadas. Ele foi projetado para ser intuitivo e eficaz, transformando dados complexos em ações claras. Vamos explorar como ele funciona em detalhes.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Dashboard Interativo é a interface central do nosso sistema, consolidando todas as funcionalidades em um único ambiente. Ele oferece uma visualização em tempo real das previsões probabilísticas e do nível de risco operacional, permitindo ao operador monitorar a situação rapidamente. Além disso, o dashboard acompanha os custos operacionais acumulados e compara diferentes estratégias, fornecendo uma análise econômica contínua. E, claro, o AI Copilot está integrado para oferecer suporte inteligente via chat. Agora, vamos mergulhar na arquitetura do AI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AI Copilot é uma arquitetura híbrida que combina o poder dos Large Language Models com a capacidade de usar ferramentas. No seu núcleo, temos um motor de raciocínio que interpreta a intenção do usuário e orquestra a execução de funções. O RAG, ou Retrieval-Augmented Generation, permite que o Copilot acesse uma base de conhecimento estática, como manuais e normas, para fundamentar suas respostas. E o framework de ferramentas permite que ele execute ações dinâmicas, como consultar dados, gerar previsões, calcular riscos e criar relatórios. Mas como esses componentes interagem no dia a dia? Vejamos os agentes.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Nosso AI Copilot opera com dois tipos de agentes: proativo e interativo. O agente proativo atua como um vigilante autônomo, monitorando continuamente as previsões e o Índice de Risco Operacional. Ele envia alertas automáticos quando detecta riscos, garantindo que o operador seja notificado imediatamente. Já o agente interativo permite que o operador delegue tarefas complexas via linguagem natural. Ele pode solicitar análises de causa raiz, relatórios detalhados ou comparações de cenários, tudo isso de forma conversacional. Essa dualidade garante tanto a vigilância constante quanto a capacidade de resposta sob demanda. Agora, vamos ver como o sistema permite comparar diferentes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modo de Comparação de Modelos é uma ferramenta poderosa para avaliar o desempenho de diferentes abordagens. Ele permite selecionar até cinco modelos para uma comparação lado a lado, facilitando a visualização dos trade-offs entre performance e complexidade. As tabelas interativas destacam automaticamente os melhores valores para métricas como MAPE, RMSE, R², custos operacionais e número de blackouts. Além disso, o sistema pode gerar relatórios comparativos em CSV ou PDF para documentação técnica. Com isso, o operador tem todas as informações para escolher a melhor estratégia. Em seguida, vamos analisar os resultados e a discussão.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Chegamos agora à seção de Resultados e Discussão, onde apresentaremos as descobertas da nossa pesquisa. Aqui, vamos detalhar a performance dos modelos desenvolvidos e as implicações para o suporte à decisão. Vamos começar analisando os modelos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modelos benchmark, sem a decomposição de sinais, mostraram um MAPE médio entre 4.3% e 7.5%. Essa variação reflete a dificuldade em lidar com a alta volatilidade dos dados eólicos. O Bi-LSTM teve o melhor desempenho no curto prazo, enquanto o TFT se destacou pela estabilidade no longo prazo. No entanto, esses modelos puros apresentaram um atraso significativo na detecção de quedas abruptas de potência. Agora, vamos ver como a introdução da decomposição mudou esse cenário.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inclusão da decomposição CEEMDAN-EWT nos modelos híbridos gerou um salto de qualidade impressionante. Observamos uma redução média de 61% no erro, com o CEEMDAN-EWT-LSTM alcançando um MAPE de 1.69% e o nosso modelo proposto, o CEEMDAN-EWT-TFT, com 1.79%. Isso demonstra que a decomposição atua como um filtro de ruído eficaz, permitindo que as redes neurais aprendam padrões com muito mais clareza. Vamos agora comparar os modelos de melhor desempenho.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 comparar os top models, o CEEMDAN-EWT-LSTM apresentou um MAPE ligeiramente menor, de 1.69%, contra 1.79% do nosso CEEMDAN-EWT-TFT. Essa diferença de apenas 0.1% é operacionalmente desprezível. Escolhemos o TFT Aggregator como nosso modelo principal porque ele fornece intervalos de confiança essenciais para a gestão de risco, algo que o LSTM não oferece de forma nativa com a mesma eficiência. Essa capacidade de quantificar a incerteza é crucial. Vamos explorar mais sobre esses intervalos de confiança.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vemos um trade-off importante nos intervalos de confiança. O LSTM gera intervalos mais largos, sendo mais conservador, mas com menor precisão para a tomada de decisão. Já o TFT produz intervalos mais estreitos e precisos, indicando uma alta confiança em suas previsões. Contudo, essa alta confiança pode levar a uma subestimação do risco real. Por isso, a calibração externa, através do Safety Factor, é fundamental para garantir a segurança operacional sem comprometer a precisão. Em seguida, veremos como essa calibração impacta diretamente a segurança.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Após comparar os intervalos de confiança, vamos agora visualizar as previsões do modelo proposto. O modelo demonstra uma robustez notável ao capturar a dinâmica dos chamados ramp events, que são as mudanças bruscas de potência. Ele também fornece intervalos de confiança bem calibrados, o que é essencial para a segurança operacional. Podemos observar a série temporal real versus a prevista para os horizontes de 10, 20 e 30 minutos. Percebemos que o modelo consegue seguir de perto a curva real, mesmo em momentos de grande volatilidade. Agora, vamos aprofundar na análise de regressão para quantificar essa aderência.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Dando continuidade à visualização das previsões, a análise de dispersão, ou scatter plot, confirma a alta aderência do modelo aos dados reais. Os pontos estão fortemente agrupados ao redor da linha ideal, que é a linha y=x. Isso indica uma excelente correlação entre o que foi previsto e o que realmente aconteceu. É importante notar que a degradação da performance com o aumento do horizonte de previsão é mínima, inferior a 1.3%. Isso demonstra a estabilidade do nosso modelo proposto para previsões de médio prazo. Em seguida, exploraremos a visualização 3D da decomposição para entender como essa precisão é alcançada.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Tendo analisado a precisão das previsões, vamos agora entender a base dessa performance: a decomposição. A visualização 3D da decomposição CEEMDAN-EWT confirma a eficácia do nosso método híbrido. Ele separa os componentes estocásticos, que são o ruído de alta frequência, dos componentes determinísticos, que representam a tendência de baixa frequência. Essa separação permite que o modelo aprenda as dinâmicas distintas de cada componente do sinal. Isso é crucial para a acurácia que vimos. Agora, vamos abrir a caixa preta do modelo e entender como ele toma suas decisões através da interpretabilidade.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Após visualizar a decomposição, é fundamental entender como o modelo processa essas informações. A análise de atenção temporal nos permite abrir a 'caixa preta' do modelo. O mecanismo de Multi-Head Attention do TFT revela exatamente quais passos de tempo passados o modelo considerou mais relevantes para fazer a previsão futura. Uma descoberta chave é que, para prever eventos de rampa, o modelo foca intensamente nos instantes de 40 a 60 minutos atrás, identificando o início da tendência de mudança. Isso valida que o modelo aprendeu a dinâmica causal do vento, e não apenas correlações espúrias. Agora, vamos ver como essa inteligência é traduzida em segurança operacional através da calibração de risco.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Compreendendo a inteligência do modelo, precisamos agora calibrar seu risco para o mundo real. O P10 Safety Factor é um multiplicador aplicado ao limite inferior da previsão, o P10, tornando o gatilho do gerador mais sensível e conservador. Essa calibração é crucial. Sem ela, teríamos 47 blackouts totais. Com um fator de segurança de 0.65, reduzimos esse número para apenas 3, uma redução de 93%. Isso se traduz em uma economia massiva, passando de 5.1 milhões de dólares para 677 mil dólares em custo total estimado. Em seguida, veremos como essa calibração se compara aos custos operacionais de outros modelos.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vamos quantificar o impacto financeiro da nossa abordagem. Esta tabela compara os custos operacionais entre os modelos benchmark e o nosso modelo proposto. Os modelos benchmark, sem a decomposição de sinal, resultam em custos operacionais que superam os 5 milhões de dólares. Isso acontece porque eles não conseguem prever as quedas abruptas de potência, levando a múltiplos blackouts, cada um com um custo de 100 mil dólares. Em contraste, o nosso modelo proposto, com a calibração de risco, alcança um custo operacional de aproximadamente 677 mil dólares. Isso representa uma economia de milhões de dólares por ano, porque ele reduz os blackouts em 93% e mantém o uso do gerador sob controle. A precisão do nosso modelo se traduz diretamente em uma economia substancial. E isso nos leva a uma análise mais aprofundada do trade-off entre performance e custo operacional.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análise de trade-off é crucial para entender a viabilidade prática dos modelos. Aqui, plotamos o erro médio de previsão contra o custo operacional total. Os modelos benchmark, sem decomposição, se posicionam na zona de inviabilidade, com alto erro e alto custo. Eles são inaceitáveis para a operação de um FPSO. Nosso modelo proposto, o CEEMDAN-EWT-TFT Aggregator, ocupa a posição ideal na zona ótima, no quadrante inferior esquerdo. Ele oferece baixo erro de previsão e baixo custo operacional. Isso o torna o único candidato viável para a indústria. Com isso, encerramos a seção de resultados e discussões, e passamos para as conclusões e trabalhos futuros.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Chegamos agora à sétima e última seção da nossa apresentação: Conclusão e Trabalhos Futuros. Aqui, vamos sintetizar as principais contribuições e apontar as direções para pesquisas futuras. Vamos começar com a síntese das contribuições.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dissertação apresenta três contribuições principais que avançam o estado da arte. Primeiro, desenvolvemos um modelo híbrido inédito, o CEEMDAN-EWT-TFT Aggregator. Ele combina decomposição de sinal e atenção temporal para previsões robustas, alcançando um MAPE de 1.79%. Segundo, criamos um Dashboard de Suporte à Decisão integrado com o Operational Risk Index e análise econômica em tempo real. Isso gerou uma economia de aproximadamente 4.4 milhões de dólares por ano. Terceiro, implementamos um AI Copilot com Dual-Level RAG, um assistente inteligente que permite consultas em linguagem natural sobre manuais e dados operacionais, oferecendo interpretabilidade total. Essas contribuições nos levam às principais conclusões do 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principais conclusões deste trabalho são claras. A decomposição CEEMDAN-EWT é o fator mais impactante para a acurácia, reduzindo o erro em 61% comparado aos benchmarks. Ela transforma dados ruidosos em componentes previsíveis. O TFT Aggregator, embora ligeiramente menos preciso na média que o LSTM, foi escolhido por fornecer a incerteza quantificada necessária para a gestão de risco, através de seus intervalos de confiança P10-P90. Por fim, a calibração de risco, com o P10 Safety Factor, é essencial. Ela transformou um modelo academicamente preciso em uma ferramenta operacionalmente segura e economicamente viável, resultando em 93% menos blackouts. A precisão do algoritmo é inútil sem a robustez da estratégia de decisão. Agora, vamos abordar as limitações do trabalho e os trabalhos futuros.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Apresento agora as limitações do trabalho e as direções para pesquisas futuras. Reconhecer as limitações é crucial para a evolução da pesquisa. Nosso estudo utilizou limiares estáticos para detecção de eventos, o que pode não ser ideal para todas as condições operacionais. Além disso, a generalização do modelo foi testada em uma única turbina, sem considerar os efeitos de esteira em parques eólicos completos. Finalmente, a validação ocorreu em ambiente simulado, sem testes em hardware-in-the-loop. Para o futuro, propomos o deploy em tempo real em edge devices, a implementação de online learning para adaptação contínua e uma abordagem multi-asset para modelar correlações espaciais. Isso nos permitirá avançar na robustez e aplicabilidade do framework. Com isso, encerro a discussão sobre as limitações e abro para as publicações e o código aberto.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garantir a reprodutibilidade e o impacto do trabalho, todo o código e os dados estão publicamente disponíveis. O repositório no GitHub contém o código-fonte completo, notebooks de treinamento e scripts de pré-processamento. O dataset utilizado, do Fraunhofer, está disponível no Zenodo, garantindo acesso a dados SCADA reais de turbinas eólicas offshore. A infraestrutura de treinamento, utilizando GPUs NVIDIA T4, L4 e L40S, foi fornecida pela plataforma Lightning AI Studio. A transparência e o acesso aberto são pilares importantes desta pesquisa. Agora, vamos às referências bibliográficas que fundamentaram este 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estão algumas das referências bibliográficas selecionadas que foram fundamentais para o desenvolvimento desta dissertação. Destaco o dataset de Gück e Roelofs, que foi a base para nossos experimentos. O trabalho de Lim et al. sobre Temporal Fusion Transformers foi crucial para a arquitetura do nosso modelo. As contribuições de Colominas et al. e Gilles sobre CEEMDAN e Empirical Wavelet Transform, respectivamente, foram essenciais para a etapa de decomposição de sinais. Por fim, o framework Optuna de Akiba et al. foi indispensável para a otimização dos hiperparâmetros. Essas referências representam a base teórica e metodológica que permitiu as inovações apresentadas. Com isso, chegamos aos agradecimentos.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Gostaria de expressar minha sincera gratidão a todos que contribuíram para a realização deste trabalho. Ao Professor Robson Dias, meu orientador, pela confiança, incentivo e orientação precisa. À COPPE/UFRJ, ao Programa de Engenharia Elétrica e ao Laboratório LAFAE, por todo o suporte institucional e ambiente de pesquisa. Aos meus colegas do LAFAE, pelas discussões técnicas enriquecedoras e pela amizade. E, claro, à minha família, que sempre foi minha base e suporte incondicional. Sem vocês, esta jornada não teria sido possível. Muito obrigado a todos. Agora, para aqueles interessados, tenho um slide de backup com os hiperparâmetros otimizados.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de backup detalha os hiperparâmetros otimizados para o Temporal Fusion Transformer. Utilizamos o framework Optuna com o algoritmo TPE para uma amostragem bayesiana eficiente. Valores como hidden_units em 32, dropout de 0.31 e learning_rate de 0.0024 foram cruciais para o desempenho do modelo. É importante notar que, devido ao alto custo computacional, os modelos híbridos 'Divide and Conquer' não passaram por essa busca exaustiva, utilizando hiperparâmetros padrão. Isso reforça a vantagem prática do nosso TFT Aggregator, que otimiza um único modelo. Com isso, encerro a apresentação.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Pinball Loss é a função de perda que usamos para treinar nossos modelos de previsão probabilística. Diferente do erro quadrático médio, ela penaliza os erros de forma assimétrica. Para o P90, o modelo é mais penalizado se subestimar o valor real, garantindo que 90% dos valores fiquem abaixo da previsão. Já para o P10, a penalidade é maior se o modelo superestimar, forçando-o a ser conservador e fornecer um limite inferior robusto. Essa assimetria é crucial para calibrar os intervalos de confiança. Agora, vamos aprofundar na arquitetura do TFT.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Chegamos ao final da apresentação. Muito obrigado pela atenção de todos. Estou à disposição para quaisquer perguntas que possam ter. Sintam-se à vontade para entrar em contato pelos canais exibidos na tela.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2-1.jpeg"/></Relationships>
</file>

<file path=ppt/slides/_rels/slide12.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slideLayout" Target="../slideLayouts/slideLayout1.xml"/><Relationship Id="rId11"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1.xml"/><Relationship Id="rId5"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slideLayout" Target="../slideLayouts/slideLayout1.xml"/><Relationship Id="rId9"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1.xml"/><Relationship Id="rId5"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1.xml"/><Relationship Id="rId5"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1.xml"/><Relationship Id="rId6"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png"/><Relationship Id="rId8" Type="http://schemas.openxmlformats.org/officeDocument/2006/relationships/image" Target="../media/image-57-8.png"/><Relationship Id="rId9" Type="http://schemas.openxmlformats.org/officeDocument/2006/relationships/image" Target="../media/image-57-9.png"/><Relationship Id="rId10" Type="http://schemas.openxmlformats.org/officeDocument/2006/relationships/slideLayout" Target="../slideLayouts/slideLayout1.xml"/><Relationship Id="rId11"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slideLayout" Target="../slideLayouts/slideLayout1.xml"/><Relationship Id="rId6"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image" Target="../media/image-59-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slideLayout" Target="../slideLayouts/slideLayout1.xml"/><Relationship Id="rId7"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image" Target="../media/image-62-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image" Target="../media/image-64-1.jpe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1.xml"/><Relationship Id="rId6"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2-1.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57188" y="1030123"/>
            <a:ext cx="5643563" cy="112514"/>
          </a:xfrm>
          <a:prstGeom prst="rect">
            <a:avLst/>
          </a:prstGeom>
          <a:noFill/>
          <a:ln/>
        </p:spPr>
        <p:txBody>
          <a:bodyPr wrap="none" lIns="0" tIns="0" rIns="0" bIns="0" rtlCol="0" anchor="t">
            <a:spAutoFit/>
          </a:bodyPr>
          <a:lstStyle/>
          <a:p>
            <a:pPr algn="l" indent="0" marL="0">
              <a:lnSpc>
                <a:spcPts val="900"/>
              </a:lnSpc>
              <a:buNone/>
            </a:pPr>
            <a:r>
              <a:rPr lang="en-US" sz="634" b="1" spc="2" kern="0" dirty="0">
                <a:solidFill>
                  <a:srgbClr val="F2C94C"/>
                </a:solidFill>
                <a:latin typeface="Montserrat" pitchFamily="34" charset="0"/>
                <a:ea typeface="Montserrat" pitchFamily="34" charset="-122"/>
                <a:cs typeface="Montserrat" pitchFamily="34" charset="-120"/>
              </a:rPr>
              <a:t>COPPE / UFRJ — LAFAE</a:t>
            </a:r>
            <a:endParaRPr lang="en-US" sz="634" dirty="0"/>
          </a:p>
        </p:txBody>
      </p:sp>
      <p:sp>
        <p:nvSpPr>
          <p:cNvPr id="5" name="Text 1"/>
          <p:cNvSpPr/>
          <p:nvPr/>
        </p:nvSpPr>
        <p:spPr>
          <a:xfrm>
            <a:off x="357188" y="1199787"/>
            <a:ext cx="5643563" cy="112514"/>
          </a:xfrm>
          <a:prstGeom prst="rect">
            <a:avLst/>
          </a:prstGeom>
          <a:noFill/>
          <a:ln/>
        </p:spPr>
        <p:txBody>
          <a:bodyPr wrap="none" lIns="0" tIns="0" rIns="0" bIns="0" rtlCol="0" anchor="t">
            <a:spAutoFit/>
          </a:bodyPr>
          <a:lstStyle/>
          <a:p>
            <a:pPr algn="l" indent="0" marL="0">
              <a:lnSpc>
                <a:spcPts val="900"/>
              </a:lnSpc>
              <a:buNone/>
            </a:pPr>
            <a:r>
              <a:rPr lang="en-US" sz="674" spc="1" kern="0" dirty="0">
                <a:solidFill>
                  <a:srgbClr val="E8EDF2">
                    <a:alpha val="50000"/>
                  </a:srgbClr>
                </a:solidFill>
                <a:latin typeface="Inter" pitchFamily="34" charset="0"/>
                <a:ea typeface="Inter" pitchFamily="34" charset="-122"/>
                <a:cs typeface="Inter" pitchFamily="34" charset="-120"/>
              </a:rPr>
              <a:t>Programa de Engenharia Elétrica</a:t>
            </a:r>
            <a:endParaRPr lang="en-US" sz="674" dirty="0"/>
          </a:p>
        </p:txBody>
      </p:sp>
      <p:sp>
        <p:nvSpPr>
          <p:cNvPr id="6" name="Shape 2"/>
          <p:cNvSpPr/>
          <p:nvPr/>
        </p:nvSpPr>
        <p:spPr>
          <a:xfrm>
            <a:off x="357188" y="1598051"/>
            <a:ext cx="5643563" cy="167878"/>
          </a:xfrm>
          <a:prstGeom prst="rect">
            <a:avLst/>
          </a:prstGeom>
          <a:solidFill>
            <a:srgbClr val="F2C94C"/>
          </a:solidFill>
          <a:ln/>
        </p:spPr>
      </p:sp>
      <p:sp>
        <p:nvSpPr>
          <p:cNvPr id="7" name="Text 3"/>
          <p:cNvSpPr/>
          <p:nvPr/>
        </p:nvSpPr>
        <p:spPr>
          <a:xfrm>
            <a:off x="357188" y="1598051"/>
            <a:ext cx="5643563" cy="167878"/>
          </a:xfrm>
          <a:prstGeom prst="rect">
            <a:avLst/>
          </a:prstGeom>
          <a:noFill/>
          <a:ln/>
        </p:spPr>
        <p:txBody>
          <a:bodyPr wrap="square" lIns="136017" tIns="42545" rIns="136017" bIns="42545" rtlCol="0" anchor="t">
            <a:spAutoFit/>
          </a:bodyPr>
          <a:lstStyle/>
          <a:p>
            <a:pPr algn="l" indent="0" marL="0">
              <a:lnSpc>
                <a:spcPts val="700"/>
              </a:lnSpc>
              <a:buNone/>
            </a:pPr>
            <a:r>
              <a:rPr lang="en-US" sz="534" b="1" spc="2" kern="0" dirty="0">
                <a:solidFill>
                  <a:srgbClr val="002B49"/>
                </a:solidFill>
                <a:latin typeface="Montserrat" pitchFamily="34" charset="0"/>
                <a:ea typeface="Montserrat" pitchFamily="34" charset="-122"/>
                <a:cs typeface="Montserrat" pitchFamily="34" charset="-120"/>
              </a:rPr>
              <a:t>DEFESA DE DISSERTAÇÃO DE MESTRADO</a:t>
            </a:r>
            <a:endParaRPr lang="en-US" sz="534" dirty="0"/>
          </a:p>
        </p:txBody>
      </p:sp>
      <p:sp>
        <p:nvSpPr>
          <p:cNvPr id="8" name="Text 4"/>
          <p:cNvSpPr/>
          <p:nvPr/>
        </p:nvSpPr>
        <p:spPr>
          <a:xfrm>
            <a:off x="357188" y="1937379"/>
            <a:ext cx="5643563" cy="925813"/>
          </a:xfrm>
          <a:prstGeom prst="rect">
            <a:avLst/>
          </a:prstGeom>
          <a:noFill/>
          <a:ln/>
        </p:spPr>
        <p:txBody>
          <a:bodyPr wrap="square" lIns="0" tIns="0" rIns="0" bIns="0" rtlCol="0" anchor="t">
            <a:spAutoFit/>
          </a:bodyPr>
          <a:lstStyle/>
          <a:p>
            <a:pPr algn="l" indent="0" marL="0">
              <a:lnSpc>
                <a:spcPts val="2400"/>
              </a:lnSpc>
              <a:buNone/>
            </a:pPr>
            <a:r>
              <a:rPr lang="en-US" sz="1808" b="1" dirty="0">
                <a:solidFill>
                  <a:srgbClr val="F2C94C"/>
                </a:solidFill>
                <a:latin typeface="Montserrat" pitchFamily="34" charset="0"/>
                <a:ea typeface="Montserrat" pitchFamily="34" charset="-122"/>
                <a:cs typeface="Montserrat" pitchFamily="34" charset="-120"/>
              </a:rPr>
              <a:t>A Deep Learning Approach for Decision Support in Power Management of FPSOs with Wind Energy Integration</a:t>
            </a:r>
            <a:endParaRPr lang="en-US" sz="1808" dirty="0"/>
          </a:p>
        </p:txBody>
      </p:sp>
      <p:sp>
        <p:nvSpPr>
          <p:cNvPr id="9" name="Text 5"/>
          <p:cNvSpPr/>
          <p:nvPr/>
        </p:nvSpPr>
        <p:spPr>
          <a:xfrm>
            <a:off x="357188" y="2948918"/>
            <a:ext cx="5357813"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E8EDF2">
                    <a:alpha val="70000"/>
                  </a:srgbClr>
                </a:solidFill>
                <a:latin typeface="Inter" pitchFamily="34" charset="0"/>
                <a:ea typeface="Inter" pitchFamily="34" charset="-122"/>
                <a:cs typeface="Inter" pitchFamily="34" charset="-120"/>
              </a:rPr>
              <a:t>Uma abordagem de Deep Learning para suporte à decisão no gerenciamento de potência de FPSOs com integração de energia eólica</a:t>
            </a:r>
            <a:endParaRPr lang="en-US" sz="942" dirty="0"/>
          </a:p>
        </p:txBody>
      </p:sp>
      <p:sp>
        <p:nvSpPr>
          <p:cNvPr id="10" name="Text 6"/>
          <p:cNvSpPr/>
          <p:nvPr/>
        </p:nvSpPr>
        <p:spPr>
          <a:xfrm>
            <a:off x="357188" y="3691868"/>
            <a:ext cx="2085975" cy="96441"/>
          </a:xfrm>
          <a:prstGeom prst="rect">
            <a:avLst/>
          </a:prstGeom>
          <a:noFill/>
          <a:ln/>
        </p:spPr>
        <p:txBody>
          <a:bodyPr wrap="none" lIns="0" tIns="0" rIns="0" bIns="0" rtlCol="0" anchor="t">
            <a:spAutoFit/>
          </a:bodyPr>
          <a:lstStyle/>
          <a:p>
            <a:pPr algn="l" indent="0" marL="0">
              <a:lnSpc>
                <a:spcPts val="700"/>
              </a:lnSpc>
              <a:buNone/>
            </a:pPr>
            <a:r>
              <a:rPr lang="en-US" sz="534" b="1" spc="1" kern="0" dirty="0">
                <a:solidFill>
                  <a:srgbClr val="E8EDF2">
                    <a:alpha val="40000"/>
                  </a:srgbClr>
                </a:solidFill>
                <a:latin typeface="Inter" pitchFamily="34" charset="0"/>
                <a:ea typeface="Inter" pitchFamily="34" charset="-122"/>
                <a:cs typeface="Inter" pitchFamily="34" charset="-120"/>
              </a:rPr>
              <a:t>AUTOR</a:t>
            </a:r>
            <a:endParaRPr lang="en-US" sz="534" dirty="0"/>
          </a:p>
        </p:txBody>
      </p:sp>
      <p:pic>
        <p:nvPicPr>
          <p:cNvPr id="11" name="Image 1" descr="preencoded.png">    </p:cNvPr>
          <p:cNvPicPr>
            <a:picLocks noChangeAspect="1"/>
          </p:cNvPicPr>
          <p:nvPr/>
        </p:nvPicPr>
        <p:blipFill>
          <a:blip r:embed="rId2"/>
          <a:stretch>
            <a:fillRect/>
          </a:stretch>
        </p:blipFill>
        <p:spPr>
          <a:xfrm>
            <a:off x="357188" y="3802596"/>
            <a:ext cx="142875" cy="100013"/>
          </a:xfrm>
          <a:prstGeom prst="rect">
            <a:avLst/>
          </a:prstGeom>
        </p:spPr>
      </p:pic>
      <p:sp>
        <p:nvSpPr>
          <p:cNvPr id="12" name="Text 7"/>
          <p:cNvSpPr/>
          <p:nvPr/>
        </p:nvSpPr>
        <p:spPr>
          <a:xfrm>
            <a:off x="571500" y="3788308"/>
            <a:ext cx="1682353"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E8EDF2"/>
                </a:solidFill>
                <a:latin typeface="Inter" pitchFamily="34" charset="0"/>
                <a:ea typeface="Inter" pitchFamily="34" charset="-122"/>
                <a:cs typeface="Inter" pitchFamily="34" charset="-120"/>
              </a:rPr>
              <a:t>Marcos Vinicios Lima dos Santos</a:t>
            </a:r>
            <a:endParaRPr lang="en-US" sz="734" dirty="0"/>
          </a:p>
        </p:txBody>
      </p:sp>
      <p:sp>
        <p:nvSpPr>
          <p:cNvPr id="13" name="Text 8"/>
          <p:cNvSpPr/>
          <p:nvPr/>
        </p:nvSpPr>
        <p:spPr>
          <a:xfrm>
            <a:off x="2557463" y="3691868"/>
            <a:ext cx="2085975" cy="96441"/>
          </a:xfrm>
          <a:prstGeom prst="rect">
            <a:avLst/>
          </a:prstGeom>
          <a:noFill/>
          <a:ln/>
        </p:spPr>
        <p:txBody>
          <a:bodyPr wrap="none" lIns="0" tIns="0" rIns="0" bIns="0" rtlCol="0" anchor="t">
            <a:spAutoFit/>
          </a:bodyPr>
          <a:lstStyle/>
          <a:p>
            <a:pPr algn="l" indent="0" marL="0">
              <a:lnSpc>
                <a:spcPts val="700"/>
              </a:lnSpc>
              <a:buNone/>
            </a:pPr>
            <a:r>
              <a:rPr lang="en-US" sz="534" b="1" spc="1" kern="0" dirty="0">
                <a:solidFill>
                  <a:srgbClr val="E8EDF2">
                    <a:alpha val="40000"/>
                  </a:srgbClr>
                </a:solidFill>
                <a:latin typeface="Inter" pitchFamily="34" charset="0"/>
                <a:ea typeface="Inter" pitchFamily="34" charset="-122"/>
                <a:cs typeface="Inter" pitchFamily="34" charset="-120"/>
              </a:rPr>
              <a:t>ORIENTADOR</a:t>
            </a:r>
            <a:endParaRPr lang="en-US" sz="534" dirty="0"/>
          </a:p>
        </p:txBody>
      </p:sp>
      <p:pic>
        <p:nvPicPr>
          <p:cNvPr id="14" name="Image 2" descr="preencoded.png">    </p:cNvPr>
          <p:cNvPicPr>
            <a:picLocks noChangeAspect="1"/>
          </p:cNvPicPr>
          <p:nvPr/>
        </p:nvPicPr>
        <p:blipFill>
          <a:blip r:embed="rId3"/>
          <a:stretch>
            <a:fillRect/>
          </a:stretch>
        </p:blipFill>
        <p:spPr>
          <a:xfrm>
            <a:off x="2557463" y="3802596"/>
            <a:ext cx="142875" cy="100013"/>
          </a:xfrm>
          <a:prstGeom prst="rect">
            <a:avLst/>
          </a:prstGeom>
        </p:spPr>
      </p:pic>
      <p:sp>
        <p:nvSpPr>
          <p:cNvPr id="15" name="Text 9"/>
          <p:cNvSpPr/>
          <p:nvPr/>
        </p:nvSpPr>
        <p:spPr>
          <a:xfrm>
            <a:off x="2771775" y="3788308"/>
            <a:ext cx="1857375"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E8EDF2"/>
                </a:solidFill>
                <a:latin typeface="Inter" pitchFamily="34" charset="0"/>
                <a:ea typeface="Inter" pitchFamily="34" charset="-122"/>
                <a:cs typeface="Inter" pitchFamily="34" charset="-120"/>
              </a:rPr>
              <a:t>Prof. Robson Francisco da Silva Dias</a:t>
            </a:r>
            <a:endParaRPr lang="en-US" sz="734" dirty="0"/>
          </a:p>
        </p:txBody>
      </p:sp>
      <p:sp>
        <p:nvSpPr>
          <p:cNvPr id="16" name="Text 10"/>
          <p:cNvSpPr/>
          <p:nvPr/>
        </p:nvSpPr>
        <p:spPr>
          <a:xfrm>
            <a:off x="357188" y="4031196"/>
            <a:ext cx="2085975" cy="96441"/>
          </a:xfrm>
          <a:prstGeom prst="rect">
            <a:avLst/>
          </a:prstGeom>
          <a:noFill/>
          <a:ln/>
        </p:spPr>
        <p:txBody>
          <a:bodyPr wrap="none" lIns="0" tIns="0" rIns="0" bIns="0" rtlCol="0" anchor="t">
            <a:spAutoFit/>
          </a:bodyPr>
          <a:lstStyle/>
          <a:p>
            <a:pPr algn="l" indent="0" marL="0">
              <a:lnSpc>
                <a:spcPts val="700"/>
              </a:lnSpc>
              <a:buNone/>
            </a:pPr>
            <a:r>
              <a:rPr lang="en-US" sz="534" b="1" spc="1" kern="0" dirty="0">
                <a:solidFill>
                  <a:srgbClr val="E8EDF2">
                    <a:alpha val="40000"/>
                  </a:srgbClr>
                </a:solidFill>
                <a:latin typeface="Inter" pitchFamily="34" charset="0"/>
                <a:ea typeface="Inter" pitchFamily="34" charset="-122"/>
                <a:cs typeface="Inter" pitchFamily="34" charset="-120"/>
              </a:rPr>
              <a:t>INSTITUIÇÃO</a:t>
            </a:r>
            <a:endParaRPr lang="en-US" sz="534" dirty="0"/>
          </a:p>
        </p:txBody>
      </p:sp>
      <p:pic>
        <p:nvPicPr>
          <p:cNvPr id="17" name="Image 3" descr="preencoded.png">    </p:cNvPr>
          <p:cNvPicPr>
            <a:picLocks noChangeAspect="1"/>
          </p:cNvPicPr>
          <p:nvPr/>
        </p:nvPicPr>
        <p:blipFill>
          <a:blip r:embed="rId4"/>
          <a:stretch>
            <a:fillRect/>
          </a:stretch>
        </p:blipFill>
        <p:spPr>
          <a:xfrm>
            <a:off x="357188" y="4141924"/>
            <a:ext cx="142875" cy="100013"/>
          </a:xfrm>
          <a:prstGeom prst="rect">
            <a:avLst/>
          </a:prstGeom>
        </p:spPr>
      </p:pic>
      <p:sp>
        <p:nvSpPr>
          <p:cNvPr id="18" name="Text 11"/>
          <p:cNvSpPr/>
          <p:nvPr/>
        </p:nvSpPr>
        <p:spPr>
          <a:xfrm>
            <a:off x="571500" y="4127636"/>
            <a:ext cx="1164431"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E8EDF2"/>
                </a:solidFill>
                <a:latin typeface="Inter" pitchFamily="34" charset="0"/>
                <a:ea typeface="Inter" pitchFamily="34" charset="-122"/>
                <a:cs typeface="Inter" pitchFamily="34" charset="-120"/>
              </a:rPr>
              <a:t>UFRJ — Rio de Janeiro</a:t>
            </a:r>
            <a:endParaRPr lang="en-US" sz="734" dirty="0"/>
          </a:p>
        </p:txBody>
      </p:sp>
      <p:sp>
        <p:nvSpPr>
          <p:cNvPr id="19" name="Text 12"/>
          <p:cNvSpPr/>
          <p:nvPr/>
        </p:nvSpPr>
        <p:spPr>
          <a:xfrm>
            <a:off x="2557463" y="4031196"/>
            <a:ext cx="2085975" cy="96441"/>
          </a:xfrm>
          <a:prstGeom prst="rect">
            <a:avLst/>
          </a:prstGeom>
          <a:noFill/>
          <a:ln/>
        </p:spPr>
        <p:txBody>
          <a:bodyPr wrap="none" lIns="0" tIns="0" rIns="0" bIns="0" rtlCol="0" anchor="t">
            <a:spAutoFit/>
          </a:bodyPr>
          <a:lstStyle/>
          <a:p>
            <a:pPr algn="l" indent="0" marL="0">
              <a:lnSpc>
                <a:spcPts val="700"/>
              </a:lnSpc>
              <a:buNone/>
            </a:pPr>
            <a:r>
              <a:rPr lang="en-US" sz="534" b="1" spc="1" kern="0" dirty="0">
                <a:solidFill>
                  <a:srgbClr val="E8EDF2">
                    <a:alpha val="40000"/>
                  </a:srgbClr>
                </a:solidFill>
                <a:latin typeface="Inter" pitchFamily="34" charset="0"/>
                <a:ea typeface="Inter" pitchFamily="34" charset="-122"/>
                <a:cs typeface="Inter" pitchFamily="34" charset="-120"/>
              </a:rPr>
              <a:t>DATA</a:t>
            </a:r>
            <a:endParaRPr lang="en-US" sz="534" dirty="0"/>
          </a:p>
        </p:txBody>
      </p:sp>
      <p:pic>
        <p:nvPicPr>
          <p:cNvPr id="20" name="Image 4" descr="preencoded.png">    </p:cNvPr>
          <p:cNvPicPr>
            <a:picLocks noChangeAspect="1"/>
          </p:cNvPicPr>
          <p:nvPr/>
        </p:nvPicPr>
        <p:blipFill>
          <a:blip r:embed="rId5"/>
          <a:stretch>
            <a:fillRect/>
          </a:stretch>
        </p:blipFill>
        <p:spPr>
          <a:xfrm>
            <a:off x="2557463" y="4141924"/>
            <a:ext cx="142875" cy="100013"/>
          </a:xfrm>
          <a:prstGeom prst="rect">
            <a:avLst/>
          </a:prstGeom>
        </p:spPr>
      </p:pic>
      <p:sp>
        <p:nvSpPr>
          <p:cNvPr id="21" name="Text 13"/>
          <p:cNvSpPr/>
          <p:nvPr/>
        </p:nvSpPr>
        <p:spPr>
          <a:xfrm>
            <a:off x="2771775" y="4127636"/>
            <a:ext cx="980480"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E8EDF2"/>
                </a:solidFill>
                <a:latin typeface="Inter" pitchFamily="34" charset="0"/>
                <a:ea typeface="Inter" pitchFamily="34" charset="-122"/>
                <a:cs typeface="Inter" pitchFamily="34" charset="-120"/>
              </a:rPr>
              <a:t>Novembro de 2025</a:t>
            </a:r>
            <a:endParaRPr lang="en-US" sz="73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2571750" cy="5143500"/>
          </a:xfrm>
          <a:prstGeom prst="rect">
            <a:avLst/>
          </a:prstGeom>
          <a:solidFill>
            <a:srgbClr val="001D33"/>
          </a:solidFill>
          <a:ln/>
        </p:spPr>
      </p:sp>
      <p:sp>
        <p:nvSpPr>
          <p:cNvPr id="5" name="Shape 1"/>
          <p:cNvSpPr/>
          <p:nvPr/>
        </p:nvSpPr>
        <p:spPr>
          <a:xfrm>
            <a:off x="2543175" y="0"/>
            <a:ext cx="28575" cy="5143500"/>
          </a:xfrm>
          <a:prstGeom prst="rect">
            <a:avLst/>
          </a:prstGeom>
          <a:solidFill>
            <a:srgbClr val="F2C94C"/>
          </a:solidFill>
          <a:ln/>
        </p:spPr>
      </p:sp>
      <p:sp>
        <p:nvSpPr>
          <p:cNvPr id="6" name="Text 2"/>
          <p:cNvSpPr/>
          <p:nvPr/>
        </p:nvSpPr>
        <p:spPr>
          <a:xfrm>
            <a:off x="285750" y="2312064"/>
            <a:ext cx="2000250" cy="96441"/>
          </a:xfrm>
          <a:prstGeom prst="rect">
            <a:avLst/>
          </a:prstGeom>
          <a:noFill/>
          <a:ln/>
        </p:spPr>
        <p:txBody>
          <a:bodyPr wrap="none" lIns="0" tIns="0" rIns="0" bIns="0" rtlCol="0" anchor="t">
            <a:spAutoFit/>
          </a:bodyPr>
          <a:lstStyle/>
          <a:p>
            <a:pPr algn="l" indent="0" marL="0">
              <a:lnSpc>
                <a:spcPts val="700"/>
              </a:lnSpc>
              <a:buNone/>
            </a:pPr>
            <a:r>
              <a:rPr lang="en-US" sz="534" b="1" spc="2" kern="0" dirty="0">
                <a:solidFill>
                  <a:srgbClr val="F2C94C"/>
                </a:solidFill>
                <a:latin typeface="Inter" pitchFamily="34" charset="0"/>
                <a:ea typeface="Inter" pitchFamily="34" charset="-122"/>
                <a:cs typeface="Inter" pitchFamily="34" charset="-120"/>
              </a:rPr>
              <a:t>ROTEIRO</a:t>
            </a:r>
            <a:endParaRPr lang="en-US" sz="534" dirty="0"/>
          </a:p>
        </p:txBody>
      </p:sp>
      <p:sp>
        <p:nvSpPr>
          <p:cNvPr id="7" name="Text 3"/>
          <p:cNvSpPr/>
          <p:nvPr/>
        </p:nvSpPr>
        <p:spPr>
          <a:xfrm>
            <a:off x="285750" y="2522804"/>
            <a:ext cx="2000250" cy="308604"/>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E8EDF2"/>
                </a:solidFill>
                <a:latin typeface="Montserrat" pitchFamily="34" charset="0"/>
                <a:ea typeface="Montserrat" pitchFamily="34" charset="-122"/>
                <a:cs typeface="Montserrat" pitchFamily="34" charset="-120"/>
              </a:rPr>
              <a:t>Agenda</a:t>
            </a:r>
            <a:endParaRPr lang="en-US" sz="1808" dirty="0"/>
          </a:p>
        </p:txBody>
      </p:sp>
      <p:sp>
        <p:nvSpPr>
          <p:cNvPr id="8" name="Text 4"/>
          <p:cNvSpPr/>
          <p:nvPr/>
        </p:nvSpPr>
        <p:spPr>
          <a:xfrm>
            <a:off x="3000375" y="964295"/>
            <a:ext cx="342900"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01</a:t>
            </a:r>
            <a:endParaRPr lang="en-US" sz="1090" dirty="0"/>
          </a:p>
        </p:txBody>
      </p:sp>
      <p:sp>
        <p:nvSpPr>
          <p:cNvPr id="9" name="Text 5"/>
          <p:cNvSpPr/>
          <p:nvPr/>
        </p:nvSpPr>
        <p:spPr>
          <a:xfrm>
            <a:off x="3343275" y="911442"/>
            <a:ext cx="5372100" cy="169999"/>
          </a:xfrm>
          <a:prstGeom prst="rect">
            <a:avLst/>
          </a:prstGeom>
          <a:noFill/>
          <a:ln/>
        </p:spPr>
        <p:txBody>
          <a:bodyPr wrap="none" lIns="0" tIns="0" rIns="0" bIns="0" rtlCol="0" anchor="t">
            <a:spAutoFit/>
          </a:bodyPr>
          <a:lstStyle/>
          <a:p>
            <a:pPr algn="l" indent="0" marL="0">
              <a:lnSpc>
                <a:spcPts val="1300"/>
              </a:lnSpc>
              <a:buNone/>
            </a:pPr>
            <a:r>
              <a:rPr lang="en-US" sz="888" dirty="0">
                <a:solidFill>
                  <a:srgbClr val="E8EDF2"/>
                </a:solidFill>
                <a:latin typeface="Inter" pitchFamily="34" charset="0"/>
                <a:ea typeface="Inter" pitchFamily="34" charset="-122"/>
                <a:cs typeface="Inter" pitchFamily="34" charset="-120"/>
              </a:rPr>
              <a:t>Introdução e Motivação</a:t>
            </a:r>
            <a:endParaRPr lang="en-US" sz="888" dirty="0"/>
          </a:p>
        </p:txBody>
      </p:sp>
      <p:sp>
        <p:nvSpPr>
          <p:cNvPr id="10" name="Text 6"/>
          <p:cNvSpPr/>
          <p:nvPr/>
        </p:nvSpPr>
        <p:spPr>
          <a:xfrm>
            <a:off x="3343275" y="1095728"/>
            <a:ext cx="5372100"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45000"/>
                  </a:srgbClr>
                </a:solidFill>
                <a:latin typeface="Inter" pitchFamily="34" charset="0"/>
                <a:ea typeface="Inter" pitchFamily="34" charset="-122"/>
                <a:cs typeface="Inter" pitchFamily="34" charset="-120"/>
              </a:rPr>
              <a:t>Contexto, problema e objetivos</a:t>
            </a:r>
            <a:endParaRPr lang="en-US" sz="674" dirty="0"/>
          </a:p>
        </p:txBody>
      </p:sp>
      <p:sp>
        <p:nvSpPr>
          <p:cNvPr id="11" name="Text 7"/>
          <p:cNvSpPr/>
          <p:nvPr/>
        </p:nvSpPr>
        <p:spPr>
          <a:xfrm>
            <a:off x="3000375" y="1468264"/>
            <a:ext cx="342900"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02</a:t>
            </a:r>
            <a:endParaRPr lang="en-US" sz="1090" dirty="0"/>
          </a:p>
        </p:txBody>
      </p:sp>
      <p:sp>
        <p:nvSpPr>
          <p:cNvPr id="12" name="Text 8"/>
          <p:cNvSpPr/>
          <p:nvPr/>
        </p:nvSpPr>
        <p:spPr>
          <a:xfrm>
            <a:off x="3343275" y="1415411"/>
            <a:ext cx="5372100" cy="169999"/>
          </a:xfrm>
          <a:prstGeom prst="rect">
            <a:avLst/>
          </a:prstGeom>
          <a:noFill/>
          <a:ln/>
        </p:spPr>
        <p:txBody>
          <a:bodyPr wrap="none" lIns="0" tIns="0" rIns="0" bIns="0" rtlCol="0" anchor="t">
            <a:spAutoFit/>
          </a:bodyPr>
          <a:lstStyle/>
          <a:p>
            <a:pPr algn="l" indent="0" marL="0">
              <a:lnSpc>
                <a:spcPts val="1300"/>
              </a:lnSpc>
              <a:buNone/>
            </a:pPr>
            <a:r>
              <a:rPr lang="en-US" sz="888" dirty="0">
                <a:solidFill>
                  <a:srgbClr val="E8EDF2"/>
                </a:solidFill>
                <a:latin typeface="Inter" pitchFamily="34" charset="0"/>
                <a:ea typeface="Inter" pitchFamily="34" charset="-122"/>
                <a:cs typeface="Inter" pitchFamily="34" charset="-120"/>
              </a:rPr>
              <a:t>Fundamentação Teórica</a:t>
            </a:r>
            <a:endParaRPr lang="en-US" sz="888" dirty="0"/>
          </a:p>
        </p:txBody>
      </p:sp>
      <p:sp>
        <p:nvSpPr>
          <p:cNvPr id="13" name="Text 9"/>
          <p:cNvSpPr/>
          <p:nvPr/>
        </p:nvSpPr>
        <p:spPr>
          <a:xfrm>
            <a:off x="3343275" y="1599698"/>
            <a:ext cx="5372100"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45000"/>
                  </a:srgbClr>
                </a:solidFill>
                <a:latin typeface="Inter" pitchFamily="34" charset="0"/>
                <a:ea typeface="Inter" pitchFamily="34" charset="-122"/>
                <a:cs typeface="Inter" pitchFamily="34" charset="-120"/>
              </a:rPr>
              <a:t>Geração eólica, FPSOs e estado da arte</a:t>
            </a:r>
            <a:endParaRPr lang="en-US" sz="674" dirty="0"/>
          </a:p>
        </p:txBody>
      </p:sp>
      <p:sp>
        <p:nvSpPr>
          <p:cNvPr id="14" name="Text 10"/>
          <p:cNvSpPr/>
          <p:nvPr/>
        </p:nvSpPr>
        <p:spPr>
          <a:xfrm>
            <a:off x="3000375" y="1972233"/>
            <a:ext cx="342900"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03</a:t>
            </a:r>
            <a:endParaRPr lang="en-US" sz="1090" dirty="0"/>
          </a:p>
        </p:txBody>
      </p:sp>
      <p:sp>
        <p:nvSpPr>
          <p:cNvPr id="15" name="Text 11"/>
          <p:cNvSpPr/>
          <p:nvPr/>
        </p:nvSpPr>
        <p:spPr>
          <a:xfrm>
            <a:off x="3343275" y="1919381"/>
            <a:ext cx="5372100" cy="169999"/>
          </a:xfrm>
          <a:prstGeom prst="rect">
            <a:avLst/>
          </a:prstGeom>
          <a:noFill/>
          <a:ln/>
        </p:spPr>
        <p:txBody>
          <a:bodyPr wrap="none" lIns="0" tIns="0" rIns="0" bIns="0" rtlCol="0" anchor="t">
            <a:spAutoFit/>
          </a:bodyPr>
          <a:lstStyle/>
          <a:p>
            <a:pPr algn="l" indent="0" marL="0">
              <a:lnSpc>
                <a:spcPts val="1300"/>
              </a:lnSpc>
              <a:buNone/>
            </a:pPr>
            <a:r>
              <a:rPr lang="en-US" sz="888" dirty="0">
                <a:solidFill>
                  <a:srgbClr val="E8EDF2"/>
                </a:solidFill>
                <a:latin typeface="Inter" pitchFamily="34" charset="0"/>
                <a:ea typeface="Inter" pitchFamily="34" charset="-122"/>
                <a:cs typeface="Inter" pitchFamily="34" charset="-120"/>
              </a:rPr>
              <a:t>Técnicas de Deep Learning</a:t>
            </a:r>
            <a:endParaRPr lang="en-US" sz="888" dirty="0"/>
          </a:p>
        </p:txBody>
      </p:sp>
      <p:sp>
        <p:nvSpPr>
          <p:cNvPr id="16" name="Text 12"/>
          <p:cNvSpPr/>
          <p:nvPr/>
        </p:nvSpPr>
        <p:spPr>
          <a:xfrm>
            <a:off x="3343275" y="2103667"/>
            <a:ext cx="5372100"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45000"/>
                  </a:srgbClr>
                </a:solidFill>
                <a:latin typeface="Inter" pitchFamily="34" charset="0"/>
                <a:ea typeface="Inter" pitchFamily="34" charset="-122"/>
                <a:cs typeface="Inter" pitchFamily="34" charset="-120"/>
              </a:rPr>
              <a:t>Arquiteturas, decomposição e treinamento</a:t>
            </a:r>
            <a:endParaRPr lang="en-US" sz="674" dirty="0"/>
          </a:p>
        </p:txBody>
      </p:sp>
      <p:sp>
        <p:nvSpPr>
          <p:cNvPr id="17" name="Text 13"/>
          <p:cNvSpPr/>
          <p:nvPr/>
        </p:nvSpPr>
        <p:spPr>
          <a:xfrm>
            <a:off x="3000375" y="2476202"/>
            <a:ext cx="342900"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04</a:t>
            </a:r>
            <a:endParaRPr lang="en-US" sz="1090" dirty="0"/>
          </a:p>
        </p:txBody>
      </p:sp>
      <p:sp>
        <p:nvSpPr>
          <p:cNvPr id="18" name="Text 14"/>
          <p:cNvSpPr/>
          <p:nvPr/>
        </p:nvSpPr>
        <p:spPr>
          <a:xfrm>
            <a:off x="3343275" y="2423350"/>
            <a:ext cx="5372100" cy="169999"/>
          </a:xfrm>
          <a:prstGeom prst="rect">
            <a:avLst/>
          </a:prstGeom>
          <a:noFill/>
          <a:ln/>
        </p:spPr>
        <p:txBody>
          <a:bodyPr wrap="none" lIns="0" tIns="0" rIns="0" bIns="0" rtlCol="0" anchor="t">
            <a:spAutoFit/>
          </a:bodyPr>
          <a:lstStyle/>
          <a:p>
            <a:pPr algn="l" indent="0" marL="0">
              <a:lnSpc>
                <a:spcPts val="1300"/>
              </a:lnSpc>
              <a:buNone/>
            </a:pPr>
            <a:r>
              <a:rPr lang="en-US" sz="888" dirty="0">
                <a:solidFill>
                  <a:srgbClr val="E8EDF2"/>
                </a:solidFill>
                <a:latin typeface="Inter" pitchFamily="34" charset="0"/>
                <a:ea typeface="Inter" pitchFamily="34" charset="-122"/>
                <a:cs typeface="Inter" pitchFamily="34" charset="-120"/>
              </a:rPr>
              <a:t>Metodologia Proposta</a:t>
            </a:r>
            <a:endParaRPr lang="en-US" sz="888" dirty="0"/>
          </a:p>
        </p:txBody>
      </p:sp>
      <p:sp>
        <p:nvSpPr>
          <p:cNvPr id="19" name="Text 15"/>
          <p:cNvSpPr/>
          <p:nvPr/>
        </p:nvSpPr>
        <p:spPr>
          <a:xfrm>
            <a:off x="3343275" y="2607636"/>
            <a:ext cx="5372100"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45000"/>
                  </a:srgbClr>
                </a:solidFill>
                <a:latin typeface="Inter" pitchFamily="34" charset="0"/>
                <a:ea typeface="Inter" pitchFamily="34" charset="-122"/>
                <a:cs typeface="Inter" pitchFamily="34" charset="-120"/>
              </a:rPr>
              <a:t>Dataset, modelos e CEEMDAN-EWT-TFT Aggregator</a:t>
            </a:r>
            <a:endParaRPr lang="en-US" sz="674" dirty="0"/>
          </a:p>
        </p:txBody>
      </p:sp>
      <p:sp>
        <p:nvSpPr>
          <p:cNvPr id="20" name="Text 16"/>
          <p:cNvSpPr/>
          <p:nvPr/>
        </p:nvSpPr>
        <p:spPr>
          <a:xfrm>
            <a:off x="3000375" y="2980172"/>
            <a:ext cx="342900"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05</a:t>
            </a:r>
            <a:endParaRPr lang="en-US" sz="1090" dirty="0"/>
          </a:p>
        </p:txBody>
      </p:sp>
      <p:sp>
        <p:nvSpPr>
          <p:cNvPr id="21" name="Text 17"/>
          <p:cNvSpPr/>
          <p:nvPr/>
        </p:nvSpPr>
        <p:spPr>
          <a:xfrm>
            <a:off x="3343275" y="2927319"/>
            <a:ext cx="5372100" cy="169999"/>
          </a:xfrm>
          <a:prstGeom prst="rect">
            <a:avLst/>
          </a:prstGeom>
          <a:noFill/>
          <a:ln/>
        </p:spPr>
        <p:txBody>
          <a:bodyPr wrap="none" lIns="0" tIns="0" rIns="0" bIns="0" rtlCol="0" anchor="t">
            <a:spAutoFit/>
          </a:bodyPr>
          <a:lstStyle/>
          <a:p>
            <a:pPr algn="l" indent="0" marL="0">
              <a:lnSpc>
                <a:spcPts val="1300"/>
              </a:lnSpc>
              <a:buNone/>
            </a:pPr>
            <a:r>
              <a:rPr lang="en-US" sz="888" dirty="0">
                <a:solidFill>
                  <a:srgbClr val="E8EDF2"/>
                </a:solidFill>
                <a:latin typeface="Inter" pitchFamily="34" charset="0"/>
                <a:ea typeface="Inter" pitchFamily="34" charset="-122"/>
                <a:cs typeface="Inter" pitchFamily="34" charset="-120"/>
              </a:rPr>
              <a:t>Sistema de Suporte à Decisão</a:t>
            </a:r>
            <a:endParaRPr lang="en-US" sz="888" dirty="0"/>
          </a:p>
        </p:txBody>
      </p:sp>
      <p:sp>
        <p:nvSpPr>
          <p:cNvPr id="22" name="Text 18"/>
          <p:cNvSpPr/>
          <p:nvPr/>
        </p:nvSpPr>
        <p:spPr>
          <a:xfrm>
            <a:off x="3343275" y="3111605"/>
            <a:ext cx="5372100"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45000"/>
                  </a:srgbClr>
                </a:solidFill>
                <a:latin typeface="Inter" pitchFamily="34" charset="0"/>
                <a:ea typeface="Inter" pitchFamily="34" charset="-122"/>
                <a:cs typeface="Inter" pitchFamily="34" charset="-120"/>
              </a:rPr>
              <a:t>Dashboard, ORI e AI Copilot</a:t>
            </a:r>
            <a:endParaRPr lang="en-US" sz="674" dirty="0"/>
          </a:p>
        </p:txBody>
      </p:sp>
      <p:sp>
        <p:nvSpPr>
          <p:cNvPr id="23" name="Text 19"/>
          <p:cNvSpPr/>
          <p:nvPr/>
        </p:nvSpPr>
        <p:spPr>
          <a:xfrm>
            <a:off x="3000375" y="3484141"/>
            <a:ext cx="342900"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06</a:t>
            </a:r>
            <a:endParaRPr lang="en-US" sz="1090" dirty="0"/>
          </a:p>
        </p:txBody>
      </p:sp>
      <p:sp>
        <p:nvSpPr>
          <p:cNvPr id="24" name="Text 20"/>
          <p:cNvSpPr/>
          <p:nvPr/>
        </p:nvSpPr>
        <p:spPr>
          <a:xfrm>
            <a:off x="3343275" y="3431288"/>
            <a:ext cx="5372100" cy="169999"/>
          </a:xfrm>
          <a:prstGeom prst="rect">
            <a:avLst/>
          </a:prstGeom>
          <a:noFill/>
          <a:ln/>
        </p:spPr>
        <p:txBody>
          <a:bodyPr wrap="none" lIns="0" tIns="0" rIns="0" bIns="0" rtlCol="0" anchor="t">
            <a:spAutoFit/>
          </a:bodyPr>
          <a:lstStyle/>
          <a:p>
            <a:pPr algn="l" indent="0" marL="0">
              <a:lnSpc>
                <a:spcPts val="1300"/>
              </a:lnSpc>
              <a:buNone/>
            </a:pPr>
            <a:r>
              <a:rPr lang="en-US" sz="888" dirty="0">
                <a:solidFill>
                  <a:srgbClr val="E8EDF2"/>
                </a:solidFill>
                <a:latin typeface="Inter" pitchFamily="34" charset="0"/>
                <a:ea typeface="Inter" pitchFamily="34" charset="-122"/>
                <a:cs typeface="Inter" pitchFamily="34" charset="-120"/>
              </a:rPr>
              <a:t>Resultados e Discussão</a:t>
            </a:r>
            <a:endParaRPr lang="en-US" sz="888" dirty="0"/>
          </a:p>
        </p:txBody>
      </p:sp>
      <p:sp>
        <p:nvSpPr>
          <p:cNvPr id="25" name="Text 21"/>
          <p:cNvSpPr/>
          <p:nvPr/>
        </p:nvSpPr>
        <p:spPr>
          <a:xfrm>
            <a:off x="3343275" y="3615575"/>
            <a:ext cx="5372100"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45000"/>
                  </a:srgbClr>
                </a:solidFill>
                <a:latin typeface="Inter" pitchFamily="34" charset="0"/>
                <a:ea typeface="Inter" pitchFamily="34" charset="-122"/>
                <a:cs typeface="Inter" pitchFamily="34" charset="-120"/>
              </a:rPr>
              <a:t>Performance, impacto econômico e interpretabilidade</a:t>
            </a:r>
            <a:endParaRPr lang="en-US" sz="674" dirty="0"/>
          </a:p>
        </p:txBody>
      </p:sp>
      <p:sp>
        <p:nvSpPr>
          <p:cNvPr id="26" name="Text 22"/>
          <p:cNvSpPr/>
          <p:nvPr/>
        </p:nvSpPr>
        <p:spPr>
          <a:xfrm>
            <a:off x="3000375" y="3988110"/>
            <a:ext cx="342900"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07</a:t>
            </a:r>
            <a:endParaRPr lang="en-US" sz="1090" dirty="0"/>
          </a:p>
        </p:txBody>
      </p:sp>
      <p:sp>
        <p:nvSpPr>
          <p:cNvPr id="27" name="Text 23"/>
          <p:cNvSpPr/>
          <p:nvPr/>
        </p:nvSpPr>
        <p:spPr>
          <a:xfrm>
            <a:off x="3343275" y="3935257"/>
            <a:ext cx="5372100" cy="169999"/>
          </a:xfrm>
          <a:prstGeom prst="rect">
            <a:avLst/>
          </a:prstGeom>
          <a:noFill/>
          <a:ln/>
        </p:spPr>
        <p:txBody>
          <a:bodyPr wrap="none" lIns="0" tIns="0" rIns="0" bIns="0" rtlCol="0" anchor="t">
            <a:spAutoFit/>
          </a:bodyPr>
          <a:lstStyle/>
          <a:p>
            <a:pPr algn="l" indent="0" marL="0">
              <a:lnSpc>
                <a:spcPts val="1300"/>
              </a:lnSpc>
              <a:buNone/>
            </a:pPr>
            <a:r>
              <a:rPr lang="en-US" sz="888" dirty="0">
                <a:solidFill>
                  <a:srgbClr val="E8EDF2"/>
                </a:solidFill>
                <a:latin typeface="Inter" pitchFamily="34" charset="0"/>
                <a:ea typeface="Inter" pitchFamily="34" charset="-122"/>
                <a:cs typeface="Inter" pitchFamily="34" charset="-120"/>
              </a:rPr>
              <a:t>Conclusão e Trabalhos Futuros</a:t>
            </a:r>
            <a:endParaRPr lang="en-US" sz="888" dirty="0"/>
          </a:p>
        </p:txBody>
      </p:sp>
      <p:sp>
        <p:nvSpPr>
          <p:cNvPr id="28" name="Text 24"/>
          <p:cNvSpPr/>
          <p:nvPr/>
        </p:nvSpPr>
        <p:spPr>
          <a:xfrm>
            <a:off x="3343275" y="4119544"/>
            <a:ext cx="5372100"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45000"/>
                  </a:srgbClr>
                </a:solidFill>
                <a:latin typeface="Inter" pitchFamily="34" charset="0"/>
                <a:ea typeface="Inter" pitchFamily="34" charset="-122"/>
                <a:cs typeface="Inter" pitchFamily="34" charset="-120"/>
              </a:rPr>
              <a:t>Contribuições, limitações e próximos passos</a:t>
            </a:r>
            <a:endParaRPr lang="en-US" sz="67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753023" y="1945779"/>
            <a:ext cx="3637955" cy="857250"/>
          </a:xfrm>
          <a:prstGeom prst="rect">
            <a:avLst/>
          </a:prstGeom>
          <a:noFill/>
          <a:ln/>
        </p:spPr>
        <p:txBody>
          <a:bodyPr wrap="none" lIns="0" tIns="0" rIns="0" bIns="0" rtlCol="0" anchor="t">
            <a:spAutoFit/>
          </a:bodyPr>
          <a:lstStyle/>
          <a:p>
            <a:pPr algn="ctr" indent="0" marL="0">
              <a:lnSpc>
                <a:spcPts val="6800"/>
              </a:lnSpc>
              <a:buNone/>
            </a:pPr>
            <a:r>
              <a:rPr lang="en-US" sz="6218" b="1" dirty="0">
                <a:solidFill>
                  <a:srgbClr val="F2C94C">
                    <a:alpha val="12000"/>
                  </a:srgbClr>
                </a:solidFill>
                <a:latin typeface="Montserrat" pitchFamily="34" charset="0"/>
                <a:ea typeface="Montserrat" pitchFamily="34" charset="-122"/>
                <a:cs typeface="Montserrat" pitchFamily="34" charset="-120"/>
              </a:rPr>
              <a:t>01</a:t>
            </a:r>
            <a:endParaRPr lang="en-US" sz="6218" dirty="0"/>
          </a:p>
        </p:txBody>
      </p:sp>
      <p:sp>
        <p:nvSpPr>
          <p:cNvPr id="5" name="Text 1"/>
          <p:cNvSpPr/>
          <p:nvPr/>
        </p:nvSpPr>
        <p:spPr>
          <a:xfrm>
            <a:off x="2753023" y="2660154"/>
            <a:ext cx="3637955" cy="366117"/>
          </a:xfrm>
          <a:prstGeom prst="rect">
            <a:avLst/>
          </a:prstGeom>
          <a:noFill/>
          <a:ln/>
        </p:spPr>
        <p:txBody>
          <a:bodyPr wrap="none" lIns="0" tIns="0" rIns="0" bIns="0" rtlCol="0" anchor="t">
            <a:spAutoFit/>
          </a:bodyPr>
          <a:lstStyle/>
          <a:p>
            <a:pPr algn="ctr" indent="0" marL="0">
              <a:lnSpc>
                <a:spcPts val="2800"/>
              </a:lnSpc>
              <a:buNone/>
            </a:pPr>
            <a:r>
              <a:rPr lang="en-US" sz="2121" b="1" dirty="0">
                <a:solidFill>
                  <a:srgbClr val="F2C94C"/>
                </a:solidFill>
                <a:latin typeface="Montserrat" pitchFamily="34" charset="0"/>
                <a:ea typeface="Montserrat" pitchFamily="34" charset="-122"/>
                <a:cs typeface="Montserrat" pitchFamily="34" charset="-120"/>
              </a:rPr>
              <a:t>Introdução e Motivação</a:t>
            </a:r>
            <a:endParaRPr lang="en-US" sz="212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35769"/>
          </a:xfrm>
          <a:prstGeom prst="rect">
            <a:avLst/>
          </a:prstGeom>
          <a:solidFill>
            <a:srgbClr val="000000">
              <a:alpha val="0"/>
            </a:srgbClr>
          </a:solidFill>
          <a:ln/>
        </p:spPr>
      </p:sp>
      <p:sp>
        <p:nvSpPr>
          <p:cNvPr id="5" name="Shape 1"/>
          <p:cNvSpPr/>
          <p:nvPr/>
        </p:nvSpPr>
        <p:spPr>
          <a:xfrm>
            <a:off x="428625" y="850106"/>
            <a:ext cx="8286750" cy="14288"/>
          </a:xfrm>
          <a:prstGeom prst="rect">
            <a:avLst/>
          </a:prstGeom>
          <a:solidFill>
            <a:srgbClr val="FBEFC9"/>
          </a:solidFill>
          <a:ln/>
        </p:spPr>
      </p:sp>
      <p:sp>
        <p:nvSpPr>
          <p:cNvPr id="6" name="Text 2"/>
          <p:cNvSpPr/>
          <p:nvPr/>
        </p:nvSpPr>
        <p:spPr>
          <a:xfrm>
            <a:off x="428625" y="428625"/>
            <a:ext cx="8286750"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F2C94C"/>
                </a:solidFill>
                <a:latin typeface="Montserrat" pitchFamily="34" charset="0"/>
                <a:ea typeface="Montserrat" pitchFamily="34" charset="-122"/>
                <a:cs typeface="Montserrat" pitchFamily="34" charset="-120"/>
              </a:rPr>
              <a:t>FPSO INTEGRADO COM ENERGIA EÓLICA OFFSHORE</a:t>
            </a:r>
            <a:endParaRPr lang="en-US" sz="1602" dirty="0"/>
          </a:p>
        </p:txBody>
      </p:sp>
      <p:pic>
        <p:nvPicPr>
          <p:cNvPr id="7" name="Image 1" descr="preencoded.png">    </p:cNvPr>
          <p:cNvPicPr>
            <a:picLocks noChangeAspect="1"/>
          </p:cNvPicPr>
          <p:nvPr/>
        </p:nvPicPr>
        <p:blipFill>
          <a:blip r:embed="rId2"/>
          <a:stretch>
            <a:fillRect/>
          </a:stretch>
        </p:blipFill>
        <p:spPr>
          <a:xfrm>
            <a:off x="428625" y="1288554"/>
            <a:ext cx="100013" cy="114300"/>
          </a:xfrm>
          <a:prstGeom prst="rect">
            <a:avLst/>
          </a:prstGeom>
        </p:spPr>
      </p:pic>
      <p:sp>
        <p:nvSpPr>
          <p:cNvPr id="8" name="Text 3"/>
          <p:cNvSpPr/>
          <p:nvPr/>
        </p:nvSpPr>
        <p:spPr>
          <a:xfrm>
            <a:off x="642938" y="1245691"/>
            <a:ext cx="3714750" cy="685800"/>
          </a:xfrm>
          <a:prstGeom prst="rect">
            <a:avLst/>
          </a:prstGeom>
          <a:noFill/>
          <a:ln/>
        </p:spPr>
        <p:txBody>
          <a:bodyPr wrap="square" lIns="0" tIns="0" rIns="0" bIns="0" rtlCol="0" anchor="t">
            <a:spAutoFit/>
          </a:bodyPr>
          <a:lstStyle/>
          <a:p>
            <a:pPr algn="l" indent="0" marL="0">
              <a:lnSpc>
                <a:spcPts val="1800"/>
              </a:lnSpc>
              <a:buNone/>
            </a:pPr>
            <a:pPr algn="l" indent="0" marL="0">
              <a:lnSpc>
                <a:spcPts val="1800"/>
              </a:lnSpc>
              <a:buNone/>
            </a:pPr>
            <a:r>
              <a:rPr lang="en-US" sz="987" b="1" dirty="0">
                <a:solidFill>
                  <a:srgbClr val="F2C94C"/>
                </a:solidFill>
                <a:latin typeface="Inter" pitchFamily="34" charset="0"/>
                <a:ea typeface="Inter" pitchFamily="34" charset="-122"/>
                <a:cs typeface="Inter" pitchFamily="34" charset="-120"/>
              </a:rPr>
              <a:t>Sistema Híbrido Isolado:</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 Integração de turbinas a gás </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(geração principal) com parque eólico offshore </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flutuante.</a:t>
            </a:r>
            <a:endParaRPr lang="en-US" sz="1050" dirty="0"/>
          </a:p>
        </p:txBody>
      </p:sp>
      <p:pic>
        <p:nvPicPr>
          <p:cNvPr id="9" name="Image 2" descr="preencoded.png">    </p:cNvPr>
          <p:cNvPicPr>
            <a:picLocks noChangeAspect="1"/>
          </p:cNvPicPr>
          <p:nvPr/>
        </p:nvPicPr>
        <p:blipFill>
          <a:blip r:embed="rId3"/>
          <a:stretch>
            <a:fillRect/>
          </a:stretch>
        </p:blipFill>
        <p:spPr>
          <a:xfrm>
            <a:off x="428625" y="2145804"/>
            <a:ext cx="100013" cy="114300"/>
          </a:xfrm>
          <a:prstGeom prst="rect">
            <a:avLst/>
          </a:prstGeom>
        </p:spPr>
      </p:pic>
      <p:sp>
        <p:nvSpPr>
          <p:cNvPr id="10" name="Text 4"/>
          <p:cNvSpPr/>
          <p:nvPr/>
        </p:nvSpPr>
        <p:spPr>
          <a:xfrm>
            <a:off x="642938" y="2102941"/>
            <a:ext cx="3714750" cy="457200"/>
          </a:xfrm>
          <a:prstGeom prst="rect">
            <a:avLst/>
          </a:prstGeom>
          <a:noFill/>
          <a:ln/>
        </p:spPr>
        <p:txBody>
          <a:bodyPr wrap="square" lIns="0" tIns="0" rIns="0" bIns="0" rtlCol="0" anchor="t">
            <a:spAutoFit/>
          </a:bodyPr>
          <a:lstStyle/>
          <a:p>
            <a:pPr algn="l" indent="0" marL="0">
              <a:lnSpc>
                <a:spcPts val="1800"/>
              </a:lnSpc>
              <a:buNone/>
            </a:pPr>
            <a:pPr algn="l" indent="0" marL="0">
              <a:lnSpc>
                <a:spcPts val="1800"/>
              </a:lnSpc>
              <a:buNone/>
            </a:pPr>
            <a:r>
              <a:rPr lang="en-US" sz="987" b="1" dirty="0">
                <a:solidFill>
                  <a:srgbClr val="F2C94C"/>
                </a:solidFill>
                <a:latin typeface="Inter" pitchFamily="34" charset="0"/>
                <a:ea typeface="Inter" pitchFamily="34" charset="-122"/>
                <a:cs typeface="Inter" pitchFamily="34" charset="-120"/>
              </a:rPr>
              <a:t>Objetivo:</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 Descarbonização da produção de óleo e gás </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através da redução do consumo de combustível fóssil.</a:t>
            </a:r>
            <a:endParaRPr lang="en-US" sz="1050" dirty="0"/>
          </a:p>
        </p:txBody>
      </p:sp>
      <p:pic>
        <p:nvPicPr>
          <p:cNvPr id="11" name="Image 3" descr="preencoded.png">    </p:cNvPr>
          <p:cNvPicPr>
            <a:picLocks noChangeAspect="1"/>
          </p:cNvPicPr>
          <p:nvPr/>
        </p:nvPicPr>
        <p:blipFill>
          <a:blip r:embed="rId4"/>
          <a:stretch>
            <a:fillRect/>
          </a:stretch>
        </p:blipFill>
        <p:spPr>
          <a:xfrm>
            <a:off x="428625" y="2774454"/>
            <a:ext cx="100013" cy="114300"/>
          </a:xfrm>
          <a:prstGeom prst="rect">
            <a:avLst/>
          </a:prstGeom>
        </p:spPr>
      </p:pic>
      <p:sp>
        <p:nvSpPr>
          <p:cNvPr id="12" name="Text 5"/>
          <p:cNvSpPr/>
          <p:nvPr/>
        </p:nvSpPr>
        <p:spPr>
          <a:xfrm>
            <a:off x="642938" y="2731591"/>
            <a:ext cx="3714750" cy="457200"/>
          </a:xfrm>
          <a:prstGeom prst="rect">
            <a:avLst/>
          </a:prstGeom>
          <a:noFill/>
          <a:ln/>
        </p:spPr>
        <p:txBody>
          <a:bodyPr wrap="square" lIns="0" tIns="0" rIns="0" bIns="0" rtlCol="0" anchor="t">
            <a:spAutoFit/>
          </a:bodyPr>
          <a:lstStyle/>
          <a:p>
            <a:pPr algn="l" indent="0" marL="0">
              <a:lnSpc>
                <a:spcPts val="1800"/>
              </a:lnSpc>
              <a:buNone/>
            </a:pPr>
            <a:pPr algn="l" indent="0" marL="0">
              <a:lnSpc>
                <a:spcPts val="1800"/>
              </a:lnSpc>
              <a:buNone/>
            </a:pPr>
            <a:r>
              <a:rPr lang="en-US" sz="987" b="1" dirty="0">
                <a:solidFill>
                  <a:srgbClr val="F2C94C"/>
                </a:solidFill>
                <a:latin typeface="Inter" pitchFamily="34" charset="0"/>
                <a:ea typeface="Inter" pitchFamily="34" charset="-122"/>
                <a:cs typeface="Inter" pitchFamily="34" charset="-120"/>
              </a:rPr>
              <a:t>Arquitetura:</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 Conexão via barramento AC comum, </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permitindo o compartilhamento de carga.</a:t>
            </a:r>
            <a:endParaRPr lang="en-US" sz="1050" dirty="0"/>
          </a:p>
        </p:txBody>
      </p:sp>
      <p:pic>
        <p:nvPicPr>
          <p:cNvPr id="13" name="Image 4" descr="preencoded.png">    </p:cNvPr>
          <p:cNvPicPr>
            <a:picLocks noChangeAspect="1"/>
          </p:cNvPicPr>
          <p:nvPr/>
        </p:nvPicPr>
        <p:blipFill>
          <a:blip r:embed="rId5"/>
          <a:stretch>
            <a:fillRect/>
          </a:stretch>
        </p:blipFill>
        <p:spPr>
          <a:xfrm>
            <a:off x="428625" y="3403104"/>
            <a:ext cx="100013" cy="114300"/>
          </a:xfrm>
          <a:prstGeom prst="rect">
            <a:avLst/>
          </a:prstGeom>
        </p:spPr>
      </p:pic>
      <p:sp>
        <p:nvSpPr>
          <p:cNvPr id="14" name="Text 6"/>
          <p:cNvSpPr/>
          <p:nvPr/>
        </p:nvSpPr>
        <p:spPr>
          <a:xfrm>
            <a:off x="642938" y="3360241"/>
            <a:ext cx="3714750" cy="685800"/>
          </a:xfrm>
          <a:prstGeom prst="rect">
            <a:avLst/>
          </a:prstGeom>
          <a:noFill/>
          <a:ln/>
        </p:spPr>
        <p:txBody>
          <a:bodyPr wrap="square" lIns="0" tIns="0" rIns="0" bIns="0" rtlCol="0" anchor="t">
            <a:spAutoFit/>
          </a:bodyPr>
          <a:lstStyle/>
          <a:p>
            <a:pPr algn="l" indent="0" marL="0">
              <a:lnSpc>
                <a:spcPts val="1800"/>
              </a:lnSpc>
              <a:buNone/>
            </a:pPr>
            <a:pPr algn="l" indent="0" marL="0">
              <a:lnSpc>
                <a:spcPts val="1800"/>
              </a:lnSpc>
              <a:buNone/>
            </a:pPr>
            <a:r>
              <a:rPr lang="en-US" sz="987" b="1" dirty="0">
                <a:solidFill>
                  <a:srgbClr val="F2C94C"/>
                </a:solidFill>
                <a:latin typeface="Inter" pitchFamily="34" charset="0"/>
                <a:ea typeface="Inter" pitchFamily="34" charset="-122"/>
                <a:cs typeface="Inter" pitchFamily="34" charset="-120"/>
              </a:rPr>
              <a:t>Desafio:</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 Gerenciar a estabilidade de um sistema </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isolado com alta penetração de renováveis </a:t>
            </a:r>
            <a:pPr algn="l" indent="0" marL="0">
              <a:lnSpc>
                <a:spcPts val="1800"/>
              </a:lnSpc>
              <a:buNone/>
            </a:pPr>
            <a:r>
              <a:rPr lang="en-US" sz="1050" dirty="0">
                <a:solidFill>
                  <a:srgbClr val="E8EDF2"/>
                </a:solidFill>
                <a:latin typeface="Inter" pitchFamily="34" charset="0"/>
                <a:ea typeface="Inter" pitchFamily="34" charset="-122"/>
                <a:cs typeface="Inter" pitchFamily="34" charset="-120"/>
              </a:rPr>
              <a:t>intermitentes.</a:t>
            </a:r>
            <a:endParaRPr lang="en-US" sz="1050" dirty="0"/>
          </a:p>
        </p:txBody>
      </p:sp>
      <p:sp>
        <p:nvSpPr>
          <p:cNvPr id="15" name="Shape 7"/>
          <p:cNvSpPr/>
          <p:nvPr/>
        </p:nvSpPr>
        <p:spPr>
          <a:xfrm>
            <a:off x="4786313" y="1207294"/>
            <a:ext cx="3929063" cy="2857500"/>
          </a:xfrm>
          <a:prstGeom prst="rect">
            <a:avLst/>
          </a:prstGeom>
          <a:solidFill>
            <a:srgbClr val="001D33">
              <a:alpha val="50000"/>
            </a:srgbClr>
          </a:solidFill>
          <a:ln w="18288">
            <a:solidFill>
              <a:srgbClr val="F2C94C">
                <a:alpha val="50000"/>
              </a:srgbClr>
            </a:solidFill>
            <a:prstDash val="dash"/>
          </a:ln>
        </p:spPr>
      </p:sp>
      <p:pic>
        <p:nvPicPr>
          <p:cNvPr id="16" name="Image 5" descr="preencoded.png">    </p:cNvPr>
          <p:cNvPicPr>
            <a:picLocks noChangeAspect="1"/>
          </p:cNvPicPr>
          <p:nvPr/>
        </p:nvPicPr>
        <p:blipFill>
          <a:blip r:embed="rId6"/>
          <a:stretch>
            <a:fillRect/>
          </a:stretch>
        </p:blipFill>
        <p:spPr>
          <a:xfrm>
            <a:off x="6579394" y="2178844"/>
            <a:ext cx="342900" cy="342900"/>
          </a:xfrm>
          <a:prstGeom prst="rect">
            <a:avLst/>
          </a:prstGeom>
        </p:spPr>
      </p:pic>
      <p:sp>
        <p:nvSpPr>
          <p:cNvPr id="17" name="Text 8"/>
          <p:cNvSpPr/>
          <p:nvPr/>
        </p:nvSpPr>
        <p:spPr>
          <a:xfrm>
            <a:off x="5722144" y="2636044"/>
            <a:ext cx="2057400" cy="157163"/>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E8EDF2">
                    <a:alpha val="60000"/>
                  </a:srgbClr>
                </a:solidFill>
                <a:latin typeface="Montserrat" pitchFamily="34" charset="0"/>
                <a:ea typeface="Montserrat" pitchFamily="34" charset="-122"/>
                <a:cs typeface="Montserrat" pitchFamily="34" charset="-120"/>
              </a:rPr>
              <a:t>Inserir Figura 1.1 da Dissertação</a:t>
            </a:r>
            <a:endParaRPr lang="en-US" sz="885" dirty="0"/>
          </a:p>
        </p:txBody>
      </p:sp>
      <p:sp>
        <p:nvSpPr>
          <p:cNvPr id="18" name="Text 9"/>
          <p:cNvSpPr/>
          <p:nvPr/>
        </p:nvSpPr>
        <p:spPr>
          <a:xfrm>
            <a:off x="5713214" y="2850356"/>
            <a:ext cx="2075259" cy="242888"/>
          </a:xfrm>
          <a:prstGeom prst="rect">
            <a:avLst/>
          </a:prstGeom>
          <a:noFill/>
          <a:ln/>
        </p:spPr>
        <p:txBody>
          <a:bodyPr wrap="square" lIns="0" tIns="0" rIns="0" bIns="0" rtlCol="0" anchor="t">
            <a:spAutoFit/>
          </a:bodyPr>
          <a:lstStyle/>
          <a:p>
            <a:pPr algn="ctr" indent="0" marL="0">
              <a:lnSpc>
                <a:spcPts val="900"/>
              </a:lnSpc>
              <a:buNone/>
            </a:pPr>
            <a:r>
              <a:rPr lang="en-US" sz="727" dirty="0">
                <a:solidFill>
                  <a:srgbClr val="E8EDF2">
                    <a:alpha val="60000"/>
                  </a:srgbClr>
                </a:solidFill>
                <a:latin typeface="Inter" pitchFamily="34" charset="0"/>
                <a:ea typeface="Inter" pitchFamily="34" charset="-122"/>
                <a:cs typeface="Inter" pitchFamily="34" charset="-120"/>
              </a:rPr>
              <a:t>Ilustração conceitual de um FPSO integrado</a:t>
            </a:r>
            <a:pPr algn="ctr" indent="0" marL="0">
              <a:lnSpc>
                <a:spcPts val="900"/>
              </a:lnSpc>
              <a:buNone/>
            </a:pPr>
            <a:r>
              <a:rPr lang="en-US" sz="727" dirty="0">
                <a:solidFill>
                  <a:srgbClr val="E8EDF2">
                    <a:alpha val="60000"/>
                  </a:srgbClr>
                </a:solidFill>
                <a:latin typeface="Inter" pitchFamily="34" charset="0"/>
                <a:ea typeface="Inter" pitchFamily="34" charset="-122"/>
                <a:cs typeface="Inter" pitchFamily="34" charset="-120"/>
              </a:rPr>
              <a:t>
</a:t>
            </a:r>
            <a:pPr algn="ctr" indent="0" marL="0">
              <a:lnSpc>
                <a:spcPts val="900"/>
              </a:lnSpc>
              <a:buNone/>
            </a:pPr>
            <a:r>
              <a:rPr lang="en-US" sz="727" dirty="0">
                <a:solidFill>
                  <a:srgbClr val="E8EDF2">
                    <a:alpha val="60000"/>
                  </a:srgbClr>
                </a:solidFill>
                <a:latin typeface="Inter" pitchFamily="34" charset="0"/>
                <a:ea typeface="Inter" pitchFamily="34" charset="-122"/>
                <a:cs typeface="Inter" pitchFamily="34" charset="-120"/>
              </a:rPr>
              <a:t>com parque eólico offshore</a:t>
            </a:r>
            <a:endParaRPr lang="en-US" sz="727" dirty="0"/>
          </a:p>
        </p:txBody>
      </p:sp>
      <p:sp>
        <p:nvSpPr>
          <p:cNvPr id="19" name="Text 10"/>
          <p:cNvSpPr/>
          <p:nvPr/>
        </p:nvSpPr>
        <p:spPr>
          <a:xfrm>
            <a:off x="4786313" y="4150519"/>
            <a:ext cx="3929063"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50000"/>
                  </a:srgbClr>
                </a:solidFill>
                <a:latin typeface="Inter" pitchFamily="34" charset="0"/>
                <a:ea typeface="Inter" pitchFamily="34" charset="-122"/>
                <a:cs typeface="Inter" pitchFamily="34" charset="-120"/>
              </a:rPr>
              <a:t>Fonte: Adaptado de Medeiros et al. (2024)</a:t>
            </a:r>
            <a:endParaRPr lang="en-US" sz="62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525066"/>
          </a:xfrm>
          <a:prstGeom prst="rect">
            <a:avLst/>
          </a:prstGeom>
          <a:solidFill>
            <a:srgbClr val="000000">
              <a:alpha val="0"/>
            </a:srgbClr>
          </a:solidFill>
          <a:ln/>
        </p:spPr>
      </p:sp>
      <p:sp>
        <p:nvSpPr>
          <p:cNvPr id="5" name="Shape 1"/>
          <p:cNvSpPr/>
          <p:nvPr/>
        </p:nvSpPr>
        <p:spPr>
          <a:xfrm>
            <a:off x="428625" y="428625"/>
            <a:ext cx="42863" cy="525066"/>
          </a:xfrm>
          <a:prstGeom prst="rect">
            <a:avLst/>
          </a:prstGeom>
          <a:solidFill>
            <a:srgbClr val="F2C94C"/>
          </a:solidFill>
          <a:ln/>
        </p:spPr>
      </p:sp>
      <p:sp>
        <p:nvSpPr>
          <p:cNvPr id="6" name="Text 2"/>
          <p:cNvSpPr/>
          <p:nvPr/>
        </p:nvSpPr>
        <p:spPr>
          <a:xfrm>
            <a:off x="600075" y="428625"/>
            <a:ext cx="8115300" cy="312539"/>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2C94C"/>
                </a:solidFill>
                <a:latin typeface="Montserrat" pitchFamily="34" charset="0"/>
                <a:ea typeface="Montserrat" pitchFamily="34" charset="-122"/>
                <a:cs typeface="Montserrat" pitchFamily="34" charset="-120"/>
              </a:rPr>
              <a:t>O Problema: Intermitência da Geração Eólica</a:t>
            </a:r>
            <a:endParaRPr lang="en-US" sz="1808" dirty="0"/>
          </a:p>
        </p:txBody>
      </p:sp>
      <p:sp>
        <p:nvSpPr>
          <p:cNvPr id="7" name="Text 3"/>
          <p:cNvSpPr/>
          <p:nvPr/>
        </p:nvSpPr>
        <p:spPr>
          <a:xfrm>
            <a:off x="600075" y="798314"/>
            <a:ext cx="8115300" cy="155377"/>
          </a:xfrm>
          <a:prstGeom prst="rect">
            <a:avLst/>
          </a:prstGeom>
          <a:noFill/>
          <a:ln/>
        </p:spPr>
        <p:txBody>
          <a:bodyPr wrap="none" lIns="0" tIns="0" rIns="0" bIns="0" rtlCol="0" anchor="t">
            <a:spAutoFit/>
          </a:bodyPr>
          <a:lstStyle/>
          <a:p>
            <a:pPr algn="l" indent="0" marL="0">
              <a:lnSpc>
                <a:spcPts val="1200"/>
              </a:lnSpc>
              <a:buNone/>
            </a:pPr>
            <a:r>
              <a:rPr lang="en-US" sz="942" dirty="0">
                <a:solidFill>
                  <a:srgbClr val="E8EDF2">
                    <a:alpha val="80000"/>
                  </a:srgbClr>
                </a:solidFill>
                <a:latin typeface="Inter" pitchFamily="34" charset="0"/>
                <a:ea typeface="Inter" pitchFamily="34" charset="-122"/>
                <a:cs typeface="Inter" pitchFamily="34" charset="-120"/>
              </a:rPr>
              <a:t>Desafios físicos impostos pela natureza estocástica do vento</a:t>
            </a:r>
            <a:endParaRPr lang="en-US" sz="942" dirty="0"/>
          </a:p>
        </p:txBody>
      </p:sp>
      <p:pic>
        <p:nvPicPr>
          <p:cNvPr id="8" name="Image 1" descr="preencoded.png">    </p:cNvPr>
          <p:cNvPicPr>
            <a:picLocks noChangeAspect="1"/>
          </p:cNvPicPr>
          <p:nvPr/>
        </p:nvPicPr>
        <p:blipFill>
          <a:blip r:embed="rId2"/>
          <a:stretch>
            <a:fillRect/>
          </a:stretch>
        </p:blipFill>
        <p:spPr>
          <a:xfrm>
            <a:off x="428625" y="1359098"/>
            <a:ext cx="128588" cy="128588"/>
          </a:xfrm>
          <a:prstGeom prst="rect">
            <a:avLst/>
          </a:prstGeom>
        </p:spPr>
      </p:pic>
      <p:sp>
        <p:nvSpPr>
          <p:cNvPr id="9" name="Text 4"/>
          <p:cNvSpPr/>
          <p:nvPr/>
        </p:nvSpPr>
        <p:spPr>
          <a:xfrm>
            <a:off x="642938" y="1336774"/>
            <a:ext cx="154840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Natureza Estocástica</a:t>
            </a:r>
            <a:endParaRPr lang="en-US" sz="987" dirty="0"/>
          </a:p>
        </p:txBody>
      </p:sp>
      <p:sp>
        <p:nvSpPr>
          <p:cNvPr id="10" name="Text 5"/>
          <p:cNvSpPr/>
          <p:nvPr/>
        </p:nvSpPr>
        <p:spPr>
          <a:xfrm>
            <a:off x="428625" y="1567160"/>
            <a:ext cx="3636811" cy="514350"/>
          </a:xfrm>
          <a:prstGeom prst="rect">
            <a:avLst/>
          </a:prstGeom>
          <a:noFill/>
          <a:ln/>
        </p:spPr>
        <p:txBody>
          <a:bodyPr wrap="square" lIns="255143" tIns="0" rIns="0" bIns="0" rtlCol="0" anchor="t">
            <a:spAutoFit/>
          </a:bodyPr>
          <a:lstStyle/>
          <a:p>
            <a:pPr algn="l" indent="0" marL="0">
              <a:lnSpc>
                <a:spcPts val="1400"/>
              </a:lnSpc>
              <a:buNone/>
            </a:pPr>
            <a:r>
              <a:rPr lang="en-US" sz="834" dirty="0">
                <a:solidFill>
                  <a:srgbClr val="E8EDF2">
                    <a:alpha val="70000"/>
                  </a:srgbClr>
                </a:solidFill>
                <a:latin typeface="Inter" pitchFamily="34" charset="0"/>
                <a:ea typeface="Inter" pitchFamily="34" charset="-122"/>
                <a:cs typeface="Inter" pitchFamily="34" charset="-120"/>
              </a:rPr>
              <a:t>A velocidade do vento varia em múltiplas escalas de tempo (segundos a horas), tornando a geração de potência altamente volátil e difícil de prever.</a:t>
            </a:r>
            <a:endParaRPr lang="en-US" sz="834" dirty="0"/>
          </a:p>
        </p:txBody>
      </p:sp>
      <p:pic>
        <p:nvPicPr>
          <p:cNvPr id="11" name="Image 2" descr="preencoded.png">    </p:cNvPr>
          <p:cNvPicPr>
            <a:picLocks noChangeAspect="1"/>
          </p:cNvPicPr>
          <p:nvPr/>
        </p:nvPicPr>
        <p:blipFill>
          <a:blip r:embed="rId3"/>
          <a:stretch>
            <a:fillRect/>
          </a:stretch>
        </p:blipFill>
        <p:spPr>
          <a:xfrm>
            <a:off x="428625" y="2275284"/>
            <a:ext cx="128588" cy="128588"/>
          </a:xfrm>
          <a:prstGeom prst="rect">
            <a:avLst/>
          </a:prstGeom>
        </p:spPr>
      </p:pic>
      <p:sp>
        <p:nvSpPr>
          <p:cNvPr id="12" name="Text 6"/>
          <p:cNvSpPr/>
          <p:nvPr/>
        </p:nvSpPr>
        <p:spPr>
          <a:xfrm>
            <a:off x="642938" y="2252960"/>
            <a:ext cx="2493169"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Eventos de Rampa (Ramp Events)</a:t>
            </a:r>
            <a:endParaRPr lang="en-US" sz="987" dirty="0"/>
          </a:p>
        </p:txBody>
      </p:sp>
      <p:sp>
        <p:nvSpPr>
          <p:cNvPr id="13" name="Text 7"/>
          <p:cNvSpPr/>
          <p:nvPr/>
        </p:nvSpPr>
        <p:spPr>
          <a:xfrm>
            <a:off x="428625" y="2483346"/>
            <a:ext cx="3636811" cy="342900"/>
          </a:xfrm>
          <a:prstGeom prst="rect">
            <a:avLst/>
          </a:prstGeom>
          <a:noFill/>
          <a:ln/>
        </p:spPr>
        <p:txBody>
          <a:bodyPr wrap="square" lIns="255143" tIns="0" rIns="0" bIns="0" rtlCol="0" anchor="t">
            <a:spAutoFit/>
          </a:bodyPr>
          <a:lstStyle/>
          <a:p>
            <a:pPr algn="l" indent="0" marL="0">
              <a:lnSpc>
                <a:spcPts val="1400"/>
              </a:lnSpc>
              <a:buNone/>
            </a:pPr>
            <a:r>
              <a:rPr lang="en-US" sz="834" dirty="0">
                <a:solidFill>
                  <a:srgbClr val="E8EDF2">
                    <a:alpha val="70000"/>
                  </a:srgbClr>
                </a:solidFill>
                <a:latin typeface="Inter" pitchFamily="34" charset="0"/>
                <a:ea typeface="Inter" pitchFamily="34" charset="-122"/>
                <a:cs typeface="Inter" pitchFamily="34" charset="-120"/>
              </a:rPr>
              <a:t>Variações abruptas de potência (subidas ou descidas rápidas) que exigem resposta imediata do sistema de backup.</a:t>
            </a:r>
            <a:endParaRPr lang="en-US" sz="834" dirty="0"/>
          </a:p>
        </p:txBody>
      </p:sp>
      <p:pic>
        <p:nvPicPr>
          <p:cNvPr id="14" name="Image 3" descr="preencoded.png">    </p:cNvPr>
          <p:cNvPicPr>
            <a:picLocks noChangeAspect="1"/>
          </p:cNvPicPr>
          <p:nvPr/>
        </p:nvPicPr>
        <p:blipFill>
          <a:blip r:embed="rId4"/>
          <a:stretch>
            <a:fillRect/>
          </a:stretch>
        </p:blipFill>
        <p:spPr>
          <a:xfrm>
            <a:off x="428625" y="3020020"/>
            <a:ext cx="128588" cy="128588"/>
          </a:xfrm>
          <a:prstGeom prst="rect">
            <a:avLst/>
          </a:prstGeom>
        </p:spPr>
      </p:pic>
      <p:sp>
        <p:nvSpPr>
          <p:cNvPr id="15" name="Text 8"/>
          <p:cNvSpPr/>
          <p:nvPr/>
        </p:nvSpPr>
        <p:spPr>
          <a:xfrm>
            <a:off x="642938" y="2997696"/>
            <a:ext cx="1676995"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Ameaça à Estabilidade</a:t>
            </a:r>
            <a:endParaRPr lang="en-US" sz="987" dirty="0"/>
          </a:p>
        </p:txBody>
      </p:sp>
      <p:sp>
        <p:nvSpPr>
          <p:cNvPr id="16" name="Text 9"/>
          <p:cNvSpPr/>
          <p:nvPr/>
        </p:nvSpPr>
        <p:spPr>
          <a:xfrm>
            <a:off x="428625" y="3228082"/>
            <a:ext cx="3636811" cy="342900"/>
          </a:xfrm>
          <a:prstGeom prst="rect">
            <a:avLst/>
          </a:prstGeom>
          <a:noFill/>
          <a:ln/>
        </p:spPr>
        <p:txBody>
          <a:bodyPr wrap="square" lIns="255143" tIns="0" rIns="0" bIns="0" rtlCol="0" anchor="t">
            <a:spAutoFit/>
          </a:bodyPr>
          <a:lstStyle/>
          <a:p>
            <a:pPr algn="l" indent="0" marL="0">
              <a:lnSpc>
                <a:spcPts val="1400"/>
              </a:lnSpc>
              <a:buNone/>
            </a:pPr>
            <a:r>
              <a:rPr lang="en-US" sz="834" dirty="0">
                <a:solidFill>
                  <a:srgbClr val="E8EDF2">
                    <a:alpha val="70000"/>
                  </a:srgbClr>
                </a:solidFill>
                <a:latin typeface="Inter" pitchFamily="34" charset="0"/>
                <a:ea typeface="Inter" pitchFamily="34" charset="-122"/>
                <a:cs typeface="Inter" pitchFamily="34" charset="-120"/>
              </a:rPr>
              <a:t>Em redes isoladas (como FPSOs), a falta de inércia amplifica o impacto dessas flutuações na frequência e tensão da rede.</a:t>
            </a:r>
            <a:endParaRPr lang="en-US" sz="834" dirty="0"/>
          </a:p>
        </p:txBody>
      </p:sp>
      <p:sp>
        <p:nvSpPr>
          <p:cNvPr id="17" name="Shape 10"/>
          <p:cNvSpPr/>
          <p:nvPr/>
        </p:nvSpPr>
        <p:spPr>
          <a:xfrm>
            <a:off x="428625" y="3885307"/>
            <a:ext cx="3636811" cy="542925"/>
          </a:xfrm>
          <a:prstGeom prst="rect">
            <a:avLst/>
          </a:prstGeom>
          <a:solidFill>
            <a:srgbClr val="F2C94C">
              <a:alpha val="5000"/>
            </a:srgbClr>
          </a:solidFill>
          <a:ln/>
        </p:spPr>
      </p:sp>
      <p:sp>
        <p:nvSpPr>
          <p:cNvPr id="18" name="Shape 11"/>
          <p:cNvSpPr/>
          <p:nvPr/>
        </p:nvSpPr>
        <p:spPr>
          <a:xfrm>
            <a:off x="428625" y="3885307"/>
            <a:ext cx="21431" cy="542925"/>
          </a:xfrm>
          <a:prstGeom prst="rect">
            <a:avLst/>
          </a:prstGeom>
          <a:solidFill>
            <a:srgbClr val="F2C94C"/>
          </a:solidFill>
          <a:ln/>
        </p:spPr>
      </p:sp>
      <p:sp>
        <p:nvSpPr>
          <p:cNvPr id="19" name="Text 12"/>
          <p:cNvSpPr/>
          <p:nvPr/>
        </p:nvSpPr>
        <p:spPr>
          <a:xfrm>
            <a:off x="571500" y="4028182"/>
            <a:ext cx="3351061" cy="257175"/>
          </a:xfrm>
          <a:prstGeom prst="rect">
            <a:avLst/>
          </a:prstGeom>
          <a:noFill/>
          <a:ln/>
        </p:spPr>
        <p:txBody>
          <a:bodyPr wrap="square" lIns="0" tIns="0" rIns="0" bIns="0" rtlCol="0" anchor="t">
            <a:spAutoFit/>
          </a:bodyPr>
          <a:lstStyle/>
          <a:p>
            <a:pPr algn="l" indent="0" marL="0">
              <a:lnSpc>
                <a:spcPts val="1000"/>
              </a:lnSpc>
              <a:buNone/>
            </a:pPr>
            <a:r>
              <a:rPr lang="en-US" sz="734" b="1" dirty="0">
                <a:solidFill>
                  <a:srgbClr val="E8EDF2"/>
                </a:solidFill>
                <a:latin typeface="Inter" pitchFamily="34" charset="0"/>
                <a:ea typeface="Inter" pitchFamily="34" charset="-122"/>
                <a:cs typeface="Inter" pitchFamily="34" charset="-120"/>
              </a:rPr>
              <a:t>"A intermitência não é apenas um problema de eficiência, é um risco direto à continuidade operacional da plataforma."</a:t>
            </a:r>
            <a:endParaRPr lang="en-US" sz="734" dirty="0"/>
          </a:p>
        </p:txBody>
      </p:sp>
      <p:sp>
        <p:nvSpPr>
          <p:cNvPr id="20" name="Shape 13"/>
          <p:cNvSpPr/>
          <p:nvPr/>
        </p:nvSpPr>
        <p:spPr>
          <a:xfrm>
            <a:off x="4351186" y="1239441"/>
            <a:ext cx="4364189" cy="3286125"/>
          </a:xfrm>
          <a:prstGeom prst="rect">
            <a:avLst/>
          </a:prstGeom>
          <a:solidFill>
            <a:srgbClr val="FFFFFF">
              <a:alpha val="3000"/>
            </a:srgbClr>
          </a:solidFill>
          <a:ln w="18288">
            <a:solidFill>
              <a:srgbClr val="F2C94C">
                <a:alpha val="30000"/>
              </a:srgbClr>
            </a:solidFill>
            <a:prstDash val="dash"/>
          </a:ln>
        </p:spPr>
      </p:sp>
      <p:pic>
        <p:nvPicPr>
          <p:cNvPr id="21" name="Image 4" descr="preencoded.png">    </p:cNvPr>
          <p:cNvPicPr>
            <a:picLocks noChangeAspect="1"/>
          </p:cNvPicPr>
          <p:nvPr/>
        </p:nvPicPr>
        <p:blipFill>
          <a:blip r:embed="rId5"/>
          <a:stretch>
            <a:fillRect/>
          </a:stretch>
        </p:blipFill>
        <p:spPr>
          <a:xfrm>
            <a:off x="6361816" y="2425303"/>
            <a:ext cx="342900" cy="342900"/>
          </a:xfrm>
          <a:prstGeom prst="rect">
            <a:avLst/>
          </a:prstGeom>
        </p:spPr>
      </p:pic>
      <p:sp>
        <p:nvSpPr>
          <p:cNvPr id="22" name="Text 14"/>
          <p:cNvSpPr/>
          <p:nvPr/>
        </p:nvSpPr>
        <p:spPr>
          <a:xfrm>
            <a:off x="5489386" y="2882503"/>
            <a:ext cx="2087761" cy="157163"/>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Inserir Figura 1.2 da Dissertação</a:t>
            </a:r>
            <a:endParaRPr lang="en-US" sz="885" dirty="0"/>
          </a:p>
        </p:txBody>
      </p:sp>
      <p:sp>
        <p:nvSpPr>
          <p:cNvPr id="23" name="Text 15"/>
          <p:cNvSpPr/>
          <p:nvPr/>
        </p:nvSpPr>
        <p:spPr>
          <a:xfrm>
            <a:off x="4787596" y="3096816"/>
            <a:ext cx="3491340" cy="242888"/>
          </a:xfrm>
          <a:prstGeom prst="rect">
            <a:avLst/>
          </a:prstGeom>
          <a:noFill/>
          <a:ln/>
        </p:spPr>
        <p:txBody>
          <a:bodyPr wrap="square" lIns="0" tIns="0" rIns="0" bIns="0" rtlCol="0" anchor="t">
            <a:spAutoFit/>
          </a:bodyPr>
          <a:lstStyle/>
          <a:p>
            <a:pPr algn="ctr" indent="0" marL="0">
              <a:lnSpc>
                <a:spcPts val="900"/>
              </a:lnSpc>
              <a:buNone/>
            </a:pPr>
            <a:r>
              <a:rPr lang="en-US" sz="727" dirty="0">
                <a:solidFill>
                  <a:srgbClr val="E8EDF2">
                    <a:alpha val="50000"/>
                  </a:srgbClr>
                </a:solidFill>
                <a:latin typeface="Inter" pitchFamily="34" charset="0"/>
                <a:ea typeface="Inter" pitchFamily="34" charset="-122"/>
                <a:cs typeface="Inter" pitchFamily="34" charset="-120"/>
              </a:rPr>
              <a:t>Série temporal de potência eólica (média de 10 min) mostrando a alta volatilidade</a:t>
            </a:r>
            <a:endParaRPr lang="en-US" sz="727" dirty="0"/>
          </a:p>
        </p:txBody>
      </p:sp>
      <p:sp>
        <p:nvSpPr>
          <p:cNvPr id="24" name="Text 16"/>
          <p:cNvSpPr/>
          <p:nvPr/>
        </p:nvSpPr>
        <p:spPr>
          <a:xfrm>
            <a:off x="4351186" y="4420195"/>
            <a:ext cx="4364189"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Adaptado de Gück et al. (2024) - Dataset CARE to Compare</a:t>
            </a:r>
            <a:endParaRPr lang="en-US" sz="62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285750" y="428625"/>
            <a:ext cx="8572500" cy="441127"/>
          </a:xfrm>
          <a:prstGeom prst="rect">
            <a:avLst/>
          </a:prstGeom>
          <a:solidFill>
            <a:srgbClr val="000000">
              <a:alpha val="0"/>
            </a:srgbClr>
          </a:solidFill>
          <a:ln/>
        </p:spPr>
      </p:sp>
      <p:sp>
        <p:nvSpPr>
          <p:cNvPr id="5" name="Shape 1"/>
          <p:cNvSpPr/>
          <p:nvPr/>
        </p:nvSpPr>
        <p:spPr>
          <a:xfrm>
            <a:off x="285750" y="855464"/>
            <a:ext cx="8572500" cy="14288"/>
          </a:xfrm>
          <a:prstGeom prst="rect">
            <a:avLst/>
          </a:prstGeom>
          <a:solidFill>
            <a:srgbClr val="F2C94C"/>
          </a:solidFill>
          <a:ln/>
        </p:spPr>
      </p:sp>
      <p:sp>
        <p:nvSpPr>
          <p:cNvPr id="6" name="Text 2"/>
          <p:cNvSpPr/>
          <p:nvPr/>
        </p:nvSpPr>
        <p:spPr>
          <a:xfrm>
            <a:off x="285750" y="428625"/>
            <a:ext cx="8572500" cy="312539"/>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2C94C"/>
                </a:solidFill>
                <a:latin typeface="Montserrat" pitchFamily="34" charset="0"/>
                <a:ea typeface="Montserrat" pitchFamily="34" charset="-122"/>
                <a:cs typeface="Montserrat" pitchFamily="34" charset="-120"/>
              </a:rPr>
              <a:t>Dinâmica de Frequência em Sistemas Isolados</a:t>
            </a:r>
            <a:endParaRPr lang="en-US" sz="1808" dirty="0"/>
          </a:p>
        </p:txBody>
      </p:sp>
      <p:pic>
        <p:nvPicPr>
          <p:cNvPr id="7" name="Image 1" descr="preencoded.png">    </p:cNvPr>
          <p:cNvPicPr>
            <a:picLocks noChangeAspect="1"/>
          </p:cNvPicPr>
          <p:nvPr/>
        </p:nvPicPr>
        <p:blipFill>
          <a:blip r:embed="rId2"/>
          <a:stretch>
            <a:fillRect/>
          </a:stretch>
        </p:blipFill>
        <p:spPr>
          <a:xfrm>
            <a:off x="285750" y="1041202"/>
            <a:ext cx="107156" cy="628650"/>
          </a:xfrm>
          <a:prstGeom prst="rect">
            <a:avLst/>
          </a:prstGeom>
        </p:spPr>
      </p:pic>
      <p:sp>
        <p:nvSpPr>
          <p:cNvPr id="8" name="Text 3"/>
          <p:cNvSpPr/>
          <p:nvPr/>
        </p:nvSpPr>
        <p:spPr>
          <a:xfrm>
            <a:off x="478631" y="1026914"/>
            <a:ext cx="3986213" cy="642938"/>
          </a:xfrm>
          <a:prstGeom prst="rect">
            <a:avLst/>
          </a:prstGeom>
          <a:noFill/>
          <a:ln/>
        </p:spPr>
        <p:txBody>
          <a:bodyPr wrap="square" lIns="0" tIns="0" rIns="0" bIns="0" rtlCol="0" anchor="t">
            <a:spAutoFit/>
          </a:bodyPr>
          <a:lstStyle/>
          <a:p>
            <a:pPr algn="l" indent="0" marL="0">
              <a:lnSpc>
                <a:spcPts val="1700"/>
              </a:lnSpc>
              <a:buNone/>
            </a:pPr>
            <a:r>
              <a:rPr lang="en-US" sz="1050" dirty="0">
                <a:solidFill>
                  <a:srgbClr val="E8EDF2"/>
                </a:solidFill>
                <a:latin typeface="Inter" pitchFamily="34" charset="0"/>
                <a:ea typeface="Inter" pitchFamily="34" charset="-122"/>
                <a:cs typeface="Inter" pitchFamily="34" charset="-120"/>
              </a:rPr>
              <a:t>Sistemas isolados (FPSOs) possuem </a:t>
            </a:r>
            <a:pPr algn="l" indent="0" marL="0">
              <a:lnSpc>
                <a:spcPts val="1700"/>
              </a:lnSpc>
              <a:buNone/>
            </a:pPr>
            <a:r>
              <a:rPr lang="en-US" sz="987" b="1" dirty="0">
                <a:solidFill>
                  <a:srgbClr val="F2C94C"/>
                </a:solidFill>
                <a:latin typeface="Inter" pitchFamily="34" charset="0"/>
                <a:ea typeface="Inter" pitchFamily="34" charset="-122"/>
                <a:cs typeface="Inter" pitchFamily="34" charset="-120"/>
              </a:rPr>
              <a:t>baixa inércia</a:t>
            </a:r>
            <a:pPr algn="l" indent="0" marL="0">
              <a:lnSpc>
                <a:spcPts val="1700"/>
              </a:lnSpc>
              <a:buNone/>
            </a:pPr>
            <a:r>
              <a:rPr lang="en-US" sz="1050" dirty="0">
                <a:solidFill>
                  <a:srgbClr val="E8EDF2"/>
                </a:solidFill>
                <a:latin typeface="Inter" pitchFamily="34" charset="0"/>
                <a:ea typeface="Inter" pitchFamily="34" charset="-122"/>
                <a:cs typeface="Inter" pitchFamily="34" charset="-120"/>
              </a:rPr>
              <a:t> comparados a redes continentais, tornando-os vulneráveis </a:t>
            </a:r>
            <a:pPr algn="l" indent="0" marL="0">
              <a:lnSpc>
                <a:spcPts val="1700"/>
              </a:lnSpc>
              <a:buNone/>
            </a:pPr>
            <a:r>
              <a:rPr lang="en-US" sz="1050" dirty="0">
                <a:solidFill>
                  <a:srgbClr val="E8EDF2"/>
                </a:solidFill>
                <a:latin typeface="Inter" pitchFamily="34" charset="0"/>
                <a:ea typeface="Inter" pitchFamily="34" charset="-122"/>
                <a:cs typeface="Inter" pitchFamily="34" charset="-120"/>
              </a:rPr>
              <a:t>a variações de carga.</a:t>
            </a:r>
            <a:endParaRPr lang="en-US" sz="1050" dirty="0"/>
          </a:p>
        </p:txBody>
      </p:sp>
      <p:pic>
        <p:nvPicPr>
          <p:cNvPr id="9" name="Image 2" descr="preencoded.png">    </p:cNvPr>
          <p:cNvPicPr>
            <a:picLocks noChangeAspect="1"/>
          </p:cNvPicPr>
          <p:nvPr/>
        </p:nvPicPr>
        <p:blipFill>
          <a:blip r:embed="rId3"/>
          <a:stretch>
            <a:fillRect/>
          </a:stretch>
        </p:blipFill>
        <p:spPr>
          <a:xfrm>
            <a:off x="285750" y="1812727"/>
            <a:ext cx="142875" cy="414338"/>
          </a:xfrm>
          <a:prstGeom prst="rect">
            <a:avLst/>
          </a:prstGeom>
        </p:spPr>
      </p:pic>
      <p:sp>
        <p:nvSpPr>
          <p:cNvPr id="10" name="Text 4"/>
          <p:cNvSpPr/>
          <p:nvPr/>
        </p:nvSpPr>
        <p:spPr>
          <a:xfrm>
            <a:off x="514350" y="1798439"/>
            <a:ext cx="3950494" cy="428625"/>
          </a:xfrm>
          <a:prstGeom prst="rect">
            <a:avLst/>
          </a:prstGeom>
          <a:noFill/>
          <a:ln/>
        </p:spPr>
        <p:txBody>
          <a:bodyPr wrap="square" lIns="0" tIns="0" rIns="0" bIns="0" rtlCol="0" anchor="t">
            <a:spAutoFit/>
          </a:bodyPr>
          <a:lstStyle/>
          <a:p>
            <a:pPr algn="l" indent="0" marL="0">
              <a:lnSpc>
                <a:spcPts val="1700"/>
              </a:lnSpc>
              <a:buNone/>
            </a:pPr>
            <a:r>
              <a:rPr lang="en-US" sz="1050" dirty="0">
                <a:solidFill>
                  <a:srgbClr val="E8EDF2"/>
                </a:solidFill>
                <a:latin typeface="Inter" pitchFamily="34" charset="0"/>
                <a:ea typeface="Inter" pitchFamily="34" charset="-122"/>
                <a:cs typeface="Inter" pitchFamily="34" charset="-120"/>
              </a:rPr>
              <a:t>A perda súbita de geração (ex: queda de vento) causa um </a:t>
            </a:r>
            <a:pPr algn="l" indent="0" marL="0">
              <a:lnSpc>
                <a:spcPts val="1700"/>
              </a:lnSpc>
              <a:buNone/>
            </a:pPr>
            <a:r>
              <a:rPr lang="en-US" sz="1050" dirty="0">
                <a:solidFill>
                  <a:srgbClr val="E8EDF2"/>
                </a:solidFill>
                <a:latin typeface="Inter" pitchFamily="34" charset="0"/>
                <a:ea typeface="Inter" pitchFamily="34" charset="-122"/>
                <a:cs typeface="Inter" pitchFamily="34" charset="-120"/>
              </a:rPr>
              <a:t>declínio rápido na frequência (</a:t>
            </a:r>
            <a:pPr algn="l" indent="0" marL="0">
              <a:lnSpc>
                <a:spcPts val="1700"/>
              </a:lnSpc>
              <a:buNone/>
            </a:pPr>
            <a:r>
              <a:rPr lang="en-US" sz="987" b="1" dirty="0">
                <a:solidFill>
                  <a:srgbClr val="F2C94C"/>
                </a:solidFill>
                <a:latin typeface="Inter" pitchFamily="34" charset="0"/>
                <a:ea typeface="Inter" pitchFamily="34" charset="-122"/>
                <a:cs typeface="Inter" pitchFamily="34" charset="-120"/>
              </a:rPr>
              <a:t>RoCoF</a:t>
            </a:r>
            <a:pPr algn="l" indent="0" marL="0">
              <a:lnSpc>
                <a:spcPts val="1700"/>
              </a:lnSpc>
              <a:buNone/>
            </a:pPr>
            <a:r>
              <a:rPr lang="en-US" sz="1050" dirty="0">
                <a:solidFill>
                  <a:srgbClr val="E8EDF2"/>
                </a:solidFill>
                <a:latin typeface="Inter" pitchFamily="34" charset="0"/>
                <a:ea typeface="Inter" pitchFamily="34" charset="-122"/>
                <a:cs typeface="Inter" pitchFamily="34" charset="-120"/>
              </a:rPr>
              <a:t> elevado).</a:t>
            </a:r>
            <a:endParaRPr lang="en-US" sz="1050" dirty="0"/>
          </a:p>
        </p:txBody>
      </p:sp>
      <p:pic>
        <p:nvPicPr>
          <p:cNvPr id="11" name="Image 3" descr="preencoded.png">    </p:cNvPr>
          <p:cNvPicPr>
            <a:picLocks noChangeAspect="1"/>
          </p:cNvPicPr>
          <p:nvPr/>
        </p:nvPicPr>
        <p:blipFill>
          <a:blip r:embed="rId4"/>
          <a:stretch>
            <a:fillRect/>
          </a:stretch>
        </p:blipFill>
        <p:spPr>
          <a:xfrm>
            <a:off x="285750" y="2369939"/>
            <a:ext cx="142875" cy="628650"/>
          </a:xfrm>
          <a:prstGeom prst="rect">
            <a:avLst/>
          </a:prstGeom>
        </p:spPr>
      </p:pic>
      <p:sp>
        <p:nvSpPr>
          <p:cNvPr id="12" name="Text 5"/>
          <p:cNvSpPr/>
          <p:nvPr/>
        </p:nvSpPr>
        <p:spPr>
          <a:xfrm>
            <a:off x="514350" y="2355652"/>
            <a:ext cx="3950494" cy="642938"/>
          </a:xfrm>
          <a:prstGeom prst="rect">
            <a:avLst/>
          </a:prstGeom>
          <a:noFill/>
          <a:ln/>
        </p:spPr>
        <p:txBody>
          <a:bodyPr wrap="square" lIns="0" tIns="0" rIns="0" bIns="0" rtlCol="0" anchor="t">
            <a:spAutoFit/>
          </a:bodyPr>
          <a:lstStyle/>
          <a:p>
            <a:pPr algn="l" indent="0" marL="0">
              <a:lnSpc>
                <a:spcPts val="1700"/>
              </a:lnSpc>
              <a:buNone/>
            </a:pPr>
            <a:r>
              <a:rPr lang="en-US" sz="1050" dirty="0">
                <a:solidFill>
                  <a:srgbClr val="E8EDF2"/>
                </a:solidFill>
                <a:latin typeface="Inter" pitchFamily="34" charset="0"/>
                <a:ea typeface="Inter" pitchFamily="34" charset="-122"/>
                <a:cs typeface="Inter" pitchFamily="34" charset="-120"/>
              </a:rPr>
              <a:t>Se o </a:t>
            </a:r>
            <a:pPr algn="l" indent="0" marL="0">
              <a:lnSpc>
                <a:spcPts val="1700"/>
              </a:lnSpc>
              <a:buNone/>
            </a:pPr>
            <a:r>
              <a:rPr lang="en-US" sz="987" b="1" dirty="0">
                <a:solidFill>
                  <a:srgbClr val="F2C94C"/>
                </a:solidFill>
                <a:latin typeface="Inter" pitchFamily="34" charset="0"/>
                <a:ea typeface="Inter" pitchFamily="34" charset="-122"/>
                <a:cs typeface="Inter" pitchFamily="34" charset="-120"/>
              </a:rPr>
              <a:t>Nadir de Frequência</a:t>
            </a:r>
            <a:pPr algn="l" indent="0" marL="0">
              <a:lnSpc>
                <a:spcPts val="1700"/>
              </a:lnSpc>
              <a:buNone/>
            </a:pPr>
            <a:r>
              <a:rPr lang="en-US" sz="1050" dirty="0">
                <a:solidFill>
                  <a:srgbClr val="E8EDF2"/>
                </a:solidFill>
                <a:latin typeface="Inter" pitchFamily="34" charset="0"/>
                <a:ea typeface="Inter" pitchFamily="34" charset="-122"/>
                <a:cs typeface="Inter" pitchFamily="34" charset="-120"/>
              </a:rPr>
              <a:t> atingir o limiar de proteção, </a:t>
            </a:r>
            <a:pPr algn="l" indent="0" marL="0">
              <a:lnSpc>
                <a:spcPts val="1700"/>
              </a:lnSpc>
              <a:buNone/>
            </a:pPr>
            <a:r>
              <a:rPr lang="en-US" sz="1050" dirty="0">
                <a:solidFill>
                  <a:srgbClr val="E8EDF2"/>
                </a:solidFill>
                <a:latin typeface="Inter" pitchFamily="34" charset="0"/>
                <a:ea typeface="Inter" pitchFamily="34" charset="-122"/>
                <a:cs typeface="Inter" pitchFamily="34" charset="-120"/>
              </a:rPr>
              <a:t>relés de subfrequência atuam, causando desligamento em </a:t>
            </a:r>
            <a:pPr algn="l" indent="0" marL="0">
              <a:lnSpc>
                <a:spcPts val="1700"/>
              </a:lnSpc>
              <a:buNone/>
            </a:pPr>
            <a:r>
              <a:rPr lang="en-US" sz="1050" dirty="0">
                <a:solidFill>
                  <a:srgbClr val="E8EDF2"/>
                </a:solidFill>
                <a:latin typeface="Inter" pitchFamily="34" charset="0"/>
                <a:ea typeface="Inter" pitchFamily="34" charset="-122"/>
                <a:cs typeface="Inter" pitchFamily="34" charset="-120"/>
              </a:rPr>
              <a:t>cascata (Blackout).</a:t>
            </a:r>
            <a:endParaRPr lang="en-US" sz="1050" dirty="0"/>
          </a:p>
        </p:txBody>
      </p:sp>
      <p:sp>
        <p:nvSpPr>
          <p:cNvPr id="13" name="Shape 6"/>
          <p:cNvSpPr/>
          <p:nvPr/>
        </p:nvSpPr>
        <p:spPr>
          <a:xfrm>
            <a:off x="285750" y="3212902"/>
            <a:ext cx="4179094" cy="847930"/>
          </a:xfrm>
          <a:prstGeom prst="rect">
            <a:avLst/>
          </a:prstGeom>
          <a:solidFill>
            <a:srgbClr val="1A4B6E">
              <a:alpha val="30000"/>
            </a:srgbClr>
          </a:solidFill>
          <a:ln/>
        </p:spPr>
      </p:sp>
      <p:sp>
        <p:nvSpPr>
          <p:cNvPr id="14" name="Shape 7"/>
          <p:cNvSpPr/>
          <p:nvPr/>
        </p:nvSpPr>
        <p:spPr>
          <a:xfrm>
            <a:off x="285750" y="3212902"/>
            <a:ext cx="28575" cy="847930"/>
          </a:xfrm>
          <a:prstGeom prst="rect">
            <a:avLst/>
          </a:prstGeom>
          <a:solidFill>
            <a:srgbClr val="F2C94C"/>
          </a:solidFill>
          <a:ln/>
        </p:spPr>
      </p:sp>
      <p:sp>
        <p:nvSpPr>
          <p:cNvPr id="15" name="Text 8"/>
          <p:cNvSpPr/>
          <p:nvPr/>
        </p:nvSpPr>
        <p:spPr>
          <a:xfrm>
            <a:off x="371475" y="3298627"/>
            <a:ext cx="4007644"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CONCEITO CHAVE: ROCOF</a:t>
            </a:r>
            <a:endParaRPr lang="en-US" sz="784" dirty="0"/>
          </a:p>
        </p:txBody>
      </p:sp>
      <p:sp>
        <p:nvSpPr>
          <p:cNvPr id="16" name="Text 9"/>
          <p:cNvSpPr/>
          <p:nvPr/>
        </p:nvSpPr>
        <p:spPr>
          <a:xfrm>
            <a:off x="371475" y="3495080"/>
            <a:ext cx="4007644" cy="480027"/>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8EDF2"/>
                </a:solidFill>
                <a:latin typeface="Inter" pitchFamily="34" charset="0"/>
                <a:ea typeface="Inter" pitchFamily="34" charset="-122"/>
                <a:cs typeface="Inter" pitchFamily="34" charset="-120"/>
              </a:rPr>
              <a:t>Rate of Change of Frequency. Em sistemas com alta penetração eólica (conversores eletrônicos), a inércia física é reduzida, acelerando a queda de frequência.</a:t>
            </a:r>
            <a:endParaRPr lang="en-US" sz="834" dirty="0"/>
          </a:p>
        </p:txBody>
      </p:sp>
      <p:sp>
        <p:nvSpPr>
          <p:cNvPr id="17" name="Shape 10"/>
          <p:cNvSpPr/>
          <p:nvPr/>
        </p:nvSpPr>
        <p:spPr>
          <a:xfrm>
            <a:off x="4679156" y="1026914"/>
            <a:ext cx="4179094" cy="1428750"/>
          </a:xfrm>
          <a:prstGeom prst="rect">
            <a:avLst/>
          </a:prstGeom>
          <a:solidFill>
            <a:srgbClr val="FFFFFF">
              <a:alpha val="5000"/>
            </a:srgbClr>
          </a:solidFill>
          <a:ln w="18288">
            <a:solidFill>
              <a:srgbClr val="F2C94C">
                <a:alpha val="30000"/>
              </a:srgbClr>
            </a:solidFill>
            <a:prstDash val="dash"/>
          </a:ln>
        </p:spPr>
      </p:sp>
      <p:sp>
        <p:nvSpPr>
          <p:cNvPr id="18" name="Text 11"/>
          <p:cNvSpPr/>
          <p:nvPr/>
        </p:nvSpPr>
        <p:spPr>
          <a:xfrm>
            <a:off x="5724823" y="1580555"/>
            <a:ext cx="2087761" cy="157163"/>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F2C94C">
                    <a:alpha val="70000"/>
                  </a:srgbClr>
                </a:solidFill>
                <a:latin typeface="Montserrat" pitchFamily="34" charset="0"/>
                <a:ea typeface="Montserrat" pitchFamily="34" charset="-122"/>
                <a:cs typeface="Montserrat" pitchFamily="34" charset="-120"/>
              </a:rPr>
              <a:t>Inserir Figura 1.3 da Dissertação</a:t>
            </a:r>
            <a:endParaRPr lang="en-US" sz="885" dirty="0"/>
          </a:p>
        </p:txBody>
      </p:sp>
      <p:sp>
        <p:nvSpPr>
          <p:cNvPr id="19" name="Text 12"/>
          <p:cNvSpPr/>
          <p:nvPr/>
        </p:nvSpPr>
        <p:spPr>
          <a:xfrm>
            <a:off x="5440859" y="1780580"/>
            <a:ext cx="2655689"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50000"/>
                  </a:srgbClr>
                </a:solidFill>
                <a:latin typeface="Inter" pitchFamily="34" charset="0"/>
                <a:ea typeface="Inter" pitchFamily="34" charset="-122"/>
                <a:cs typeface="Inter" pitchFamily="34" charset="-120"/>
              </a:rPr>
              <a:t>Typical frequency response following generator tripping</a:t>
            </a:r>
            <a:endParaRPr lang="en-US" sz="727" dirty="0"/>
          </a:p>
        </p:txBody>
      </p:sp>
      <p:sp>
        <p:nvSpPr>
          <p:cNvPr id="20" name="Text 13"/>
          <p:cNvSpPr/>
          <p:nvPr/>
        </p:nvSpPr>
        <p:spPr>
          <a:xfrm>
            <a:off x="4679156" y="2498527"/>
            <a:ext cx="4179094"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60000"/>
                  </a:srgbClr>
                </a:solidFill>
                <a:latin typeface="Inter" pitchFamily="34" charset="0"/>
                <a:ea typeface="Inter" pitchFamily="34" charset="-122"/>
                <a:cs typeface="Inter" pitchFamily="34" charset="-120"/>
              </a:rPr>
              <a:t>Resposta típica de frequência após perda de gerador (Inércia, Governador, AGC).</a:t>
            </a:r>
            <a:endParaRPr lang="en-US" sz="621" dirty="0"/>
          </a:p>
        </p:txBody>
      </p:sp>
      <p:sp>
        <p:nvSpPr>
          <p:cNvPr id="21" name="Shape 14"/>
          <p:cNvSpPr/>
          <p:nvPr/>
        </p:nvSpPr>
        <p:spPr>
          <a:xfrm>
            <a:off x="4679156" y="2732484"/>
            <a:ext cx="4179094" cy="1428750"/>
          </a:xfrm>
          <a:prstGeom prst="rect">
            <a:avLst/>
          </a:prstGeom>
          <a:solidFill>
            <a:srgbClr val="FFFFFF">
              <a:alpha val="5000"/>
            </a:srgbClr>
          </a:solidFill>
          <a:ln w="18288">
            <a:solidFill>
              <a:srgbClr val="F2C94C">
                <a:alpha val="30000"/>
              </a:srgbClr>
            </a:solidFill>
            <a:prstDash val="dash"/>
          </a:ln>
        </p:spPr>
      </p:sp>
      <p:sp>
        <p:nvSpPr>
          <p:cNvPr id="22" name="Text 15"/>
          <p:cNvSpPr/>
          <p:nvPr/>
        </p:nvSpPr>
        <p:spPr>
          <a:xfrm>
            <a:off x="5705177" y="3286125"/>
            <a:ext cx="2127052" cy="157163"/>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F2C94C">
                    <a:alpha val="70000"/>
                  </a:srgbClr>
                </a:solidFill>
                <a:latin typeface="Montserrat" pitchFamily="34" charset="0"/>
                <a:ea typeface="Montserrat" pitchFamily="34" charset="-122"/>
                <a:cs typeface="Montserrat" pitchFamily="34" charset="-120"/>
              </a:rPr>
              <a:t>Inserir Figura 2.4 da Dissertação</a:t>
            </a:r>
            <a:endParaRPr lang="en-US" sz="885" dirty="0"/>
          </a:p>
        </p:txBody>
      </p:sp>
      <p:sp>
        <p:nvSpPr>
          <p:cNvPr id="23" name="Text 16"/>
          <p:cNvSpPr/>
          <p:nvPr/>
        </p:nvSpPr>
        <p:spPr>
          <a:xfrm>
            <a:off x="5247977" y="3486150"/>
            <a:ext cx="3041452"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50000"/>
                  </a:srgbClr>
                </a:solidFill>
                <a:latin typeface="Inter" pitchFamily="34" charset="0"/>
                <a:ea typeface="Inter" pitchFamily="34" charset="-122"/>
                <a:cs typeface="Inter" pitchFamily="34" charset="-120"/>
              </a:rPr>
              <a:t>Simulated grid frequency response (with/without load shedding)</a:t>
            </a:r>
            <a:endParaRPr lang="en-US" sz="727" dirty="0"/>
          </a:p>
        </p:txBody>
      </p:sp>
      <p:sp>
        <p:nvSpPr>
          <p:cNvPr id="24" name="Text 17"/>
          <p:cNvSpPr/>
          <p:nvPr/>
        </p:nvSpPr>
        <p:spPr>
          <a:xfrm>
            <a:off x="4679156" y="4204097"/>
            <a:ext cx="4179094"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60000"/>
                  </a:srgbClr>
                </a:solidFill>
                <a:latin typeface="Inter" pitchFamily="34" charset="0"/>
                <a:ea typeface="Inter" pitchFamily="34" charset="-122"/>
                <a:cs typeface="Inter" pitchFamily="34" charset="-120"/>
              </a:rPr>
              <a:t>Simulação: Sem Load Shedding (colapso) vs. Com Load Shedding (recuperação).</a:t>
            </a:r>
            <a:endParaRPr lang="en-US" sz="62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F2C94C"/>
                </a:solidFill>
                <a:latin typeface="Montserrat" pitchFamily="34" charset="0"/>
                <a:ea typeface="Montserrat" pitchFamily="34" charset="-122"/>
                <a:cs typeface="Montserrat" pitchFamily="34" charset="-120"/>
              </a:rPr>
              <a:t>Previsão Probabilística vs. Determinística</a:t>
            </a:r>
            <a:endParaRPr lang="en-US" sz="1808" dirty="0"/>
          </a:p>
        </p:txBody>
      </p:sp>
      <p:sp>
        <p:nvSpPr>
          <p:cNvPr id="7" name="Text 3"/>
          <p:cNvSpPr/>
          <p:nvPr/>
        </p:nvSpPr>
        <p:spPr>
          <a:xfrm>
            <a:off x="600075" y="1661703"/>
            <a:ext cx="3757613"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8EDF2"/>
                </a:solidFill>
                <a:latin typeface="Montserrat" pitchFamily="34" charset="0"/>
                <a:ea typeface="Montserrat" pitchFamily="34" charset="-122"/>
                <a:cs typeface="Montserrat" pitchFamily="34" charset="-120"/>
              </a:rPr>
              <a:t>Abordagem Determinística</a:t>
            </a:r>
            <a:endParaRPr lang="en-US" sz="1193" dirty="0"/>
          </a:p>
        </p:txBody>
      </p:sp>
      <p:sp>
        <p:nvSpPr>
          <p:cNvPr id="8" name="Text 4"/>
          <p:cNvSpPr/>
          <p:nvPr/>
        </p:nvSpPr>
        <p:spPr>
          <a:xfrm>
            <a:off x="600075" y="1956383"/>
            <a:ext cx="3757613"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8EDF2">
                    <a:alpha val="80000"/>
                  </a:srgbClr>
                </a:solidFill>
                <a:latin typeface="Inter" pitchFamily="34" charset="0"/>
                <a:ea typeface="Inter" pitchFamily="34" charset="-122"/>
                <a:cs typeface="Inter" pitchFamily="34" charset="-120"/>
              </a:rPr>
              <a:t>Fornece apenas uma estimativa pontual ("single point estimate"). Ignora a incerteza inerente à volatilidade do vento, criando uma falsa sensação de segurança operacional.</a:t>
            </a:r>
            <a:endParaRPr lang="en-US" sz="942" dirty="0"/>
          </a:p>
        </p:txBody>
      </p:sp>
      <p:sp>
        <p:nvSpPr>
          <p:cNvPr id="9" name="Text 5"/>
          <p:cNvSpPr/>
          <p:nvPr/>
        </p:nvSpPr>
        <p:spPr>
          <a:xfrm>
            <a:off x="600075" y="2859286"/>
            <a:ext cx="3757613"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Montserrat" pitchFamily="34" charset="0"/>
                <a:ea typeface="Montserrat" pitchFamily="34" charset="-122"/>
                <a:cs typeface="Montserrat" pitchFamily="34" charset="-120"/>
              </a:rPr>
              <a:t>Abordagem Probabilística</a:t>
            </a:r>
            <a:endParaRPr lang="en-US" sz="1193" dirty="0"/>
          </a:p>
        </p:txBody>
      </p:sp>
      <p:sp>
        <p:nvSpPr>
          <p:cNvPr id="10" name="Text 6"/>
          <p:cNvSpPr/>
          <p:nvPr/>
        </p:nvSpPr>
        <p:spPr>
          <a:xfrm>
            <a:off x="600075" y="3178969"/>
            <a:ext cx="3486150" cy="155377"/>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8EDF2">
                    <a:alpha val="80000"/>
                  </a:srgbClr>
                </a:solidFill>
                <a:latin typeface="Inter" pitchFamily="34" charset="0"/>
                <a:ea typeface="Inter" pitchFamily="34" charset="-122"/>
                <a:cs typeface="Inter" pitchFamily="34" charset="-120"/>
              </a:rPr>
              <a:t>Quantifica a incerteza através de intervalos de confiança,</a:t>
            </a:r>
            <a:endParaRPr lang="en-US" sz="942" dirty="0"/>
          </a:p>
        </p:txBody>
      </p:sp>
      <p:sp>
        <p:nvSpPr>
          <p:cNvPr id="11" name="Text 7"/>
          <p:cNvSpPr/>
          <p:nvPr/>
        </p:nvSpPr>
        <p:spPr>
          <a:xfrm>
            <a:off x="600075" y="3384686"/>
            <a:ext cx="2453878" cy="155377"/>
          </a:xfrm>
          <a:prstGeom prst="rect">
            <a:avLst/>
          </a:prstGeom>
          <a:noFill/>
          <a:ln/>
        </p:spPr>
        <p:txBody>
          <a:bodyPr wrap="none" lIns="0" tIns="0" rIns="0" bIns="0" rtlCol="0" anchor="t">
            <a:spAutoFit/>
          </a:bodyPr>
          <a:lstStyle/>
          <a:p>
            <a:pPr algn="l" indent="0" marL="0">
              <a:lnSpc>
                <a:spcPts val="1600"/>
              </a:lnSpc>
              <a:buNone/>
            </a:pPr>
            <a:r>
              <a:rPr lang="en-US" sz="942" dirty="0">
                <a:solidFill>
                  <a:srgbClr val="E8EDF2">
                    <a:alpha val="80000"/>
                  </a:srgbClr>
                </a:solidFill>
                <a:latin typeface="Inter" pitchFamily="34" charset="0"/>
                <a:ea typeface="Inter" pitchFamily="34" charset="-122"/>
                <a:cs typeface="Inter" pitchFamily="34" charset="-120"/>
              </a:rPr>
              <a:t>permitindo uma gestão de risco robusta.</a:t>
            </a:r>
            <a:endParaRPr lang="en-US" sz="942" dirty="0"/>
          </a:p>
        </p:txBody>
      </p:sp>
      <p:pic>
        <p:nvPicPr>
          <p:cNvPr id="12" name="Image 1" descr="preencoded.png">    </p:cNvPr>
          <p:cNvPicPr>
            <a:picLocks noChangeAspect="1"/>
          </p:cNvPicPr>
          <p:nvPr/>
        </p:nvPicPr>
        <p:blipFill>
          <a:blip r:embed="rId2"/>
          <a:stretch>
            <a:fillRect/>
          </a:stretch>
        </p:blipFill>
        <p:spPr>
          <a:xfrm>
            <a:off x="600075" y="3721112"/>
            <a:ext cx="85725" cy="85725"/>
          </a:xfrm>
          <a:prstGeom prst="rect">
            <a:avLst/>
          </a:prstGeom>
        </p:spPr>
      </p:pic>
      <p:sp>
        <p:nvSpPr>
          <p:cNvPr id="13" name="Text 8"/>
          <p:cNvSpPr/>
          <p:nvPr/>
        </p:nvSpPr>
        <p:spPr>
          <a:xfrm>
            <a:off x="757238" y="3672557"/>
            <a:ext cx="946547"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P10 (Pessimista):</a:t>
            </a:r>
            <a:endParaRPr lang="en-US" sz="784" dirty="0"/>
          </a:p>
        </p:txBody>
      </p:sp>
      <p:sp>
        <p:nvSpPr>
          <p:cNvPr id="14" name="Text 9"/>
          <p:cNvSpPr/>
          <p:nvPr/>
        </p:nvSpPr>
        <p:spPr>
          <a:xfrm>
            <a:off x="1775222" y="3672557"/>
            <a:ext cx="2512814"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Limite inferior de segurança (evitar blackouts).</a:t>
            </a:r>
            <a:endParaRPr lang="en-US" sz="834" dirty="0"/>
          </a:p>
        </p:txBody>
      </p:sp>
      <p:pic>
        <p:nvPicPr>
          <p:cNvPr id="15" name="Image 2" descr="preencoded.png">    </p:cNvPr>
          <p:cNvPicPr>
            <a:picLocks noChangeAspect="1"/>
          </p:cNvPicPr>
          <p:nvPr/>
        </p:nvPicPr>
        <p:blipFill>
          <a:blip r:embed="rId3"/>
          <a:stretch>
            <a:fillRect/>
          </a:stretch>
        </p:blipFill>
        <p:spPr>
          <a:xfrm>
            <a:off x="600075" y="3961126"/>
            <a:ext cx="85725" cy="85725"/>
          </a:xfrm>
          <a:prstGeom prst="rect">
            <a:avLst/>
          </a:prstGeom>
        </p:spPr>
      </p:pic>
      <p:sp>
        <p:nvSpPr>
          <p:cNvPr id="16" name="Text 10"/>
          <p:cNvSpPr/>
          <p:nvPr/>
        </p:nvSpPr>
        <p:spPr>
          <a:xfrm>
            <a:off x="757238" y="3912570"/>
            <a:ext cx="84474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P50 (Mediana):</a:t>
            </a:r>
            <a:endParaRPr lang="en-US" sz="784" dirty="0"/>
          </a:p>
        </p:txBody>
      </p:sp>
      <p:sp>
        <p:nvSpPr>
          <p:cNvPr id="17" name="Text 11"/>
          <p:cNvSpPr/>
          <p:nvPr/>
        </p:nvSpPr>
        <p:spPr>
          <a:xfrm>
            <a:off x="1673423" y="3912570"/>
            <a:ext cx="1680567"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Previsão central mais provável.</a:t>
            </a:r>
            <a:endParaRPr lang="en-US" sz="834" dirty="0"/>
          </a:p>
        </p:txBody>
      </p:sp>
      <p:pic>
        <p:nvPicPr>
          <p:cNvPr id="18" name="Image 3" descr="preencoded.png">    </p:cNvPr>
          <p:cNvPicPr>
            <a:picLocks noChangeAspect="1"/>
          </p:cNvPicPr>
          <p:nvPr/>
        </p:nvPicPr>
        <p:blipFill>
          <a:blip r:embed="rId4"/>
          <a:stretch>
            <a:fillRect/>
          </a:stretch>
        </p:blipFill>
        <p:spPr>
          <a:xfrm>
            <a:off x="600075" y="4201139"/>
            <a:ext cx="85725" cy="85725"/>
          </a:xfrm>
          <a:prstGeom prst="rect">
            <a:avLst/>
          </a:prstGeom>
        </p:spPr>
      </p:pic>
      <p:sp>
        <p:nvSpPr>
          <p:cNvPr id="19" name="Text 12"/>
          <p:cNvSpPr/>
          <p:nvPr/>
        </p:nvSpPr>
        <p:spPr>
          <a:xfrm>
            <a:off x="757238" y="4152584"/>
            <a:ext cx="834033"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P90 (Otimista):</a:t>
            </a:r>
            <a:endParaRPr lang="en-US" sz="784" dirty="0"/>
          </a:p>
        </p:txBody>
      </p:sp>
      <p:sp>
        <p:nvSpPr>
          <p:cNvPr id="20" name="Text 13"/>
          <p:cNvSpPr/>
          <p:nvPr/>
        </p:nvSpPr>
        <p:spPr>
          <a:xfrm>
            <a:off x="1662708" y="4152584"/>
            <a:ext cx="1896666"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Potencial de excedente de energia.</a:t>
            </a:r>
            <a:endParaRPr lang="en-US" sz="834" dirty="0"/>
          </a:p>
        </p:txBody>
      </p:sp>
      <p:sp>
        <p:nvSpPr>
          <p:cNvPr id="21" name="Shape 14"/>
          <p:cNvSpPr/>
          <p:nvPr/>
        </p:nvSpPr>
        <p:spPr>
          <a:xfrm>
            <a:off x="4786313" y="1598414"/>
            <a:ext cx="3929063" cy="2857500"/>
          </a:xfrm>
          <a:prstGeom prst="rect">
            <a:avLst/>
          </a:prstGeom>
          <a:solidFill>
            <a:srgbClr val="F2C94C">
              <a:alpha val="5000"/>
            </a:srgbClr>
          </a:solidFill>
          <a:ln w="18288">
            <a:solidFill>
              <a:srgbClr val="F2C94C">
                <a:alpha val="50000"/>
              </a:srgbClr>
            </a:solidFill>
            <a:prstDash val="dash"/>
          </a:ln>
        </p:spPr>
      </p:sp>
      <p:pic>
        <p:nvPicPr>
          <p:cNvPr id="22" name="Image 4" descr="preencoded.png">    </p:cNvPr>
          <p:cNvPicPr>
            <a:picLocks noChangeAspect="1"/>
          </p:cNvPicPr>
          <p:nvPr/>
        </p:nvPicPr>
        <p:blipFill>
          <a:blip r:embed="rId5">
            <a:alphaModFix amt="80000"/>
          </a:blip>
          <a:stretch>
            <a:fillRect/>
          </a:stretch>
        </p:blipFill>
        <p:spPr>
          <a:xfrm>
            <a:off x="6579394" y="2524423"/>
            <a:ext cx="342900" cy="342900"/>
          </a:xfrm>
          <a:prstGeom prst="rect">
            <a:avLst/>
          </a:prstGeom>
        </p:spPr>
      </p:pic>
      <p:sp>
        <p:nvSpPr>
          <p:cNvPr id="23" name="Text 15"/>
          <p:cNvSpPr/>
          <p:nvPr/>
        </p:nvSpPr>
        <p:spPr>
          <a:xfrm>
            <a:off x="5583734" y="3010198"/>
            <a:ext cx="2334220"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1.4 da Dissertação</a:t>
            </a:r>
            <a:endParaRPr lang="en-US" sz="987" dirty="0"/>
          </a:p>
        </p:txBody>
      </p:sp>
      <p:sp>
        <p:nvSpPr>
          <p:cNvPr id="24" name="Text 16"/>
          <p:cNvSpPr/>
          <p:nvPr/>
        </p:nvSpPr>
        <p:spPr>
          <a:xfrm>
            <a:off x="5072063" y="3254871"/>
            <a:ext cx="3357563" cy="275034"/>
          </a:xfrm>
          <a:prstGeom prst="rect">
            <a:avLst/>
          </a:prstGeom>
          <a:noFill/>
          <a:ln/>
        </p:spPr>
        <p:txBody>
          <a:bodyPr wrap="square" lIns="0" tIns="0" rIns="0" bIns="0" rtlCol="0" anchor="t">
            <a:spAutoFit/>
          </a:bodyPr>
          <a:lstStyle/>
          <a:p>
            <a:pPr algn="ctr" indent="0" marL="0">
              <a:lnSpc>
                <a:spcPts val="1100"/>
              </a:lnSpc>
              <a:buNone/>
            </a:pPr>
            <a:r>
              <a:rPr lang="en-US" sz="834" dirty="0">
                <a:solidFill>
                  <a:srgbClr val="E8EDF2">
                    <a:alpha val="60000"/>
                  </a:srgbClr>
                </a:solidFill>
                <a:latin typeface="Inter" pitchFamily="34" charset="0"/>
                <a:ea typeface="Inter" pitchFamily="34" charset="-122"/>
                <a:cs typeface="Inter" pitchFamily="34" charset="-120"/>
              </a:rPr>
              <a:t>Comparação visual entre previsão determinística (linha) e probabilística (faixas de incerteza)</a:t>
            </a:r>
            <a:endParaRPr lang="en-US" sz="83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523280"/>
          </a:xfrm>
          <a:prstGeom prst="rect">
            <a:avLst/>
          </a:prstGeom>
          <a:solidFill>
            <a:srgbClr val="000000">
              <a:alpha val="0"/>
            </a:srgbClr>
          </a:solidFill>
          <a:ln/>
        </p:spPr>
      </p:sp>
      <p:sp>
        <p:nvSpPr>
          <p:cNvPr id="5" name="Shape 1"/>
          <p:cNvSpPr/>
          <p:nvPr/>
        </p:nvSpPr>
        <p:spPr>
          <a:xfrm>
            <a:off x="428625" y="937617"/>
            <a:ext cx="8286750" cy="14288"/>
          </a:xfrm>
          <a:prstGeom prst="rect">
            <a:avLst/>
          </a:prstGeom>
          <a:solidFill>
            <a:srgbClr val="F2C94C"/>
          </a:solidFill>
          <a:ln/>
        </p:spPr>
      </p:sp>
      <p:sp>
        <p:nvSpPr>
          <p:cNvPr id="6" name="Text 2"/>
          <p:cNvSpPr/>
          <p:nvPr/>
        </p:nvSpPr>
        <p:spPr>
          <a:xfrm>
            <a:off x="428625" y="428625"/>
            <a:ext cx="4848820" cy="366117"/>
          </a:xfrm>
          <a:prstGeom prst="rect">
            <a:avLst/>
          </a:prstGeom>
          <a:noFill/>
          <a:ln/>
        </p:spPr>
        <p:txBody>
          <a:bodyPr wrap="none" lIns="0" tIns="0" rIns="0" bIns="0" rtlCol="0" anchor="t">
            <a:spAutoFit/>
          </a:bodyPr>
          <a:lstStyle/>
          <a:p>
            <a:pPr algn="l" indent="0" marL="0">
              <a:lnSpc>
                <a:spcPts val="2800"/>
              </a:lnSpc>
              <a:buNone/>
            </a:pPr>
            <a:r>
              <a:rPr lang="en-US" sz="2121" b="1" spc="1" kern="0" dirty="0">
                <a:solidFill>
                  <a:srgbClr val="F2C94C"/>
                </a:solidFill>
                <a:latin typeface="Montserrat" pitchFamily="34" charset="0"/>
                <a:ea typeface="Montserrat" pitchFamily="34" charset="-122"/>
                <a:cs typeface="Montserrat" pitchFamily="34" charset="-120"/>
              </a:rPr>
              <a:t>OBJETIVOS DA DISSERTAÇÃO</a:t>
            </a:r>
            <a:endParaRPr lang="en-US" sz="2121" dirty="0"/>
          </a:p>
        </p:txBody>
      </p:sp>
      <p:sp>
        <p:nvSpPr>
          <p:cNvPr id="7" name="Text 3"/>
          <p:cNvSpPr/>
          <p:nvPr/>
        </p:nvSpPr>
        <p:spPr>
          <a:xfrm>
            <a:off x="8486775" y="585788"/>
            <a:ext cx="228600" cy="208955"/>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F2C94C">
                    <a:alpha val="50000"/>
                  </a:srgbClr>
                </a:solidFill>
                <a:latin typeface="Montserrat" pitchFamily="34" charset="0"/>
                <a:ea typeface="Montserrat" pitchFamily="34" charset="-122"/>
                <a:cs typeface="Montserrat" pitchFamily="34" charset="-120"/>
              </a:rPr>
              <a:t>08</a:t>
            </a:r>
            <a:endParaRPr lang="en-US" sz="1269" dirty="0"/>
          </a:p>
        </p:txBody>
      </p:sp>
      <p:sp>
        <p:nvSpPr>
          <p:cNvPr id="8" name="Shape 4"/>
          <p:cNvSpPr/>
          <p:nvPr/>
        </p:nvSpPr>
        <p:spPr>
          <a:xfrm>
            <a:off x="428625" y="1294805"/>
            <a:ext cx="8286750" cy="1401570"/>
          </a:xfrm>
          <a:prstGeom prst="rect">
            <a:avLst/>
          </a:prstGeom>
          <a:solidFill>
            <a:srgbClr val="1A4B6E">
              <a:alpha val="30000"/>
            </a:srgbClr>
          </a:solidFill>
          <a:ln/>
        </p:spPr>
      </p:sp>
      <p:sp>
        <p:nvSpPr>
          <p:cNvPr id="9" name="Shape 5"/>
          <p:cNvSpPr/>
          <p:nvPr/>
        </p:nvSpPr>
        <p:spPr>
          <a:xfrm>
            <a:off x="428625" y="1294805"/>
            <a:ext cx="42863" cy="1401570"/>
          </a:xfrm>
          <a:prstGeom prst="rect">
            <a:avLst/>
          </a:prstGeom>
          <a:solidFill>
            <a:srgbClr val="F2C94C"/>
          </a:solidFill>
          <a:ln/>
        </p:spPr>
      </p:sp>
      <p:sp>
        <p:nvSpPr>
          <p:cNvPr id="10" name="Text 6"/>
          <p:cNvSpPr/>
          <p:nvPr/>
        </p:nvSpPr>
        <p:spPr>
          <a:xfrm>
            <a:off x="642938" y="1509117"/>
            <a:ext cx="7858125" cy="121444"/>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F2C94C"/>
                </a:solidFill>
                <a:latin typeface="Montserrat" pitchFamily="34" charset="0"/>
                <a:ea typeface="Montserrat" pitchFamily="34" charset="-122"/>
                <a:cs typeface="Montserrat" pitchFamily="34" charset="-120"/>
              </a:rPr>
              <a:t>OBJETIVO GERAL</a:t>
            </a:r>
            <a:endParaRPr lang="en-US" sz="683" dirty="0"/>
          </a:p>
        </p:txBody>
      </p:sp>
      <p:sp>
        <p:nvSpPr>
          <p:cNvPr id="11" name="Text 7"/>
          <p:cNvSpPr/>
          <p:nvPr/>
        </p:nvSpPr>
        <p:spPr>
          <a:xfrm>
            <a:off x="642938" y="1701998"/>
            <a:ext cx="7858125" cy="780064"/>
          </a:xfrm>
          <a:prstGeom prst="rect">
            <a:avLst/>
          </a:prstGeom>
          <a:noFill/>
          <a:ln/>
        </p:spPr>
        <p:txBody>
          <a:bodyPr wrap="square" lIns="0" tIns="0" rIns="0" bIns="0" rtlCol="0" anchor="t">
            <a:spAutoFit/>
          </a:bodyPr>
          <a:lstStyle/>
          <a:p>
            <a:pPr algn="l" indent="0" marL="0">
              <a:lnSpc>
                <a:spcPts val="2000"/>
              </a:lnSpc>
              <a:buNone/>
            </a:pPr>
            <a:r>
              <a:rPr lang="en-US" sz="1397" b="1" dirty="0">
                <a:solidFill>
                  <a:srgbClr val="FFFFFF"/>
                </a:solidFill>
                <a:latin typeface="Montserrat" pitchFamily="34" charset="0"/>
                <a:ea typeface="Montserrat" pitchFamily="34" charset="-122"/>
                <a:cs typeface="Montserrat" pitchFamily="34" charset="-120"/>
              </a:rPr>
              <a:t>Desenvolver um framework de Deep Learning para previsão probabilística multi-horizonte de potência eólica e suporte à decisão no gerenciamento de potência de FPSOs.</a:t>
            </a:r>
            <a:endParaRPr lang="en-US" sz="1397" dirty="0"/>
          </a:p>
        </p:txBody>
      </p:sp>
      <p:sp>
        <p:nvSpPr>
          <p:cNvPr id="12" name="Shape 8"/>
          <p:cNvSpPr/>
          <p:nvPr/>
        </p:nvSpPr>
        <p:spPr>
          <a:xfrm>
            <a:off x="428625" y="3053562"/>
            <a:ext cx="285750" cy="285750"/>
          </a:xfrm>
          <a:prstGeom prst="rect">
            <a:avLst/>
          </a:prstGeom>
          <a:solidFill>
            <a:srgbClr val="001D33"/>
          </a:solidFill>
          <a:ln w="9144">
            <a:solidFill>
              <a:srgbClr val="F2C94C"/>
            </a:solidFill>
            <a:prstDash val="solid"/>
          </a:ln>
        </p:spPr>
      </p:sp>
      <p:pic>
        <p:nvPicPr>
          <p:cNvPr id="13" name="Image 1" descr="preencoded.png">    </p:cNvPr>
          <p:cNvPicPr>
            <a:picLocks noChangeAspect="1"/>
          </p:cNvPicPr>
          <p:nvPr/>
        </p:nvPicPr>
        <p:blipFill>
          <a:blip r:embed="rId2"/>
          <a:stretch>
            <a:fillRect/>
          </a:stretch>
        </p:blipFill>
        <p:spPr>
          <a:xfrm>
            <a:off x="507206" y="3132144"/>
            <a:ext cx="128588" cy="128588"/>
          </a:xfrm>
          <a:prstGeom prst="rect">
            <a:avLst/>
          </a:prstGeom>
        </p:spPr>
      </p:pic>
      <p:sp>
        <p:nvSpPr>
          <p:cNvPr id="14" name="Text 9"/>
          <p:cNvSpPr/>
          <p:nvPr/>
        </p:nvSpPr>
        <p:spPr>
          <a:xfrm>
            <a:off x="821531" y="3089281"/>
            <a:ext cx="36433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Modelagem Preditiva</a:t>
            </a:r>
            <a:endParaRPr lang="en-US" sz="885" dirty="0"/>
          </a:p>
        </p:txBody>
      </p:sp>
      <p:sp>
        <p:nvSpPr>
          <p:cNvPr id="15" name="Text 10"/>
          <p:cNvSpPr/>
          <p:nvPr/>
        </p:nvSpPr>
        <p:spPr>
          <a:xfrm>
            <a:off x="821531" y="3282162"/>
            <a:ext cx="364331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8EDF2">
                    <a:alpha val="80000"/>
                  </a:srgbClr>
                </a:solidFill>
                <a:latin typeface="Inter" pitchFamily="34" charset="0"/>
                <a:ea typeface="Inter" pitchFamily="34" charset="-122"/>
                <a:cs typeface="Inter" pitchFamily="34" charset="-120"/>
              </a:rPr>
              <a:t>Avaliar modelos de Deep Learning e propor uma arquitetura híbrida baseada em decomposição de sinais (CEEMDAN-EWT).</a:t>
            </a:r>
            <a:endParaRPr lang="en-US" sz="834" dirty="0"/>
          </a:p>
        </p:txBody>
      </p:sp>
      <p:sp>
        <p:nvSpPr>
          <p:cNvPr id="16" name="Shape 11"/>
          <p:cNvSpPr/>
          <p:nvPr/>
        </p:nvSpPr>
        <p:spPr>
          <a:xfrm>
            <a:off x="4679156" y="3053562"/>
            <a:ext cx="285750" cy="285750"/>
          </a:xfrm>
          <a:prstGeom prst="rect">
            <a:avLst/>
          </a:prstGeom>
          <a:solidFill>
            <a:srgbClr val="001D33"/>
          </a:solidFill>
          <a:ln w="9144">
            <a:solidFill>
              <a:srgbClr val="F2C94C"/>
            </a:solidFill>
            <a:prstDash val="solid"/>
          </a:ln>
        </p:spPr>
      </p:sp>
      <p:pic>
        <p:nvPicPr>
          <p:cNvPr id="17" name="Image 2" descr="preencoded.png">    </p:cNvPr>
          <p:cNvPicPr>
            <a:picLocks noChangeAspect="1"/>
          </p:cNvPicPr>
          <p:nvPr/>
        </p:nvPicPr>
        <p:blipFill>
          <a:blip r:embed="rId3"/>
          <a:stretch>
            <a:fillRect/>
          </a:stretch>
        </p:blipFill>
        <p:spPr>
          <a:xfrm>
            <a:off x="4757738" y="3132144"/>
            <a:ext cx="128588" cy="128588"/>
          </a:xfrm>
          <a:prstGeom prst="rect">
            <a:avLst/>
          </a:prstGeom>
        </p:spPr>
      </p:pic>
      <p:sp>
        <p:nvSpPr>
          <p:cNvPr id="18" name="Text 12"/>
          <p:cNvSpPr/>
          <p:nvPr/>
        </p:nvSpPr>
        <p:spPr>
          <a:xfrm>
            <a:off x="5072063" y="3089281"/>
            <a:ext cx="36433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Gestão de Risco</a:t>
            </a:r>
            <a:endParaRPr lang="en-US" sz="885" dirty="0"/>
          </a:p>
        </p:txBody>
      </p:sp>
      <p:sp>
        <p:nvSpPr>
          <p:cNvPr id="19" name="Text 13"/>
          <p:cNvSpPr/>
          <p:nvPr/>
        </p:nvSpPr>
        <p:spPr>
          <a:xfrm>
            <a:off x="5072063" y="3282162"/>
            <a:ext cx="364331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8EDF2">
                    <a:alpha val="80000"/>
                  </a:srgbClr>
                </a:solidFill>
                <a:latin typeface="Inter" pitchFamily="34" charset="0"/>
                <a:ea typeface="Inter" pitchFamily="34" charset="-122"/>
                <a:cs typeface="Inter" pitchFamily="34" charset="-120"/>
              </a:rPr>
              <a:t>Criar um Índice de Risco Operacional (ORI) para traduzir previsões probabilísticas em ações concretas de despacho.</a:t>
            </a:r>
            <a:endParaRPr lang="en-US" sz="834" dirty="0"/>
          </a:p>
        </p:txBody>
      </p:sp>
      <p:sp>
        <p:nvSpPr>
          <p:cNvPr id="20" name="Shape 14"/>
          <p:cNvSpPr/>
          <p:nvPr/>
        </p:nvSpPr>
        <p:spPr>
          <a:xfrm>
            <a:off x="428625" y="3816493"/>
            <a:ext cx="285750" cy="285750"/>
          </a:xfrm>
          <a:prstGeom prst="rect">
            <a:avLst/>
          </a:prstGeom>
          <a:solidFill>
            <a:srgbClr val="001D33"/>
          </a:solidFill>
          <a:ln w="9144">
            <a:solidFill>
              <a:srgbClr val="F2C94C"/>
            </a:solidFill>
            <a:prstDash val="solid"/>
          </a:ln>
        </p:spPr>
      </p:sp>
      <p:pic>
        <p:nvPicPr>
          <p:cNvPr id="21" name="Image 3" descr="preencoded.png">    </p:cNvPr>
          <p:cNvPicPr>
            <a:picLocks noChangeAspect="1"/>
          </p:cNvPicPr>
          <p:nvPr/>
        </p:nvPicPr>
        <p:blipFill>
          <a:blip r:embed="rId4"/>
          <a:stretch>
            <a:fillRect/>
          </a:stretch>
        </p:blipFill>
        <p:spPr>
          <a:xfrm>
            <a:off x="499170" y="3895074"/>
            <a:ext cx="144661" cy="128588"/>
          </a:xfrm>
          <a:prstGeom prst="rect">
            <a:avLst/>
          </a:prstGeom>
        </p:spPr>
      </p:pic>
      <p:sp>
        <p:nvSpPr>
          <p:cNvPr id="22" name="Text 15"/>
          <p:cNvSpPr/>
          <p:nvPr/>
        </p:nvSpPr>
        <p:spPr>
          <a:xfrm>
            <a:off x="821531" y="3852211"/>
            <a:ext cx="36433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Ferramenta de Decisão</a:t>
            </a:r>
            <a:endParaRPr lang="en-US" sz="885" dirty="0"/>
          </a:p>
        </p:txBody>
      </p:sp>
      <p:sp>
        <p:nvSpPr>
          <p:cNvPr id="23" name="Text 16"/>
          <p:cNvSpPr/>
          <p:nvPr/>
        </p:nvSpPr>
        <p:spPr>
          <a:xfrm>
            <a:off x="821531" y="4045093"/>
            <a:ext cx="364331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8EDF2">
                    <a:alpha val="80000"/>
                  </a:srgbClr>
                </a:solidFill>
                <a:latin typeface="Inter" pitchFamily="34" charset="0"/>
                <a:ea typeface="Inter" pitchFamily="34" charset="-122"/>
                <a:cs typeface="Inter" pitchFamily="34" charset="-120"/>
              </a:rPr>
              <a:t>Desenvolver um Dashboard interativo para análise tecno-econômica e simulação de estratégias operacionais.</a:t>
            </a:r>
            <a:endParaRPr lang="en-US" sz="834" dirty="0"/>
          </a:p>
        </p:txBody>
      </p:sp>
      <p:sp>
        <p:nvSpPr>
          <p:cNvPr id="24" name="Shape 17"/>
          <p:cNvSpPr/>
          <p:nvPr/>
        </p:nvSpPr>
        <p:spPr>
          <a:xfrm>
            <a:off x="4679156" y="3816493"/>
            <a:ext cx="285750" cy="285750"/>
          </a:xfrm>
          <a:prstGeom prst="rect">
            <a:avLst/>
          </a:prstGeom>
          <a:solidFill>
            <a:srgbClr val="001D33"/>
          </a:solidFill>
          <a:ln w="9144">
            <a:solidFill>
              <a:srgbClr val="F2C94C"/>
            </a:solidFill>
            <a:prstDash val="solid"/>
          </a:ln>
        </p:spPr>
      </p:sp>
      <p:pic>
        <p:nvPicPr>
          <p:cNvPr id="25" name="Image 4" descr="preencoded.png">    </p:cNvPr>
          <p:cNvPicPr>
            <a:picLocks noChangeAspect="1"/>
          </p:cNvPicPr>
          <p:nvPr/>
        </p:nvPicPr>
        <p:blipFill>
          <a:blip r:embed="rId5"/>
          <a:stretch>
            <a:fillRect/>
          </a:stretch>
        </p:blipFill>
        <p:spPr>
          <a:xfrm>
            <a:off x="4741664" y="3895074"/>
            <a:ext cx="160734" cy="128588"/>
          </a:xfrm>
          <a:prstGeom prst="rect">
            <a:avLst/>
          </a:prstGeom>
        </p:spPr>
      </p:pic>
      <p:sp>
        <p:nvSpPr>
          <p:cNvPr id="26" name="Text 18"/>
          <p:cNvSpPr/>
          <p:nvPr/>
        </p:nvSpPr>
        <p:spPr>
          <a:xfrm>
            <a:off x="5072063" y="3852211"/>
            <a:ext cx="36433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Inteligência Operacional</a:t>
            </a:r>
            <a:endParaRPr lang="en-US" sz="885" dirty="0"/>
          </a:p>
        </p:txBody>
      </p:sp>
      <p:sp>
        <p:nvSpPr>
          <p:cNvPr id="27" name="Text 19"/>
          <p:cNvSpPr/>
          <p:nvPr/>
        </p:nvSpPr>
        <p:spPr>
          <a:xfrm>
            <a:off x="5072063" y="4045093"/>
            <a:ext cx="3643313"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E8EDF2">
                    <a:alpha val="80000"/>
                  </a:srgbClr>
                </a:solidFill>
                <a:latin typeface="Inter" pitchFamily="34" charset="0"/>
                <a:ea typeface="Inter" pitchFamily="34" charset="-122"/>
                <a:cs typeface="Inter" pitchFamily="34" charset="-120"/>
              </a:rPr>
              <a:t>Integrar assistentes baseados em LLM (RAG) para fornecer suporte contextual e automatizado ao operador.</a:t>
            </a:r>
            <a:endParaRPr lang="en-US" sz="8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523280"/>
          </a:xfrm>
          <a:prstGeom prst="rect">
            <a:avLst/>
          </a:prstGeom>
          <a:solidFill>
            <a:srgbClr val="000000">
              <a:alpha val="0"/>
            </a:srgbClr>
          </a:solidFill>
          <a:ln/>
        </p:spPr>
      </p:sp>
      <p:sp>
        <p:nvSpPr>
          <p:cNvPr id="5" name="Shape 1"/>
          <p:cNvSpPr/>
          <p:nvPr/>
        </p:nvSpPr>
        <p:spPr>
          <a:xfrm>
            <a:off x="428625" y="937617"/>
            <a:ext cx="8286750" cy="14288"/>
          </a:xfrm>
          <a:prstGeom prst="rect">
            <a:avLst/>
          </a:prstGeom>
          <a:solidFill>
            <a:srgbClr val="F2C94C"/>
          </a:solidFill>
          <a:ln/>
        </p:spPr>
      </p:sp>
      <p:sp>
        <p:nvSpPr>
          <p:cNvPr id="6" name="Text 2"/>
          <p:cNvSpPr/>
          <p:nvPr/>
        </p:nvSpPr>
        <p:spPr>
          <a:xfrm>
            <a:off x="428625" y="428625"/>
            <a:ext cx="4704159" cy="366117"/>
          </a:xfrm>
          <a:prstGeom prst="rect">
            <a:avLst/>
          </a:prstGeom>
          <a:noFill/>
          <a:ln/>
        </p:spPr>
        <p:txBody>
          <a:bodyPr wrap="none" lIns="0" tIns="0" rIns="0" bIns="0" rtlCol="0" anchor="t">
            <a:spAutoFit/>
          </a:bodyPr>
          <a:lstStyle/>
          <a:p>
            <a:pPr algn="l" indent="0" marL="0">
              <a:lnSpc>
                <a:spcPts val="2800"/>
              </a:lnSpc>
              <a:buNone/>
            </a:pPr>
            <a:r>
              <a:rPr lang="en-US" sz="2121" b="1" spc="1" kern="0" dirty="0">
                <a:solidFill>
                  <a:srgbClr val="F2C94C"/>
                </a:solidFill>
                <a:latin typeface="Montserrat" pitchFamily="34" charset="0"/>
                <a:ea typeface="Montserrat" pitchFamily="34" charset="-122"/>
                <a:cs typeface="Montserrat" pitchFamily="34" charset="-120"/>
              </a:rPr>
              <a:t>CONTRIBUIÇÕES PRINCIPAIS</a:t>
            </a:r>
            <a:endParaRPr lang="en-US" sz="2121" dirty="0"/>
          </a:p>
        </p:txBody>
      </p:sp>
      <p:sp>
        <p:nvSpPr>
          <p:cNvPr id="7" name="Text 3"/>
          <p:cNvSpPr/>
          <p:nvPr/>
        </p:nvSpPr>
        <p:spPr>
          <a:xfrm>
            <a:off x="8492133" y="585788"/>
            <a:ext cx="223242" cy="208955"/>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F2C94C">
                    <a:alpha val="50000"/>
                  </a:srgbClr>
                </a:solidFill>
                <a:latin typeface="Montserrat" pitchFamily="34" charset="0"/>
                <a:ea typeface="Montserrat" pitchFamily="34" charset="-122"/>
                <a:cs typeface="Montserrat" pitchFamily="34" charset="-120"/>
              </a:rPr>
              <a:t>09</a:t>
            </a:r>
            <a:endParaRPr lang="en-US" sz="1269" dirty="0"/>
          </a:p>
        </p:txBody>
      </p:sp>
      <p:sp>
        <p:nvSpPr>
          <p:cNvPr id="8" name="Text 4"/>
          <p:cNvSpPr/>
          <p:nvPr/>
        </p:nvSpPr>
        <p:spPr>
          <a:xfrm>
            <a:off x="2212777" y="1223367"/>
            <a:ext cx="494705" cy="457200"/>
          </a:xfrm>
          <a:prstGeom prst="rect">
            <a:avLst/>
          </a:prstGeom>
          <a:noFill/>
          <a:ln/>
        </p:spPr>
        <p:txBody>
          <a:bodyPr wrap="none" lIns="0" tIns="0" rIns="0" bIns="0" rtlCol="0" anchor="t">
            <a:spAutoFit/>
          </a:bodyPr>
          <a:lstStyle/>
          <a:p>
            <a:pPr algn="l" indent="0" marL="0">
              <a:lnSpc>
                <a:spcPts val="3600"/>
              </a:lnSpc>
              <a:buNone/>
            </a:pPr>
            <a:r>
              <a:rPr lang="en-US" sz="3294" b="1" dirty="0">
                <a:solidFill>
                  <a:srgbClr val="FFFFFF">
                    <a:alpha val="5000"/>
                  </a:srgbClr>
                </a:solidFill>
                <a:latin typeface="Montserrat" pitchFamily="34" charset="0"/>
                <a:ea typeface="Montserrat" pitchFamily="34" charset="-122"/>
                <a:cs typeface="Montserrat" pitchFamily="34" charset="-120"/>
              </a:rPr>
              <a:t>01</a:t>
            </a:r>
            <a:endParaRPr lang="en-US" sz="3294" dirty="0"/>
          </a:p>
        </p:txBody>
      </p:sp>
      <p:sp>
        <p:nvSpPr>
          <p:cNvPr id="9" name="Shape 5"/>
          <p:cNvSpPr/>
          <p:nvPr/>
        </p:nvSpPr>
        <p:spPr>
          <a:xfrm>
            <a:off x="428625" y="1366242"/>
            <a:ext cx="571500" cy="571500"/>
          </a:xfrm>
          <a:prstGeom prst="rect">
            <a:avLst/>
          </a:prstGeom>
          <a:solidFill>
            <a:srgbClr val="1A4B6E">
              <a:alpha val="30000"/>
            </a:srgbClr>
          </a:solidFill>
          <a:ln w="18288">
            <a:solidFill>
              <a:srgbClr val="F2C94C"/>
            </a:solidFill>
            <a:prstDash val="solid"/>
          </a:ln>
        </p:spPr>
      </p:sp>
      <p:pic>
        <p:nvPicPr>
          <p:cNvPr id="10" name="Image 1" descr="preencoded.png">    </p:cNvPr>
          <p:cNvPicPr>
            <a:picLocks noChangeAspect="1"/>
          </p:cNvPicPr>
          <p:nvPr/>
        </p:nvPicPr>
        <p:blipFill>
          <a:blip r:embed="rId2"/>
          <a:stretch>
            <a:fillRect/>
          </a:stretch>
        </p:blipFill>
        <p:spPr>
          <a:xfrm>
            <a:off x="553641" y="1523405"/>
            <a:ext cx="321469" cy="257175"/>
          </a:xfrm>
          <a:prstGeom prst="rect">
            <a:avLst/>
          </a:prstGeom>
        </p:spPr>
      </p:pic>
      <p:sp>
        <p:nvSpPr>
          <p:cNvPr id="11" name="Text 6"/>
          <p:cNvSpPr/>
          <p:nvPr/>
        </p:nvSpPr>
        <p:spPr>
          <a:xfrm>
            <a:off x="428625" y="2152055"/>
            <a:ext cx="2278856" cy="457200"/>
          </a:xfrm>
          <a:prstGeom prst="rect">
            <a:avLst/>
          </a:prstGeom>
          <a:noFill/>
          <a:ln/>
        </p:spPr>
        <p:txBody>
          <a:bodyPr wrap="square" lIns="0" tIns="0" rIns="0" bIns="0" rtlCol="0" anchor="t">
            <a:spAutoFit/>
          </a:bodyPr>
          <a:lstStyle/>
          <a:p>
            <a:pPr algn="l" indent="0" marL="0">
              <a:lnSpc>
                <a:spcPts val="1800"/>
              </a:lnSpc>
              <a:buNone/>
            </a:pPr>
            <a:r>
              <a:rPr lang="en-US" sz="1193" b="1" dirty="0">
                <a:solidFill>
                  <a:srgbClr val="E8EDF2"/>
                </a:solidFill>
                <a:latin typeface="Montserrat" pitchFamily="34" charset="0"/>
                <a:ea typeface="Montserrat" pitchFamily="34" charset="-122"/>
                <a:cs typeface="Montserrat" pitchFamily="34" charset="-120"/>
              </a:rPr>
              <a:t>Nova Arquitetura Híbrida</a:t>
            </a:r>
            <a:endParaRPr lang="en-US" sz="1193" dirty="0"/>
          </a:p>
        </p:txBody>
      </p:sp>
      <p:sp>
        <p:nvSpPr>
          <p:cNvPr id="12" name="Text 7"/>
          <p:cNvSpPr/>
          <p:nvPr/>
        </p:nvSpPr>
        <p:spPr>
          <a:xfrm>
            <a:off x="428625" y="2752130"/>
            <a:ext cx="2278856" cy="109718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Desenvolvimento do </a:t>
            </a:r>
            <a:pPr algn="l" indent="0" marL="0">
              <a:lnSpc>
                <a:spcPts val="1400"/>
              </a:lnSpc>
              <a:buNone/>
            </a:pPr>
            <a:r>
              <a:rPr lang="en-US" sz="784" b="1" dirty="0">
                <a:solidFill>
                  <a:srgbClr val="F2C94C"/>
                </a:solidFill>
                <a:latin typeface="Inter" pitchFamily="34" charset="0"/>
                <a:ea typeface="Inter" pitchFamily="34" charset="-122"/>
                <a:cs typeface="Inter" pitchFamily="34" charset="-120"/>
              </a:rPr>
              <a:t>CEEMDAN-EWT-TFT </a:t>
            </a:r>
            <a:pPr algn="l" indent="0" marL="0">
              <a:lnSpc>
                <a:spcPts val="1400"/>
              </a:lnSpc>
              <a:buNone/>
            </a:pPr>
            <a:r>
              <a:rPr lang="en-US" sz="784" b="1" dirty="0">
                <a:solidFill>
                  <a:srgbClr val="F2C94C"/>
                </a:solidFill>
                <a:latin typeface="Inter" pitchFamily="34" charset="0"/>
                <a:ea typeface="Inter" pitchFamily="34" charset="-122"/>
                <a:cs typeface="Inter" pitchFamily="34" charset="-120"/>
              </a:rPr>
              <a:t>Aggregator</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Um modelo que reformula a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decomposição de sinais como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engenharia de features, superando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benchmarks em precisão (1.79% MAPE) e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eficiência computacional.</a:t>
            </a:r>
            <a:endParaRPr lang="en-US" sz="834" dirty="0"/>
          </a:p>
        </p:txBody>
      </p:sp>
      <p:sp>
        <p:nvSpPr>
          <p:cNvPr id="13" name="Text 8"/>
          <p:cNvSpPr/>
          <p:nvPr/>
        </p:nvSpPr>
        <p:spPr>
          <a:xfrm>
            <a:off x="4982766" y="1223367"/>
            <a:ext cx="582216" cy="457200"/>
          </a:xfrm>
          <a:prstGeom prst="rect">
            <a:avLst/>
          </a:prstGeom>
          <a:noFill/>
          <a:ln/>
        </p:spPr>
        <p:txBody>
          <a:bodyPr wrap="none" lIns="0" tIns="0" rIns="0" bIns="0" rtlCol="0" anchor="t">
            <a:spAutoFit/>
          </a:bodyPr>
          <a:lstStyle/>
          <a:p>
            <a:pPr algn="l" indent="0" marL="0">
              <a:lnSpc>
                <a:spcPts val="3600"/>
              </a:lnSpc>
              <a:buNone/>
            </a:pPr>
            <a:r>
              <a:rPr lang="en-US" sz="3294" b="1" dirty="0">
                <a:solidFill>
                  <a:srgbClr val="FFFFFF">
                    <a:alpha val="5000"/>
                  </a:srgbClr>
                </a:solidFill>
                <a:latin typeface="Montserrat" pitchFamily="34" charset="0"/>
                <a:ea typeface="Montserrat" pitchFamily="34" charset="-122"/>
                <a:cs typeface="Montserrat" pitchFamily="34" charset="-120"/>
              </a:rPr>
              <a:t>02</a:t>
            </a:r>
            <a:endParaRPr lang="en-US" sz="3294" dirty="0"/>
          </a:p>
        </p:txBody>
      </p:sp>
      <p:sp>
        <p:nvSpPr>
          <p:cNvPr id="14" name="Shape 9"/>
          <p:cNvSpPr/>
          <p:nvPr/>
        </p:nvSpPr>
        <p:spPr>
          <a:xfrm>
            <a:off x="3286125" y="1366242"/>
            <a:ext cx="571500" cy="571500"/>
          </a:xfrm>
          <a:prstGeom prst="rect">
            <a:avLst/>
          </a:prstGeom>
          <a:solidFill>
            <a:srgbClr val="1A4B6E">
              <a:alpha val="30000"/>
            </a:srgbClr>
          </a:solidFill>
          <a:ln w="18288">
            <a:solidFill>
              <a:srgbClr val="F2C94C"/>
            </a:solidFill>
            <a:prstDash val="solid"/>
          </a:ln>
        </p:spPr>
      </p:sp>
      <p:pic>
        <p:nvPicPr>
          <p:cNvPr id="15" name="Image 2" descr="preencoded.png">    </p:cNvPr>
          <p:cNvPicPr>
            <a:picLocks noChangeAspect="1"/>
          </p:cNvPicPr>
          <p:nvPr/>
        </p:nvPicPr>
        <p:blipFill>
          <a:blip r:embed="rId3"/>
          <a:stretch>
            <a:fillRect/>
          </a:stretch>
        </p:blipFill>
        <p:spPr>
          <a:xfrm>
            <a:off x="3427214" y="1523405"/>
            <a:ext cx="289322" cy="257175"/>
          </a:xfrm>
          <a:prstGeom prst="rect">
            <a:avLst/>
          </a:prstGeom>
        </p:spPr>
      </p:pic>
      <p:sp>
        <p:nvSpPr>
          <p:cNvPr id="16" name="Text 10"/>
          <p:cNvSpPr/>
          <p:nvPr/>
        </p:nvSpPr>
        <p:spPr>
          <a:xfrm>
            <a:off x="3286125" y="2152055"/>
            <a:ext cx="2278856" cy="457200"/>
          </a:xfrm>
          <a:prstGeom prst="rect">
            <a:avLst/>
          </a:prstGeom>
          <a:noFill/>
          <a:ln/>
        </p:spPr>
        <p:txBody>
          <a:bodyPr wrap="square" lIns="0" tIns="0" rIns="0" bIns="0" rtlCol="0" anchor="t">
            <a:spAutoFit/>
          </a:bodyPr>
          <a:lstStyle/>
          <a:p>
            <a:pPr algn="l" indent="0" marL="0">
              <a:lnSpc>
                <a:spcPts val="1800"/>
              </a:lnSpc>
              <a:buNone/>
            </a:pPr>
            <a:r>
              <a:rPr lang="en-US" sz="1193" b="1" dirty="0">
                <a:solidFill>
                  <a:srgbClr val="E8EDF2"/>
                </a:solidFill>
                <a:latin typeface="Montserrat" pitchFamily="34" charset="0"/>
                <a:ea typeface="Montserrat" pitchFamily="34" charset="-122"/>
                <a:cs typeface="Montserrat" pitchFamily="34" charset="-120"/>
              </a:rPr>
              <a:t>Sistema de Suporte à Decisão</a:t>
            </a:r>
            <a:endParaRPr lang="en-US" sz="1193" dirty="0"/>
          </a:p>
        </p:txBody>
      </p:sp>
      <p:sp>
        <p:nvSpPr>
          <p:cNvPr id="17" name="Text 11"/>
          <p:cNvSpPr/>
          <p:nvPr/>
        </p:nvSpPr>
        <p:spPr>
          <a:xfrm>
            <a:off x="3286125" y="2752130"/>
            <a:ext cx="2278856" cy="914316"/>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Criação de um Dashboard completo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integrando o </a:t>
            </a:r>
            <a:pPr algn="l" indent="0" marL="0">
              <a:lnSpc>
                <a:spcPts val="1400"/>
              </a:lnSpc>
              <a:buNone/>
            </a:pPr>
            <a:r>
              <a:rPr lang="en-US" sz="784" b="1" dirty="0">
                <a:solidFill>
                  <a:srgbClr val="F2C94C"/>
                </a:solidFill>
                <a:latin typeface="Inter" pitchFamily="34" charset="0"/>
                <a:ea typeface="Inter" pitchFamily="34" charset="-122"/>
                <a:cs typeface="Inter" pitchFamily="34" charset="-120"/>
              </a:rPr>
              <a:t>Índice de Risco Operacional </a:t>
            </a:r>
            <a:pPr algn="l" indent="0" marL="0">
              <a:lnSpc>
                <a:spcPts val="1400"/>
              </a:lnSpc>
              <a:buNone/>
            </a:pPr>
            <a:r>
              <a:rPr lang="en-US" sz="784" b="1" dirty="0">
                <a:solidFill>
                  <a:srgbClr val="F2C94C"/>
                </a:solidFill>
                <a:latin typeface="Inter" pitchFamily="34" charset="0"/>
                <a:ea typeface="Inter" pitchFamily="34" charset="-122"/>
                <a:cs typeface="Inter" pitchFamily="34" charset="-120"/>
              </a:rPr>
              <a:t>(ORI)</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e módulos de análise tecno-</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econômica, traduzindo previsões em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valor financeiro e segurança.</a:t>
            </a:r>
            <a:endParaRPr lang="en-US" sz="834" dirty="0"/>
          </a:p>
        </p:txBody>
      </p:sp>
      <p:sp>
        <p:nvSpPr>
          <p:cNvPr id="18" name="Text 12"/>
          <p:cNvSpPr/>
          <p:nvPr/>
        </p:nvSpPr>
        <p:spPr>
          <a:xfrm>
            <a:off x="7847409" y="1223367"/>
            <a:ext cx="582216" cy="457200"/>
          </a:xfrm>
          <a:prstGeom prst="rect">
            <a:avLst/>
          </a:prstGeom>
          <a:noFill/>
          <a:ln/>
        </p:spPr>
        <p:txBody>
          <a:bodyPr wrap="none" lIns="0" tIns="0" rIns="0" bIns="0" rtlCol="0" anchor="t">
            <a:spAutoFit/>
          </a:bodyPr>
          <a:lstStyle/>
          <a:p>
            <a:pPr algn="l" indent="0" marL="0">
              <a:lnSpc>
                <a:spcPts val="3600"/>
              </a:lnSpc>
              <a:buNone/>
            </a:pPr>
            <a:r>
              <a:rPr lang="en-US" sz="3294" b="1" dirty="0">
                <a:solidFill>
                  <a:srgbClr val="FFFFFF">
                    <a:alpha val="5000"/>
                  </a:srgbClr>
                </a:solidFill>
                <a:latin typeface="Montserrat" pitchFamily="34" charset="0"/>
                <a:ea typeface="Montserrat" pitchFamily="34" charset="-122"/>
                <a:cs typeface="Montserrat" pitchFamily="34" charset="-120"/>
              </a:rPr>
              <a:t>03</a:t>
            </a:r>
            <a:endParaRPr lang="en-US" sz="3294" dirty="0"/>
          </a:p>
        </p:txBody>
      </p:sp>
      <p:sp>
        <p:nvSpPr>
          <p:cNvPr id="19" name="Shape 13"/>
          <p:cNvSpPr/>
          <p:nvPr/>
        </p:nvSpPr>
        <p:spPr>
          <a:xfrm>
            <a:off x="6143625" y="1366242"/>
            <a:ext cx="571500" cy="571500"/>
          </a:xfrm>
          <a:prstGeom prst="rect">
            <a:avLst/>
          </a:prstGeom>
          <a:solidFill>
            <a:srgbClr val="1A4B6E">
              <a:alpha val="30000"/>
            </a:srgbClr>
          </a:solidFill>
          <a:ln w="18288">
            <a:solidFill>
              <a:srgbClr val="F2C94C"/>
            </a:solidFill>
            <a:prstDash val="solid"/>
          </a:ln>
        </p:spPr>
      </p:sp>
      <p:pic>
        <p:nvPicPr>
          <p:cNvPr id="20" name="Image 3" descr="preencoded.png">    </p:cNvPr>
          <p:cNvPicPr>
            <a:picLocks noChangeAspect="1"/>
          </p:cNvPicPr>
          <p:nvPr/>
        </p:nvPicPr>
        <p:blipFill>
          <a:blip r:embed="rId4"/>
          <a:stretch>
            <a:fillRect/>
          </a:stretch>
        </p:blipFill>
        <p:spPr>
          <a:xfrm>
            <a:off x="6300788" y="1523405"/>
            <a:ext cx="257175" cy="257175"/>
          </a:xfrm>
          <a:prstGeom prst="rect">
            <a:avLst/>
          </a:prstGeom>
        </p:spPr>
      </p:pic>
      <p:sp>
        <p:nvSpPr>
          <p:cNvPr id="21" name="Text 14"/>
          <p:cNvSpPr/>
          <p:nvPr/>
        </p:nvSpPr>
        <p:spPr>
          <a:xfrm>
            <a:off x="6143625" y="2152055"/>
            <a:ext cx="2571750" cy="457200"/>
          </a:xfrm>
          <a:prstGeom prst="rect">
            <a:avLst/>
          </a:prstGeom>
          <a:noFill/>
          <a:ln/>
        </p:spPr>
        <p:txBody>
          <a:bodyPr wrap="square" lIns="0" tIns="0" rIns="0" bIns="0" rtlCol="0" anchor="t">
            <a:spAutoFit/>
          </a:bodyPr>
          <a:lstStyle/>
          <a:p>
            <a:pPr algn="l" indent="0" marL="0">
              <a:lnSpc>
                <a:spcPts val="1800"/>
              </a:lnSpc>
              <a:buNone/>
            </a:pPr>
            <a:r>
              <a:rPr lang="en-US" sz="1193" b="1" dirty="0">
                <a:solidFill>
                  <a:srgbClr val="E8EDF2"/>
                </a:solidFill>
                <a:latin typeface="Montserrat" pitchFamily="34" charset="0"/>
                <a:ea typeface="Montserrat" pitchFamily="34" charset="-122"/>
                <a:cs typeface="Montserrat" pitchFamily="34" charset="-120"/>
              </a:rPr>
              <a:t>Inteligência Artificial Generativa</a:t>
            </a:r>
            <a:endParaRPr lang="en-US" sz="1193" dirty="0"/>
          </a:p>
        </p:txBody>
      </p:sp>
      <p:sp>
        <p:nvSpPr>
          <p:cNvPr id="22" name="Text 15"/>
          <p:cNvSpPr/>
          <p:nvPr/>
        </p:nvSpPr>
        <p:spPr>
          <a:xfrm>
            <a:off x="6143625" y="2752130"/>
            <a:ext cx="2571750"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Pioneirismo na integração de </a:t>
            </a:r>
            <a:pPr algn="l" indent="0" marL="0">
              <a:lnSpc>
                <a:spcPts val="1400"/>
              </a:lnSpc>
              <a:buNone/>
            </a:pPr>
            <a:r>
              <a:rPr lang="en-US" sz="784" b="1" dirty="0">
                <a:solidFill>
                  <a:srgbClr val="F2C94C"/>
                </a:solidFill>
                <a:latin typeface="Inter" pitchFamily="34" charset="0"/>
                <a:ea typeface="Inter" pitchFamily="34" charset="-122"/>
                <a:cs typeface="Inter" pitchFamily="34" charset="-120"/>
              </a:rPr>
              <a:t>LLMs (RAG)</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no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loop operacional, com agentes proativos para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vigilância e agentes interativos para execução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de tarefas complexas.</a:t>
            </a:r>
            <a:endParaRPr lang="en-US" sz="83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VISÃO GERAL DO FRAMEWORK PROPOSTO</a:t>
            </a:r>
            <a:endParaRPr lang="en-US" sz="1808" dirty="0"/>
          </a:p>
        </p:txBody>
      </p:sp>
      <p:sp>
        <p:nvSpPr>
          <p:cNvPr id="7" name="Shape 3"/>
          <p:cNvSpPr/>
          <p:nvPr/>
        </p:nvSpPr>
        <p:spPr>
          <a:xfrm>
            <a:off x="428625" y="1169789"/>
            <a:ext cx="3604329" cy="642938"/>
          </a:xfrm>
          <a:prstGeom prst="rect">
            <a:avLst/>
          </a:prstGeom>
          <a:solidFill>
            <a:srgbClr val="1A4B6E">
              <a:alpha val="30000"/>
            </a:srgbClr>
          </a:solidFill>
          <a:ln/>
        </p:spPr>
      </p:sp>
      <p:sp>
        <p:nvSpPr>
          <p:cNvPr id="8" name="Shape 4"/>
          <p:cNvSpPr/>
          <p:nvPr/>
        </p:nvSpPr>
        <p:spPr>
          <a:xfrm>
            <a:off x="428625" y="1169789"/>
            <a:ext cx="28575" cy="642938"/>
          </a:xfrm>
          <a:prstGeom prst="rect">
            <a:avLst/>
          </a:prstGeom>
          <a:solidFill>
            <a:srgbClr val="F2C94C"/>
          </a:solidFill>
          <a:ln/>
        </p:spPr>
      </p:sp>
      <p:sp>
        <p:nvSpPr>
          <p:cNvPr id="9" name="Shape 5"/>
          <p:cNvSpPr/>
          <p:nvPr/>
        </p:nvSpPr>
        <p:spPr>
          <a:xfrm>
            <a:off x="571500" y="1312664"/>
            <a:ext cx="357188" cy="357188"/>
          </a:xfrm>
          <a:prstGeom prst="ellipse">
            <a:avLst/>
          </a:prstGeom>
          <a:solidFill>
            <a:srgbClr val="001D33"/>
          </a:solidFill>
          <a:ln w="9144">
            <a:solidFill>
              <a:srgbClr val="F2C94C">
                <a:alpha val="30000"/>
              </a:srgbClr>
            </a:solidFill>
            <a:prstDash val="solid"/>
          </a:ln>
        </p:spPr>
      </p:sp>
      <p:pic>
        <p:nvPicPr>
          <p:cNvPr id="10" name="Image 1" descr="preencoded.png">    </p:cNvPr>
          <p:cNvPicPr>
            <a:picLocks noChangeAspect="1"/>
          </p:cNvPicPr>
          <p:nvPr/>
        </p:nvPicPr>
        <p:blipFill>
          <a:blip r:embed="rId2"/>
          <a:stretch>
            <a:fillRect/>
          </a:stretch>
        </p:blipFill>
        <p:spPr>
          <a:xfrm>
            <a:off x="660797" y="1419820"/>
            <a:ext cx="178594" cy="142875"/>
          </a:xfrm>
          <a:prstGeom prst="rect">
            <a:avLst/>
          </a:prstGeom>
        </p:spPr>
      </p:pic>
      <p:sp>
        <p:nvSpPr>
          <p:cNvPr id="11" name="Text 6"/>
          <p:cNvSpPr/>
          <p:nvPr/>
        </p:nvSpPr>
        <p:spPr>
          <a:xfrm>
            <a:off x="1071563" y="1333370"/>
            <a:ext cx="2818516"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1. Decomposição de Sinais</a:t>
            </a:r>
            <a:endParaRPr lang="en-US" sz="885" dirty="0"/>
          </a:p>
        </p:txBody>
      </p:sp>
      <p:sp>
        <p:nvSpPr>
          <p:cNvPr id="12" name="Text 7"/>
          <p:cNvSpPr/>
          <p:nvPr/>
        </p:nvSpPr>
        <p:spPr>
          <a:xfrm>
            <a:off x="1071563" y="1519107"/>
            <a:ext cx="2818516" cy="130011"/>
          </a:xfrm>
          <a:prstGeom prst="rect">
            <a:avLst/>
          </a:prstGeom>
          <a:noFill/>
          <a:ln/>
        </p:spPr>
        <p:txBody>
          <a:bodyPr wrap="none" lIns="0" tIns="0" rIns="0" bIns="0" rtlCol="0" anchor="t">
            <a:spAutoFit/>
          </a:bodyPr>
          <a:lstStyle/>
          <a:p>
            <a:pPr algn="l" indent="0" marL="0">
              <a:lnSpc>
                <a:spcPts val="1000"/>
              </a:lnSpc>
              <a:buNone/>
            </a:pPr>
            <a:r>
              <a:rPr lang="en-US" sz="727" dirty="0">
                <a:solidFill>
                  <a:srgbClr val="E8EDF2">
                    <a:alpha val="70000"/>
                  </a:srgbClr>
                </a:solidFill>
                <a:latin typeface="Inter" pitchFamily="34" charset="0"/>
                <a:ea typeface="Inter" pitchFamily="34" charset="-122"/>
                <a:cs typeface="Inter" pitchFamily="34" charset="-120"/>
              </a:rPr>
              <a:t>CEEMDAN + EWT para separar tendências e ruído.</a:t>
            </a:r>
            <a:endParaRPr lang="en-US" sz="727" dirty="0"/>
          </a:p>
        </p:txBody>
      </p:sp>
      <p:sp>
        <p:nvSpPr>
          <p:cNvPr id="13" name="Shape 8"/>
          <p:cNvSpPr/>
          <p:nvPr/>
        </p:nvSpPr>
        <p:spPr>
          <a:xfrm>
            <a:off x="428625" y="2164193"/>
            <a:ext cx="3604329" cy="731509"/>
          </a:xfrm>
          <a:prstGeom prst="rect">
            <a:avLst/>
          </a:prstGeom>
          <a:solidFill>
            <a:srgbClr val="1A4B6E">
              <a:alpha val="30000"/>
            </a:srgbClr>
          </a:solidFill>
          <a:ln/>
        </p:spPr>
      </p:sp>
      <p:sp>
        <p:nvSpPr>
          <p:cNvPr id="14" name="Shape 9"/>
          <p:cNvSpPr/>
          <p:nvPr/>
        </p:nvSpPr>
        <p:spPr>
          <a:xfrm>
            <a:off x="428625" y="2164193"/>
            <a:ext cx="28575" cy="731509"/>
          </a:xfrm>
          <a:prstGeom prst="rect">
            <a:avLst/>
          </a:prstGeom>
          <a:solidFill>
            <a:srgbClr val="F2C94C"/>
          </a:solidFill>
          <a:ln/>
        </p:spPr>
      </p:sp>
      <p:sp>
        <p:nvSpPr>
          <p:cNvPr id="15" name="Shape 10"/>
          <p:cNvSpPr/>
          <p:nvPr/>
        </p:nvSpPr>
        <p:spPr>
          <a:xfrm>
            <a:off x="571500" y="2351354"/>
            <a:ext cx="357188" cy="357188"/>
          </a:xfrm>
          <a:prstGeom prst="ellipse">
            <a:avLst/>
          </a:prstGeom>
          <a:solidFill>
            <a:srgbClr val="001D33"/>
          </a:solidFill>
          <a:ln w="9144">
            <a:solidFill>
              <a:srgbClr val="F2C94C">
                <a:alpha val="30000"/>
              </a:srgbClr>
            </a:solidFill>
            <a:prstDash val="solid"/>
          </a:ln>
        </p:spPr>
      </p:sp>
      <p:pic>
        <p:nvPicPr>
          <p:cNvPr id="16" name="Image 2" descr="preencoded.png">    </p:cNvPr>
          <p:cNvPicPr>
            <a:picLocks noChangeAspect="1"/>
          </p:cNvPicPr>
          <p:nvPr/>
        </p:nvPicPr>
        <p:blipFill>
          <a:blip r:embed="rId3"/>
          <a:stretch>
            <a:fillRect/>
          </a:stretch>
        </p:blipFill>
        <p:spPr>
          <a:xfrm>
            <a:off x="678656" y="2458510"/>
            <a:ext cx="142875" cy="142875"/>
          </a:xfrm>
          <a:prstGeom prst="rect">
            <a:avLst/>
          </a:prstGeom>
        </p:spPr>
      </p:pic>
      <p:sp>
        <p:nvSpPr>
          <p:cNvPr id="17" name="Text 11"/>
          <p:cNvSpPr/>
          <p:nvPr/>
        </p:nvSpPr>
        <p:spPr>
          <a:xfrm>
            <a:off x="1071563" y="2307068"/>
            <a:ext cx="2818516"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2. Previsão Probabilística</a:t>
            </a:r>
            <a:endParaRPr lang="en-US" sz="885" dirty="0"/>
          </a:p>
        </p:txBody>
      </p:sp>
      <p:sp>
        <p:nvSpPr>
          <p:cNvPr id="18" name="Text 12"/>
          <p:cNvSpPr/>
          <p:nvPr/>
        </p:nvSpPr>
        <p:spPr>
          <a:xfrm>
            <a:off x="1071563" y="2492806"/>
            <a:ext cx="2818516" cy="260021"/>
          </a:xfrm>
          <a:prstGeom prst="rect">
            <a:avLst/>
          </a:prstGeom>
          <a:noFill/>
          <a:ln/>
        </p:spPr>
        <p:txBody>
          <a:bodyPr wrap="square" lIns="0" tIns="0" rIns="0" bIns="0" rtlCol="0" anchor="t">
            <a:spAutoFit/>
          </a:bodyPr>
          <a:lstStyle/>
          <a:p>
            <a:pPr algn="l" indent="0" marL="0">
              <a:lnSpc>
                <a:spcPts val="1000"/>
              </a:lnSpc>
              <a:buNone/>
            </a:pPr>
            <a:r>
              <a:rPr lang="en-US" sz="727" dirty="0">
                <a:solidFill>
                  <a:srgbClr val="E8EDF2">
                    <a:alpha val="70000"/>
                  </a:srgbClr>
                </a:solidFill>
                <a:latin typeface="Inter" pitchFamily="34" charset="0"/>
                <a:ea typeface="Inter" pitchFamily="34" charset="-122"/>
                <a:cs typeface="Inter" pitchFamily="34" charset="-120"/>
              </a:rPr>
              <a:t>TFT Aggregator para previsões multi-horizonte (P10, P50, P90).</a:t>
            </a:r>
            <a:endParaRPr lang="en-US" sz="727" dirty="0"/>
          </a:p>
        </p:txBody>
      </p:sp>
      <p:sp>
        <p:nvSpPr>
          <p:cNvPr id="19" name="Shape 13"/>
          <p:cNvSpPr/>
          <p:nvPr/>
        </p:nvSpPr>
        <p:spPr>
          <a:xfrm>
            <a:off x="428625" y="3247169"/>
            <a:ext cx="3604329" cy="642938"/>
          </a:xfrm>
          <a:prstGeom prst="rect">
            <a:avLst/>
          </a:prstGeom>
          <a:solidFill>
            <a:srgbClr val="1A4B6E">
              <a:alpha val="30000"/>
            </a:srgbClr>
          </a:solidFill>
          <a:ln/>
        </p:spPr>
      </p:sp>
      <p:sp>
        <p:nvSpPr>
          <p:cNvPr id="20" name="Shape 14"/>
          <p:cNvSpPr/>
          <p:nvPr/>
        </p:nvSpPr>
        <p:spPr>
          <a:xfrm>
            <a:off x="428625" y="3247169"/>
            <a:ext cx="28575" cy="642938"/>
          </a:xfrm>
          <a:prstGeom prst="rect">
            <a:avLst/>
          </a:prstGeom>
          <a:solidFill>
            <a:srgbClr val="F2C94C"/>
          </a:solidFill>
          <a:ln/>
        </p:spPr>
      </p:sp>
      <p:sp>
        <p:nvSpPr>
          <p:cNvPr id="21" name="Shape 15"/>
          <p:cNvSpPr/>
          <p:nvPr/>
        </p:nvSpPr>
        <p:spPr>
          <a:xfrm>
            <a:off x="571500" y="3390044"/>
            <a:ext cx="357188" cy="357188"/>
          </a:xfrm>
          <a:prstGeom prst="ellipse">
            <a:avLst/>
          </a:prstGeom>
          <a:solidFill>
            <a:srgbClr val="001D33"/>
          </a:solidFill>
          <a:ln w="9144">
            <a:solidFill>
              <a:srgbClr val="F2C94C">
                <a:alpha val="30000"/>
              </a:srgbClr>
            </a:solidFill>
            <a:prstDash val="solid"/>
          </a:ln>
        </p:spPr>
      </p:sp>
      <p:pic>
        <p:nvPicPr>
          <p:cNvPr id="22" name="Image 3" descr="preencoded.png">    </p:cNvPr>
          <p:cNvPicPr>
            <a:picLocks noChangeAspect="1"/>
          </p:cNvPicPr>
          <p:nvPr/>
        </p:nvPicPr>
        <p:blipFill>
          <a:blip r:embed="rId4"/>
          <a:stretch>
            <a:fillRect/>
          </a:stretch>
        </p:blipFill>
        <p:spPr>
          <a:xfrm>
            <a:off x="678656" y="3497200"/>
            <a:ext cx="142875" cy="142875"/>
          </a:xfrm>
          <a:prstGeom prst="rect">
            <a:avLst/>
          </a:prstGeom>
        </p:spPr>
      </p:pic>
      <p:sp>
        <p:nvSpPr>
          <p:cNvPr id="23" name="Text 16"/>
          <p:cNvSpPr/>
          <p:nvPr/>
        </p:nvSpPr>
        <p:spPr>
          <a:xfrm>
            <a:off x="1071563" y="3410750"/>
            <a:ext cx="2818516"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3. Gestão de Risco (ORI)</a:t>
            </a:r>
            <a:endParaRPr lang="en-US" sz="885" dirty="0"/>
          </a:p>
        </p:txBody>
      </p:sp>
      <p:sp>
        <p:nvSpPr>
          <p:cNvPr id="24" name="Text 17"/>
          <p:cNvSpPr/>
          <p:nvPr/>
        </p:nvSpPr>
        <p:spPr>
          <a:xfrm>
            <a:off x="1071563" y="3596487"/>
            <a:ext cx="2818516" cy="130011"/>
          </a:xfrm>
          <a:prstGeom prst="rect">
            <a:avLst/>
          </a:prstGeom>
          <a:noFill/>
          <a:ln/>
        </p:spPr>
        <p:txBody>
          <a:bodyPr wrap="none" lIns="0" tIns="0" rIns="0" bIns="0" rtlCol="0" anchor="t">
            <a:spAutoFit/>
          </a:bodyPr>
          <a:lstStyle/>
          <a:p>
            <a:pPr algn="l" indent="0" marL="0">
              <a:lnSpc>
                <a:spcPts val="1000"/>
              </a:lnSpc>
              <a:buNone/>
            </a:pPr>
            <a:r>
              <a:rPr lang="en-US" sz="727" dirty="0">
                <a:solidFill>
                  <a:srgbClr val="E8EDF2">
                    <a:alpha val="70000"/>
                  </a:srgbClr>
                </a:solidFill>
                <a:latin typeface="Inter" pitchFamily="34" charset="0"/>
                <a:ea typeface="Inter" pitchFamily="34" charset="-122"/>
                <a:cs typeface="Inter" pitchFamily="34" charset="-120"/>
              </a:rPr>
              <a:t>Tradução de incertezas em níveis de risco operacionais.</a:t>
            </a:r>
            <a:endParaRPr lang="en-US" sz="727" dirty="0"/>
          </a:p>
        </p:txBody>
      </p:sp>
      <p:sp>
        <p:nvSpPr>
          <p:cNvPr id="25" name="Shape 18"/>
          <p:cNvSpPr/>
          <p:nvPr/>
        </p:nvSpPr>
        <p:spPr>
          <a:xfrm>
            <a:off x="428625" y="4241574"/>
            <a:ext cx="3604329" cy="642938"/>
          </a:xfrm>
          <a:prstGeom prst="rect">
            <a:avLst/>
          </a:prstGeom>
          <a:solidFill>
            <a:srgbClr val="1A4B6E">
              <a:alpha val="30000"/>
            </a:srgbClr>
          </a:solidFill>
          <a:ln/>
        </p:spPr>
      </p:sp>
      <p:sp>
        <p:nvSpPr>
          <p:cNvPr id="26" name="Shape 19"/>
          <p:cNvSpPr/>
          <p:nvPr/>
        </p:nvSpPr>
        <p:spPr>
          <a:xfrm>
            <a:off x="428625" y="4241574"/>
            <a:ext cx="28575" cy="642938"/>
          </a:xfrm>
          <a:prstGeom prst="rect">
            <a:avLst/>
          </a:prstGeom>
          <a:solidFill>
            <a:srgbClr val="F2C94C"/>
          </a:solidFill>
          <a:ln/>
        </p:spPr>
      </p:sp>
      <p:sp>
        <p:nvSpPr>
          <p:cNvPr id="27" name="Shape 20"/>
          <p:cNvSpPr/>
          <p:nvPr/>
        </p:nvSpPr>
        <p:spPr>
          <a:xfrm>
            <a:off x="571500" y="4384449"/>
            <a:ext cx="357188" cy="357188"/>
          </a:xfrm>
          <a:prstGeom prst="ellipse">
            <a:avLst/>
          </a:prstGeom>
          <a:solidFill>
            <a:srgbClr val="001D33"/>
          </a:solidFill>
          <a:ln w="9144">
            <a:solidFill>
              <a:srgbClr val="F2C94C">
                <a:alpha val="30000"/>
              </a:srgbClr>
            </a:solidFill>
            <a:prstDash val="solid"/>
          </a:ln>
        </p:spPr>
      </p:sp>
      <p:pic>
        <p:nvPicPr>
          <p:cNvPr id="28" name="Image 4" descr="preencoded.png">    </p:cNvPr>
          <p:cNvPicPr>
            <a:picLocks noChangeAspect="1"/>
          </p:cNvPicPr>
          <p:nvPr/>
        </p:nvPicPr>
        <p:blipFill>
          <a:blip r:embed="rId5"/>
          <a:stretch>
            <a:fillRect/>
          </a:stretch>
        </p:blipFill>
        <p:spPr>
          <a:xfrm>
            <a:off x="660797" y="4491605"/>
            <a:ext cx="178594" cy="142875"/>
          </a:xfrm>
          <a:prstGeom prst="rect">
            <a:avLst/>
          </a:prstGeom>
        </p:spPr>
      </p:pic>
      <p:sp>
        <p:nvSpPr>
          <p:cNvPr id="29" name="Text 21"/>
          <p:cNvSpPr/>
          <p:nvPr/>
        </p:nvSpPr>
        <p:spPr>
          <a:xfrm>
            <a:off x="1071563" y="4405154"/>
            <a:ext cx="2818516"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4. Inteligência Artificial</a:t>
            </a:r>
            <a:endParaRPr lang="en-US" sz="885" dirty="0"/>
          </a:p>
        </p:txBody>
      </p:sp>
      <p:sp>
        <p:nvSpPr>
          <p:cNvPr id="30" name="Text 22"/>
          <p:cNvSpPr/>
          <p:nvPr/>
        </p:nvSpPr>
        <p:spPr>
          <a:xfrm>
            <a:off x="1071563" y="4590892"/>
            <a:ext cx="2818516" cy="130011"/>
          </a:xfrm>
          <a:prstGeom prst="rect">
            <a:avLst/>
          </a:prstGeom>
          <a:noFill/>
          <a:ln/>
        </p:spPr>
        <p:txBody>
          <a:bodyPr wrap="none" lIns="0" tIns="0" rIns="0" bIns="0" rtlCol="0" anchor="t">
            <a:spAutoFit/>
          </a:bodyPr>
          <a:lstStyle/>
          <a:p>
            <a:pPr algn="l" indent="0" marL="0">
              <a:lnSpc>
                <a:spcPts val="1000"/>
              </a:lnSpc>
              <a:buNone/>
            </a:pPr>
            <a:r>
              <a:rPr lang="en-US" sz="727" dirty="0">
                <a:solidFill>
                  <a:srgbClr val="E8EDF2">
                    <a:alpha val="70000"/>
                  </a:srgbClr>
                </a:solidFill>
                <a:latin typeface="Inter" pitchFamily="34" charset="0"/>
                <a:ea typeface="Inter" pitchFamily="34" charset="-122"/>
                <a:cs typeface="Inter" pitchFamily="34" charset="-120"/>
              </a:rPr>
              <a:t>AI Copilot com RAG para suporte à decisão contextual.</a:t>
            </a:r>
            <a:endParaRPr lang="en-US" sz="727" dirty="0"/>
          </a:p>
        </p:txBody>
      </p:sp>
      <p:sp>
        <p:nvSpPr>
          <p:cNvPr id="31" name="Shape 23"/>
          <p:cNvSpPr/>
          <p:nvPr/>
        </p:nvSpPr>
        <p:spPr>
          <a:xfrm>
            <a:off x="4390141" y="1169789"/>
            <a:ext cx="4325234" cy="3523655"/>
          </a:xfrm>
          <a:prstGeom prst="rect">
            <a:avLst/>
          </a:prstGeom>
          <a:solidFill>
            <a:srgbClr val="F2C94C">
              <a:alpha val="5000"/>
            </a:srgbClr>
          </a:solidFill>
          <a:ln w="18288">
            <a:solidFill>
              <a:srgbClr val="F2C94C">
                <a:alpha val="50000"/>
              </a:srgbClr>
            </a:solidFill>
            <a:prstDash val="dash"/>
          </a:ln>
        </p:spPr>
      </p:sp>
      <p:sp>
        <p:nvSpPr>
          <p:cNvPr id="32" name="Text 24"/>
          <p:cNvSpPr/>
          <p:nvPr/>
        </p:nvSpPr>
        <p:spPr>
          <a:xfrm>
            <a:off x="7459861" y="1312664"/>
            <a:ext cx="1112639" cy="417909"/>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FFFFFF">
                    <a:alpha val="5000"/>
                  </a:srgbClr>
                </a:solidFill>
                <a:latin typeface="Montserrat" pitchFamily="34" charset="0"/>
                <a:ea typeface="Montserrat" pitchFamily="34" charset="-122"/>
                <a:cs typeface="Montserrat" pitchFamily="34" charset="-120"/>
              </a:rPr>
              <a:t>Fig 1.5</a:t>
            </a:r>
            <a:endParaRPr lang="en-US" sz="2436" dirty="0"/>
          </a:p>
        </p:txBody>
      </p:sp>
      <p:pic>
        <p:nvPicPr>
          <p:cNvPr id="33" name="Image 5" descr="preencoded.png">    </p:cNvPr>
          <p:cNvPicPr>
            <a:picLocks noChangeAspect="1"/>
          </p:cNvPicPr>
          <p:nvPr/>
        </p:nvPicPr>
        <p:blipFill>
          <a:blip r:embed="rId6">
            <a:alphaModFix amt="80000"/>
          </a:blip>
          <a:stretch>
            <a:fillRect/>
          </a:stretch>
        </p:blipFill>
        <p:spPr>
          <a:xfrm>
            <a:off x="6295569" y="2332434"/>
            <a:ext cx="514350" cy="457200"/>
          </a:xfrm>
          <a:prstGeom prst="rect">
            <a:avLst/>
          </a:prstGeom>
        </p:spPr>
      </p:pic>
      <p:sp>
        <p:nvSpPr>
          <p:cNvPr id="34" name="Text 25"/>
          <p:cNvSpPr/>
          <p:nvPr/>
        </p:nvSpPr>
        <p:spPr>
          <a:xfrm>
            <a:off x="5164178" y="2961084"/>
            <a:ext cx="2777133" cy="208955"/>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2C94C"/>
                </a:solidFill>
                <a:latin typeface="Montserrat" pitchFamily="34" charset="0"/>
                <a:ea typeface="Montserrat" pitchFamily="34" charset="-122"/>
                <a:cs typeface="Montserrat" pitchFamily="34" charset="-120"/>
              </a:rPr>
              <a:t>Inserir Figura 1.5 da Dissertação</a:t>
            </a:r>
            <a:endParaRPr lang="en-US" sz="1193" dirty="0"/>
          </a:p>
        </p:txBody>
      </p:sp>
      <p:sp>
        <p:nvSpPr>
          <p:cNvPr id="35" name="Text 26"/>
          <p:cNvSpPr/>
          <p:nvPr/>
        </p:nvSpPr>
        <p:spPr>
          <a:xfrm>
            <a:off x="4822673" y="3255764"/>
            <a:ext cx="3460170" cy="275034"/>
          </a:xfrm>
          <a:prstGeom prst="rect">
            <a:avLst/>
          </a:prstGeom>
          <a:noFill/>
          <a:ln/>
        </p:spPr>
        <p:txBody>
          <a:bodyPr wrap="square" lIns="0" tIns="0" rIns="0" bIns="0" rtlCol="0" anchor="t">
            <a:spAutoFit/>
          </a:bodyPr>
          <a:lstStyle/>
          <a:p>
            <a:pPr algn="ctr" indent="0" marL="0">
              <a:lnSpc>
                <a:spcPts val="1100"/>
              </a:lnSpc>
              <a:buNone/>
            </a:pPr>
            <a:r>
              <a:rPr lang="en-US" sz="834" dirty="0">
                <a:solidFill>
                  <a:srgbClr val="E8EDF2">
                    <a:alpha val="60000"/>
                  </a:srgbClr>
                </a:solidFill>
                <a:latin typeface="Inter" pitchFamily="34" charset="0"/>
                <a:ea typeface="Inter" pitchFamily="34" charset="-122"/>
                <a:cs typeface="Inter" pitchFamily="34" charset="-120"/>
              </a:rPr>
              <a:t>High-level overview of the proposed decision support framework architecture</a:t>
            </a:r>
            <a:endParaRPr lang="en-US" sz="834" dirty="0"/>
          </a:p>
        </p:txBody>
      </p:sp>
      <p:sp>
        <p:nvSpPr>
          <p:cNvPr id="36" name="Text 27"/>
          <p:cNvSpPr/>
          <p:nvPr/>
        </p:nvSpPr>
        <p:spPr>
          <a:xfrm>
            <a:off x="4390141" y="4779169"/>
            <a:ext cx="4325234"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Elaboração própria (Dissertação, Capítulo 1)</a:t>
            </a:r>
            <a:endParaRPr lang="en-US" sz="621"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e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428625" y="428625"/>
            <a:ext cx="8286750" cy="40005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8625" y="828675"/>
            <a:ext cx="8286750" cy="14288"/>
          </a:xfrm>
          <a:prstGeom prst="rect">
            <a:avLst/>
          </a:prstGeom>
          <a:solidFill>
            <a:srgbClr val="F2C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8625" y="428625"/>
            <a:ext cx="8286750" cy="312539"/>
          </a:xfrm>
          <a:prstGeom prst="rect">
            <a:avLst/>
          </a:prstGeom>
          <a:noFill/>
        </p:spPr>
        <p:txBody>
          <a:bodyPr wrap="square">
            <a:spAutoFit/>
          </a:bodyPr>
          <a:lstStyle/>
          <a:p>
            <a:pPr algn="l"/>
            <a:r>
              <a:rPr sz="1600" b="1">
                <a:solidFill>
                  <a:srgbClr val="F2C94C"/>
                </a:solidFill>
                <a:latin typeface="Montserrat"/>
              </a:rPr>
              <a:t>FRAMEWORK PROPOSTO: VISÃO INTEGRADA</a:t>
            </a:r>
          </a:p>
        </p:txBody>
      </p:sp>
      <p:sp>
        <p:nvSpPr>
          <p:cNvPr id="6" name="Rounded Rectangle 5"/>
          <p:cNvSpPr/>
          <p:nvPr/>
        </p:nvSpPr>
        <p:spPr>
          <a:xfrm>
            <a:off x="450000" y="1050000"/>
            <a:ext cx="1500000" cy="9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0000" y="1050000"/>
            <a:ext cx="28575" cy="900000"/>
          </a:xfrm>
          <a:prstGeom prst="rect">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0000" y="1100000"/>
            <a:ext cx="400000" cy="300000"/>
          </a:xfrm>
          <a:prstGeom prst="rect">
            <a:avLst/>
          </a:prstGeom>
          <a:noFill/>
        </p:spPr>
        <p:txBody>
          <a:bodyPr wrap="square">
            <a:spAutoFit/>
          </a:bodyPr>
          <a:lstStyle/>
          <a:p>
            <a:pPr algn="l"/>
            <a:r>
              <a:rPr sz="1800" b="0">
                <a:solidFill>
                  <a:srgbClr val="E8EDF2"/>
                </a:solidFill>
                <a:latin typeface="Inter"/>
              </a:rPr>
              <a:t>📊</a:t>
            </a:r>
          </a:p>
        </p:txBody>
      </p:sp>
      <p:sp>
        <p:nvSpPr>
          <p:cNvPr id="9" name="TextBox 8"/>
          <p:cNvSpPr txBox="1"/>
          <p:nvPr/>
        </p:nvSpPr>
        <p:spPr>
          <a:xfrm>
            <a:off x="510000" y="1350000"/>
            <a:ext cx="1380000" cy="200000"/>
          </a:xfrm>
          <a:prstGeom prst="rect">
            <a:avLst/>
          </a:prstGeom>
          <a:noFill/>
        </p:spPr>
        <p:txBody>
          <a:bodyPr wrap="square">
            <a:spAutoFit/>
          </a:bodyPr>
          <a:lstStyle/>
          <a:p>
            <a:pPr algn="l"/>
            <a:r>
              <a:rPr sz="800" b="1">
                <a:solidFill>
                  <a:srgbClr val="2D9CDB"/>
                </a:solidFill>
                <a:latin typeface="Montserrat"/>
              </a:rPr>
              <a:t>Dados SCADA</a:t>
            </a:r>
          </a:p>
        </p:txBody>
      </p:sp>
      <p:sp>
        <p:nvSpPr>
          <p:cNvPr id="10" name="TextBox 9"/>
          <p:cNvSpPr txBox="1"/>
          <p:nvPr/>
        </p:nvSpPr>
        <p:spPr>
          <a:xfrm>
            <a:off x="510000" y="1550000"/>
            <a:ext cx="1380000" cy="400000"/>
          </a:xfrm>
          <a:prstGeom prst="rect">
            <a:avLst/>
          </a:prstGeom>
          <a:noFill/>
        </p:spPr>
        <p:txBody>
          <a:bodyPr wrap="square">
            <a:spAutoFit/>
          </a:bodyPr>
          <a:lstStyle/>
          <a:p>
            <a:pPr algn="l"/>
            <a:r>
              <a:rPr sz="650" b="0">
                <a:solidFill>
                  <a:srgbClr val="E8EDF2"/>
                </a:solidFill>
                <a:latin typeface="Inter"/>
              </a:rPr>
              <a:t>Turbina #44
10-min SCADA</a:t>
            </a:r>
          </a:p>
        </p:txBody>
      </p:sp>
      <p:sp>
        <p:nvSpPr>
          <p:cNvPr id="11" name="TextBox 10"/>
          <p:cNvSpPr txBox="1"/>
          <p:nvPr/>
        </p:nvSpPr>
        <p:spPr>
          <a:xfrm>
            <a:off x="1950000" y="1400000"/>
            <a:ext cx="100000" cy="200000"/>
          </a:xfrm>
          <a:prstGeom prst="rect">
            <a:avLst/>
          </a:prstGeom>
          <a:noFill/>
        </p:spPr>
        <p:txBody>
          <a:bodyPr wrap="square">
            <a:spAutoFit/>
          </a:bodyPr>
          <a:lstStyle/>
          <a:p>
            <a:pPr algn="ctr"/>
            <a:r>
              <a:rPr sz="1400" b="1">
                <a:solidFill>
                  <a:srgbClr val="F2C94C"/>
                </a:solidFill>
                <a:latin typeface="Inter"/>
              </a:rPr>
              <a:t>→</a:t>
            </a:r>
          </a:p>
        </p:txBody>
      </p:sp>
      <p:sp>
        <p:nvSpPr>
          <p:cNvPr id="12" name="Rounded Rectangle 11"/>
          <p:cNvSpPr/>
          <p:nvPr/>
        </p:nvSpPr>
        <p:spPr>
          <a:xfrm>
            <a:off x="2050000" y="1050000"/>
            <a:ext cx="1500000" cy="9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50000" y="1050000"/>
            <a:ext cx="28575" cy="900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10000" y="1100000"/>
            <a:ext cx="400000" cy="300000"/>
          </a:xfrm>
          <a:prstGeom prst="rect">
            <a:avLst/>
          </a:prstGeom>
          <a:noFill/>
        </p:spPr>
        <p:txBody>
          <a:bodyPr wrap="square">
            <a:spAutoFit/>
          </a:bodyPr>
          <a:lstStyle/>
          <a:p>
            <a:pPr algn="l"/>
            <a:r>
              <a:rPr sz="1800" b="0">
                <a:solidFill>
                  <a:srgbClr val="E8EDF2"/>
                </a:solidFill>
                <a:latin typeface="Inter"/>
              </a:rPr>
              <a:t>🔬</a:t>
            </a:r>
          </a:p>
        </p:txBody>
      </p:sp>
      <p:sp>
        <p:nvSpPr>
          <p:cNvPr id="15" name="TextBox 14"/>
          <p:cNvSpPr txBox="1"/>
          <p:nvPr/>
        </p:nvSpPr>
        <p:spPr>
          <a:xfrm>
            <a:off x="2110000" y="1350000"/>
            <a:ext cx="1380000" cy="200000"/>
          </a:xfrm>
          <a:prstGeom prst="rect">
            <a:avLst/>
          </a:prstGeom>
          <a:noFill/>
        </p:spPr>
        <p:txBody>
          <a:bodyPr wrap="square">
            <a:spAutoFit/>
          </a:bodyPr>
          <a:lstStyle/>
          <a:p>
            <a:pPr algn="l"/>
            <a:r>
              <a:rPr sz="800" b="1">
                <a:solidFill>
                  <a:srgbClr val="27AE60"/>
                </a:solidFill>
                <a:latin typeface="Montserrat"/>
              </a:rPr>
              <a:t>CEEMDAN-EWT</a:t>
            </a:r>
          </a:p>
        </p:txBody>
      </p:sp>
      <p:sp>
        <p:nvSpPr>
          <p:cNvPr id="16" name="TextBox 15"/>
          <p:cNvSpPr txBox="1"/>
          <p:nvPr/>
        </p:nvSpPr>
        <p:spPr>
          <a:xfrm>
            <a:off x="2110000" y="1550000"/>
            <a:ext cx="1380000" cy="400000"/>
          </a:xfrm>
          <a:prstGeom prst="rect">
            <a:avLst/>
          </a:prstGeom>
          <a:noFill/>
        </p:spPr>
        <p:txBody>
          <a:bodyPr wrap="square">
            <a:spAutoFit/>
          </a:bodyPr>
          <a:lstStyle/>
          <a:p>
            <a:pPr algn="l"/>
            <a:r>
              <a:rPr sz="650" b="0">
                <a:solidFill>
                  <a:srgbClr val="E8EDF2"/>
                </a:solidFill>
                <a:latin typeface="Inter"/>
              </a:rPr>
              <a:t>Decomposição
em IMFs</a:t>
            </a:r>
          </a:p>
        </p:txBody>
      </p:sp>
      <p:sp>
        <p:nvSpPr>
          <p:cNvPr id="17" name="TextBox 16"/>
          <p:cNvSpPr txBox="1"/>
          <p:nvPr/>
        </p:nvSpPr>
        <p:spPr>
          <a:xfrm>
            <a:off x="3550000" y="1400000"/>
            <a:ext cx="100000" cy="200000"/>
          </a:xfrm>
          <a:prstGeom prst="rect">
            <a:avLst/>
          </a:prstGeom>
          <a:noFill/>
        </p:spPr>
        <p:txBody>
          <a:bodyPr wrap="square">
            <a:spAutoFit/>
          </a:bodyPr>
          <a:lstStyle/>
          <a:p>
            <a:pPr algn="ctr"/>
            <a:r>
              <a:rPr sz="1400" b="1">
                <a:solidFill>
                  <a:srgbClr val="F2C94C"/>
                </a:solidFill>
                <a:latin typeface="Inter"/>
              </a:rPr>
              <a:t>→</a:t>
            </a:r>
          </a:p>
        </p:txBody>
      </p:sp>
      <p:sp>
        <p:nvSpPr>
          <p:cNvPr id="18" name="Rounded Rectangle 17"/>
          <p:cNvSpPr/>
          <p:nvPr/>
        </p:nvSpPr>
        <p:spPr>
          <a:xfrm>
            <a:off x="3650000" y="1050000"/>
            <a:ext cx="1500000" cy="9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0000" y="1050000"/>
            <a:ext cx="28575" cy="900000"/>
          </a:xfrm>
          <a:prstGeom prst="rect">
            <a:avLst/>
          </a:prstGeom>
          <a:solidFill>
            <a:srgbClr val="F2C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10000" y="1100000"/>
            <a:ext cx="400000" cy="300000"/>
          </a:xfrm>
          <a:prstGeom prst="rect">
            <a:avLst/>
          </a:prstGeom>
          <a:noFill/>
        </p:spPr>
        <p:txBody>
          <a:bodyPr wrap="square">
            <a:spAutoFit/>
          </a:bodyPr>
          <a:lstStyle/>
          <a:p>
            <a:pPr algn="l"/>
            <a:r>
              <a:rPr sz="1800" b="0">
                <a:solidFill>
                  <a:srgbClr val="E8EDF2"/>
                </a:solidFill>
                <a:latin typeface="Inter"/>
              </a:rPr>
              <a:t>🧠</a:t>
            </a:r>
          </a:p>
        </p:txBody>
      </p:sp>
      <p:sp>
        <p:nvSpPr>
          <p:cNvPr id="21" name="TextBox 20"/>
          <p:cNvSpPr txBox="1"/>
          <p:nvPr/>
        </p:nvSpPr>
        <p:spPr>
          <a:xfrm>
            <a:off x="3710000" y="1350000"/>
            <a:ext cx="1380000" cy="200000"/>
          </a:xfrm>
          <a:prstGeom prst="rect">
            <a:avLst/>
          </a:prstGeom>
          <a:noFill/>
        </p:spPr>
        <p:txBody>
          <a:bodyPr wrap="square">
            <a:spAutoFit/>
          </a:bodyPr>
          <a:lstStyle/>
          <a:p>
            <a:pPr algn="l"/>
            <a:r>
              <a:rPr sz="800" b="1">
                <a:solidFill>
                  <a:srgbClr val="F2C94C"/>
                </a:solidFill>
                <a:latin typeface="Montserrat"/>
              </a:rPr>
              <a:t>TFT Aggregator</a:t>
            </a:r>
          </a:p>
        </p:txBody>
      </p:sp>
      <p:sp>
        <p:nvSpPr>
          <p:cNvPr id="22" name="TextBox 21"/>
          <p:cNvSpPr txBox="1"/>
          <p:nvPr/>
        </p:nvSpPr>
        <p:spPr>
          <a:xfrm>
            <a:off x="3710000" y="1550000"/>
            <a:ext cx="1380000" cy="400000"/>
          </a:xfrm>
          <a:prstGeom prst="rect">
            <a:avLst/>
          </a:prstGeom>
          <a:noFill/>
        </p:spPr>
        <p:txBody>
          <a:bodyPr wrap="square">
            <a:spAutoFit/>
          </a:bodyPr>
          <a:lstStyle/>
          <a:p>
            <a:pPr algn="l"/>
            <a:r>
              <a:rPr sz="650" b="0">
                <a:solidFill>
                  <a:srgbClr val="E8EDF2"/>
                </a:solidFill>
                <a:latin typeface="Inter"/>
              </a:rPr>
              <a:t>P10, P50, P90
MAPE: 1.79%</a:t>
            </a:r>
          </a:p>
        </p:txBody>
      </p:sp>
      <p:sp>
        <p:nvSpPr>
          <p:cNvPr id="23" name="TextBox 22"/>
          <p:cNvSpPr txBox="1"/>
          <p:nvPr/>
        </p:nvSpPr>
        <p:spPr>
          <a:xfrm>
            <a:off x="5150000" y="1400000"/>
            <a:ext cx="100000" cy="200000"/>
          </a:xfrm>
          <a:prstGeom prst="rect">
            <a:avLst/>
          </a:prstGeom>
          <a:noFill/>
        </p:spPr>
        <p:txBody>
          <a:bodyPr wrap="square">
            <a:spAutoFit/>
          </a:bodyPr>
          <a:lstStyle/>
          <a:p>
            <a:pPr algn="ctr"/>
            <a:r>
              <a:rPr sz="1400" b="1">
                <a:solidFill>
                  <a:srgbClr val="F2C94C"/>
                </a:solidFill>
                <a:latin typeface="Inter"/>
              </a:rPr>
              <a:t>→</a:t>
            </a:r>
          </a:p>
        </p:txBody>
      </p:sp>
      <p:sp>
        <p:nvSpPr>
          <p:cNvPr id="24" name="Rounded Rectangle 23"/>
          <p:cNvSpPr/>
          <p:nvPr/>
        </p:nvSpPr>
        <p:spPr>
          <a:xfrm>
            <a:off x="5250000" y="1050000"/>
            <a:ext cx="1500000" cy="9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50000" y="1050000"/>
            <a:ext cx="28575" cy="900000"/>
          </a:xfrm>
          <a:prstGeom prst="rect">
            <a:avLst/>
          </a:prstGeom>
          <a:solidFill>
            <a:srgbClr val="EB5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10000" y="1100000"/>
            <a:ext cx="400000" cy="300000"/>
          </a:xfrm>
          <a:prstGeom prst="rect">
            <a:avLst/>
          </a:prstGeom>
          <a:noFill/>
        </p:spPr>
        <p:txBody>
          <a:bodyPr wrap="square">
            <a:spAutoFit/>
          </a:bodyPr>
          <a:lstStyle/>
          <a:p>
            <a:pPr algn="l"/>
            <a:r>
              <a:rPr sz="1800" b="0">
                <a:solidFill>
                  <a:srgbClr val="E8EDF2"/>
                </a:solidFill>
                <a:latin typeface="Inter"/>
              </a:rPr>
              <a:t>⚠️</a:t>
            </a:r>
          </a:p>
        </p:txBody>
      </p:sp>
      <p:sp>
        <p:nvSpPr>
          <p:cNvPr id="27" name="TextBox 26"/>
          <p:cNvSpPr txBox="1"/>
          <p:nvPr/>
        </p:nvSpPr>
        <p:spPr>
          <a:xfrm>
            <a:off x="5310000" y="1350000"/>
            <a:ext cx="1380000" cy="200000"/>
          </a:xfrm>
          <a:prstGeom prst="rect">
            <a:avLst/>
          </a:prstGeom>
          <a:noFill/>
        </p:spPr>
        <p:txBody>
          <a:bodyPr wrap="square">
            <a:spAutoFit/>
          </a:bodyPr>
          <a:lstStyle/>
          <a:p>
            <a:pPr algn="l"/>
            <a:r>
              <a:rPr sz="800" b="1">
                <a:solidFill>
                  <a:srgbClr val="EB5757"/>
                </a:solidFill>
                <a:latin typeface="Montserrat"/>
              </a:rPr>
              <a:t>ORI + Safety Factor</a:t>
            </a:r>
          </a:p>
        </p:txBody>
      </p:sp>
      <p:sp>
        <p:nvSpPr>
          <p:cNvPr id="28" name="TextBox 27"/>
          <p:cNvSpPr txBox="1"/>
          <p:nvPr/>
        </p:nvSpPr>
        <p:spPr>
          <a:xfrm>
            <a:off x="5310000" y="1550000"/>
            <a:ext cx="1380000" cy="400000"/>
          </a:xfrm>
          <a:prstGeom prst="rect">
            <a:avLst/>
          </a:prstGeom>
          <a:noFill/>
        </p:spPr>
        <p:txBody>
          <a:bodyPr wrap="square">
            <a:spAutoFit/>
          </a:bodyPr>
          <a:lstStyle/>
          <a:p>
            <a:pPr algn="l"/>
            <a:r>
              <a:rPr sz="650" b="0">
                <a:solidFill>
                  <a:srgbClr val="E8EDF2"/>
                </a:solidFill>
                <a:latin typeface="Inter"/>
              </a:rPr>
              <a:t>Low / Attention
/ High Risk</a:t>
            </a:r>
          </a:p>
        </p:txBody>
      </p:sp>
      <p:sp>
        <p:nvSpPr>
          <p:cNvPr id="29" name="TextBox 28"/>
          <p:cNvSpPr txBox="1"/>
          <p:nvPr/>
        </p:nvSpPr>
        <p:spPr>
          <a:xfrm>
            <a:off x="6750000" y="1400000"/>
            <a:ext cx="100000" cy="200000"/>
          </a:xfrm>
          <a:prstGeom prst="rect">
            <a:avLst/>
          </a:prstGeom>
          <a:noFill/>
        </p:spPr>
        <p:txBody>
          <a:bodyPr wrap="square">
            <a:spAutoFit/>
          </a:bodyPr>
          <a:lstStyle/>
          <a:p>
            <a:pPr algn="ctr"/>
            <a:r>
              <a:rPr sz="1400" b="1">
                <a:solidFill>
                  <a:srgbClr val="F2C94C"/>
                </a:solidFill>
                <a:latin typeface="Inter"/>
              </a:rPr>
              <a:t>→</a:t>
            </a:r>
          </a:p>
        </p:txBody>
      </p:sp>
      <p:sp>
        <p:nvSpPr>
          <p:cNvPr id="30" name="Rounded Rectangle 29"/>
          <p:cNvSpPr/>
          <p:nvPr/>
        </p:nvSpPr>
        <p:spPr>
          <a:xfrm>
            <a:off x="6850000" y="1050000"/>
            <a:ext cx="1500000" cy="9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0000" y="1050000"/>
            <a:ext cx="28575" cy="900000"/>
          </a:xfrm>
          <a:prstGeom prst="rect">
            <a:avLst/>
          </a:prstGeom>
          <a:solidFill>
            <a:srgbClr val="BB6B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10000" y="1100000"/>
            <a:ext cx="400000" cy="300000"/>
          </a:xfrm>
          <a:prstGeom prst="rect">
            <a:avLst/>
          </a:prstGeom>
          <a:noFill/>
        </p:spPr>
        <p:txBody>
          <a:bodyPr wrap="square">
            <a:spAutoFit/>
          </a:bodyPr>
          <a:lstStyle/>
          <a:p>
            <a:pPr algn="l"/>
            <a:r>
              <a:rPr sz="1800" b="0">
                <a:solidFill>
                  <a:srgbClr val="E8EDF2"/>
                </a:solidFill>
                <a:latin typeface="Inter"/>
              </a:rPr>
              <a:t>📈</a:t>
            </a:r>
          </a:p>
        </p:txBody>
      </p:sp>
      <p:sp>
        <p:nvSpPr>
          <p:cNvPr id="33" name="TextBox 32"/>
          <p:cNvSpPr txBox="1"/>
          <p:nvPr/>
        </p:nvSpPr>
        <p:spPr>
          <a:xfrm>
            <a:off x="6910000" y="1350000"/>
            <a:ext cx="1380000" cy="200000"/>
          </a:xfrm>
          <a:prstGeom prst="rect">
            <a:avLst/>
          </a:prstGeom>
          <a:noFill/>
        </p:spPr>
        <p:txBody>
          <a:bodyPr wrap="square">
            <a:spAutoFit/>
          </a:bodyPr>
          <a:lstStyle/>
          <a:p>
            <a:pPr algn="l"/>
            <a:r>
              <a:rPr sz="800" b="1">
                <a:solidFill>
                  <a:srgbClr val="BB6BD9"/>
                </a:solidFill>
                <a:latin typeface="Montserrat"/>
              </a:rPr>
              <a:t>Dashboard + AI</a:t>
            </a:r>
          </a:p>
        </p:txBody>
      </p:sp>
      <p:sp>
        <p:nvSpPr>
          <p:cNvPr id="34" name="TextBox 33"/>
          <p:cNvSpPr txBox="1"/>
          <p:nvPr/>
        </p:nvSpPr>
        <p:spPr>
          <a:xfrm>
            <a:off x="6910000" y="1550000"/>
            <a:ext cx="1380000" cy="400000"/>
          </a:xfrm>
          <a:prstGeom prst="rect">
            <a:avLst/>
          </a:prstGeom>
          <a:noFill/>
        </p:spPr>
        <p:txBody>
          <a:bodyPr wrap="square">
            <a:spAutoFit/>
          </a:bodyPr>
          <a:lstStyle/>
          <a:p>
            <a:pPr algn="l"/>
            <a:r>
              <a:rPr sz="650" b="0">
                <a:solidFill>
                  <a:srgbClr val="E8EDF2"/>
                </a:solidFill>
                <a:latin typeface="Inter"/>
              </a:rPr>
              <a:t>Copilot RAG
Economia ~$4.4M</a:t>
            </a:r>
          </a:p>
        </p:txBody>
      </p:sp>
      <p:sp>
        <p:nvSpPr>
          <p:cNvPr id="35" name="TextBox 34"/>
          <p:cNvSpPr txBox="1"/>
          <p:nvPr/>
        </p:nvSpPr>
        <p:spPr>
          <a:xfrm>
            <a:off x="428625" y="2150000"/>
            <a:ext cx="8286750" cy="200000"/>
          </a:xfrm>
          <a:prstGeom prst="rect">
            <a:avLst/>
          </a:prstGeom>
          <a:noFill/>
        </p:spPr>
        <p:txBody>
          <a:bodyPr wrap="square">
            <a:spAutoFit/>
          </a:bodyPr>
          <a:lstStyle/>
          <a:p>
            <a:pPr algn="l"/>
            <a:r>
              <a:rPr sz="1100" b="1">
                <a:solidFill>
                  <a:srgbClr val="F2C94C"/>
                </a:solidFill>
                <a:latin typeface="Montserrat"/>
              </a:rPr>
              <a:t>RESULTADOS-CHAVE</a:t>
            </a:r>
          </a:p>
        </p:txBody>
      </p:sp>
      <p:sp>
        <p:nvSpPr>
          <p:cNvPr id="36" name="Rectangle 35"/>
          <p:cNvSpPr/>
          <p:nvPr/>
        </p:nvSpPr>
        <p:spPr>
          <a:xfrm>
            <a:off x="428625" y="2370000"/>
            <a:ext cx="8286750" cy="14288"/>
          </a:xfrm>
          <a:prstGeom prst="rect">
            <a:avLst/>
          </a:prstGeom>
          <a:solidFill>
            <a:srgbClr val="F2C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50000" y="2450000"/>
            <a:ext cx="1500000" cy="7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0000" y="2510000"/>
            <a:ext cx="1500000" cy="280000"/>
          </a:xfrm>
          <a:prstGeom prst="rect">
            <a:avLst/>
          </a:prstGeom>
          <a:noFill/>
        </p:spPr>
        <p:txBody>
          <a:bodyPr wrap="square">
            <a:spAutoFit/>
          </a:bodyPr>
          <a:lstStyle/>
          <a:p>
            <a:pPr algn="ctr"/>
            <a:r>
              <a:rPr sz="1600" b="1">
                <a:solidFill>
                  <a:srgbClr val="27AE60"/>
                </a:solidFill>
                <a:latin typeface="Montserrat"/>
              </a:rPr>
              <a:t>1.79%</a:t>
            </a:r>
          </a:p>
        </p:txBody>
      </p:sp>
      <p:sp>
        <p:nvSpPr>
          <p:cNvPr id="39" name="TextBox 38"/>
          <p:cNvSpPr txBox="1"/>
          <p:nvPr/>
        </p:nvSpPr>
        <p:spPr>
          <a:xfrm>
            <a:off x="450000" y="2800000"/>
            <a:ext cx="1500000" cy="150000"/>
          </a:xfrm>
          <a:prstGeom prst="rect">
            <a:avLst/>
          </a:prstGeom>
          <a:noFill/>
        </p:spPr>
        <p:txBody>
          <a:bodyPr wrap="square">
            <a:spAutoFit/>
          </a:bodyPr>
          <a:lstStyle/>
          <a:p>
            <a:pPr algn="ctr"/>
            <a:r>
              <a:rPr sz="800" b="1">
                <a:solidFill>
                  <a:srgbClr val="E8EDF2"/>
                </a:solidFill>
                <a:latin typeface="Montserrat"/>
              </a:rPr>
              <a:t>MAPE</a:t>
            </a:r>
          </a:p>
        </p:txBody>
      </p:sp>
      <p:sp>
        <p:nvSpPr>
          <p:cNvPr id="40" name="TextBox 39"/>
          <p:cNvSpPr txBox="1"/>
          <p:nvPr/>
        </p:nvSpPr>
        <p:spPr>
          <a:xfrm>
            <a:off x="450000" y="2950000"/>
            <a:ext cx="1500000" cy="150000"/>
          </a:xfrm>
          <a:prstGeom prst="rect">
            <a:avLst/>
          </a:prstGeom>
          <a:noFill/>
        </p:spPr>
        <p:txBody>
          <a:bodyPr wrap="square">
            <a:spAutoFit/>
          </a:bodyPr>
          <a:lstStyle/>
          <a:p>
            <a:pPr algn="ctr"/>
            <a:r>
              <a:rPr sz="650" b="0">
                <a:solidFill>
                  <a:srgbClr val="E8EDF2"/>
                </a:solidFill>
                <a:latin typeface="Inter"/>
              </a:rPr>
              <a:t>(t+10 min)</a:t>
            </a:r>
          </a:p>
        </p:txBody>
      </p:sp>
      <p:sp>
        <p:nvSpPr>
          <p:cNvPr id="41" name="Rounded Rectangle 40"/>
          <p:cNvSpPr/>
          <p:nvPr/>
        </p:nvSpPr>
        <p:spPr>
          <a:xfrm>
            <a:off x="2050000" y="2450000"/>
            <a:ext cx="1500000" cy="7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50000" y="2510000"/>
            <a:ext cx="1500000" cy="280000"/>
          </a:xfrm>
          <a:prstGeom prst="rect">
            <a:avLst/>
          </a:prstGeom>
          <a:noFill/>
        </p:spPr>
        <p:txBody>
          <a:bodyPr wrap="square">
            <a:spAutoFit/>
          </a:bodyPr>
          <a:lstStyle/>
          <a:p>
            <a:pPr algn="ctr"/>
            <a:r>
              <a:rPr sz="1600" b="1">
                <a:solidFill>
                  <a:srgbClr val="2D9CDB"/>
                </a:solidFill>
                <a:latin typeface="Montserrat"/>
              </a:rPr>
              <a:t>R² = 0.99</a:t>
            </a:r>
          </a:p>
        </p:txBody>
      </p:sp>
      <p:sp>
        <p:nvSpPr>
          <p:cNvPr id="43" name="TextBox 42"/>
          <p:cNvSpPr txBox="1"/>
          <p:nvPr/>
        </p:nvSpPr>
        <p:spPr>
          <a:xfrm>
            <a:off x="2050000" y="2800000"/>
            <a:ext cx="1500000" cy="150000"/>
          </a:xfrm>
          <a:prstGeom prst="rect">
            <a:avLst/>
          </a:prstGeom>
          <a:noFill/>
        </p:spPr>
        <p:txBody>
          <a:bodyPr wrap="square">
            <a:spAutoFit/>
          </a:bodyPr>
          <a:lstStyle/>
          <a:p>
            <a:pPr algn="ctr"/>
            <a:r>
              <a:rPr sz="800" b="1">
                <a:solidFill>
                  <a:srgbClr val="E8EDF2"/>
                </a:solidFill>
                <a:latin typeface="Montserrat"/>
              </a:rPr>
              <a:t>Aderência</a:t>
            </a:r>
          </a:p>
        </p:txBody>
      </p:sp>
      <p:sp>
        <p:nvSpPr>
          <p:cNvPr id="44" name="TextBox 43"/>
          <p:cNvSpPr txBox="1"/>
          <p:nvPr/>
        </p:nvSpPr>
        <p:spPr>
          <a:xfrm>
            <a:off x="2050000" y="2950000"/>
            <a:ext cx="1500000" cy="150000"/>
          </a:xfrm>
          <a:prstGeom prst="rect">
            <a:avLst/>
          </a:prstGeom>
          <a:noFill/>
        </p:spPr>
        <p:txBody>
          <a:bodyPr wrap="square">
            <a:spAutoFit/>
          </a:bodyPr>
          <a:lstStyle/>
          <a:p>
            <a:pPr algn="ctr"/>
            <a:r>
              <a:rPr sz="650" b="0">
                <a:solidFill>
                  <a:srgbClr val="E8EDF2"/>
                </a:solidFill>
                <a:latin typeface="Inter"/>
              </a:rPr>
              <a:t>(Regressão)</a:t>
            </a:r>
          </a:p>
        </p:txBody>
      </p:sp>
      <p:sp>
        <p:nvSpPr>
          <p:cNvPr id="45" name="Rounded Rectangle 44"/>
          <p:cNvSpPr/>
          <p:nvPr/>
        </p:nvSpPr>
        <p:spPr>
          <a:xfrm>
            <a:off x="3650000" y="2450000"/>
            <a:ext cx="1500000" cy="7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0000" y="2510000"/>
            <a:ext cx="1500000" cy="280000"/>
          </a:xfrm>
          <a:prstGeom prst="rect">
            <a:avLst/>
          </a:prstGeom>
          <a:noFill/>
        </p:spPr>
        <p:txBody>
          <a:bodyPr wrap="square">
            <a:spAutoFit/>
          </a:bodyPr>
          <a:lstStyle/>
          <a:p>
            <a:pPr algn="ctr"/>
            <a:r>
              <a:rPr sz="1600" b="1">
                <a:solidFill>
                  <a:srgbClr val="F2C94C"/>
                </a:solidFill>
                <a:latin typeface="Montserrat"/>
              </a:rPr>
              <a:t>-61%</a:t>
            </a:r>
          </a:p>
        </p:txBody>
      </p:sp>
      <p:sp>
        <p:nvSpPr>
          <p:cNvPr id="47" name="TextBox 46"/>
          <p:cNvSpPr txBox="1"/>
          <p:nvPr/>
        </p:nvSpPr>
        <p:spPr>
          <a:xfrm>
            <a:off x="3650000" y="2800000"/>
            <a:ext cx="1500000" cy="150000"/>
          </a:xfrm>
          <a:prstGeom prst="rect">
            <a:avLst/>
          </a:prstGeom>
          <a:noFill/>
        </p:spPr>
        <p:txBody>
          <a:bodyPr wrap="square">
            <a:spAutoFit/>
          </a:bodyPr>
          <a:lstStyle/>
          <a:p>
            <a:pPr algn="ctr"/>
            <a:r>
              <a:rPr sz="800" b="1">
                <a:solidFill>
                  <a:srgbClr val="E8EDF2"/>
                </a:solidFill>
                <a:latin typeface="Montserrat"/>
              </a:rPr>
              <a:t>Redução Erro</a:t>
            </a:r>
          </a:p>
        </p:txBody>
      </p:sp>
      <p:sp>
        <p:nvSpPr>
          <p:cNvPr id="48" name="TextBox 47"/>
          <p:cNvSpPr txBox="1"/>
          <p:nvPr/>
        </p:nvSpPr>
        <p:spPr>
          <a:xfrm>
            <a:off x="3650000" y="2950000"/>
            <a:ext cx="1500000" cy="150000"/>
          </a:xfrm>
          <a:prstGeom prst="rect">
            <a:avLst/>
          </a:prstGeom>
          <a:noFill/>
        </p:spPr>
        <p:txBody>
          <a:bodyPr wrap="square">
            <a:spAutoFit/>
          </a:bodyPr>
          <a:lstStyle/>
          <a:p>
            <a:pPr algn="ctr"/>
            <a:r>
              <a:rPr sz="650" b="0">
                <a:solidFill>
                  <a:srgbClr val="E8EDF2"/>
                </a:solidFill>
                <a:latin typeface="Inter"/>
              </a:rPr>
              <a:t>(vs. Benchmarks)</a:t>
            </a:r>
          </a:p>
        </p:txBody>
      </p:sp>
      <p:sp>
        <p:nvSpPr>
          <p:cNvPr id="49" name="Rounded Rectangle 48"/>
          <p:cNvSpPr/>
          <p:nvPr/>
        </p:nvSpPr>
        <p:spPr>
          <a:xfrm>
            <a:off x="5250000" y="2450000"/>
            <a:ext cx="1500000" cy="7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50000" y="2510000"/>
            <a:ext cx="1500000" cy="280000"/>
          </a:xfrm>
          <a:prstGeom prst="rect">
            <a:avLst/>
          </a:prstGeom>
          <a:noFill/>
        </p:spPr>
        <p:txBody>
          <a:bodyPr wrap="square">
            <a:spAutoFit/>
          </a:bodyPr>
          <a:lstStyle/>
          <a:p>
            <a:pPr algn="ctr"/>
            <a:r>
              <a:rPr sz="1600" b="1">
                <a:solidFill>
                  <a:srgbClr val="EB5757"/>
                </a:solidFill>
                <a:latin typeface="Montserrat"/>
              </a:rPr>
              <a:t>-93%</a:t>
            </a:r>
          </a:p>
        </p:txBody>
      </p:sp>
      <p:sp>
        <p:nvSpPr>
          <p:cNvPr id="51" name="TextBox 50"/>
          <p:cNvSpPr txBox="1"/>
          <p:nvPr/>
        </p:nvSpPr>
        <p:spPr>
          <a:xfrm>
            <a:off x="5250000" y="2800000"/>
            <a:ext cx="1500000" cy="150000"/>
          </a:xfrm>
          <a:prstGeom prst="rect">
            <a:avLst/>
          </a:prstGeom>
          <a:noFill/>
        </p:spPr>
        <p:txBody>
          <a:bodyPr wrap="square">
            <a:spAutoFit/>
          </a:bodyPr>
          <a:lstStyle/>
          <a:p>
            <a:pPr algn="ctr"/>
            <a:r>
              <a:rPr sz="800" b="1">
                <a:solidFill>
                  <a:srgbClr val="E8EDF2"/>
                </a:solidFill>
                <a:latin typeface="Montserrat"/>
              </a:rPr>
              <a:t>Blackouts</a:t>
            </a:r>
          </a:p>
        </p:txBody>
      </p:sp>
      <p:sp>
        <p:nvSpPr>
          <p:cNvPr id="52" name="TextBox 51"/>
          <p:cNvSpPr txBox="1"/>
          <p:nvPr/>
        </p:nvSpPr>
        <p:spPr>
          <a:xfrm>
            <a:off x="5250000" y="2950000"/>
            <a:ext cx="1500000" cy="150000"/>
          </a:xfrm>
          <a:prstGeom prst="rect">
            <a:avLst/>
          </a:prstGeom>
          <a:noFill/>
        </p:spPr>
        <p:txBody>
          <a:bodyPr wrap="square">
            <a:spAutoFit/>
          </a:bodyPr>
          <a:lstStyle/>
          <a:p>
            <a:pPr algn="ctr"/>
            <a:r>
              <a:rPr sz="650" b="0">
                <a:solidFill>
                  <a:srgbClr val="E8EDF2"/>
                </a:solidFill>
                <a:latin typeface="Inter"/>
              </a:rPr>
              <a:t>(3 vs 47)</a:t>
            </a:r>
          </a:p>
        </p:txBody>
      </p:sp>
      <p:sp>
        <p:nvSpPr>
          <p:cNvPr id="53" name="Rounded Rectangle 52"/>
          <p:cNvSpPr/>
          <p:nvPr/>
        </p:nvSpPr>
        <p:spPr>
          <a:xfrm>
            <a:off x="6850000" y="2450000"/>
            <a:ext cx="1500000" cy="7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0000" y="2510000"/>
            <a:ext cx="1500000" cy="280000"/>
          </a:xfrm>
          <a:prstGeom prst="rect">
            <a:avLst/>
          </a:prstGeom>
          <a:noFill/>
        </p:spPr>
        <p:txBody>
          <a:bodyPr wrap="square">
            <a:spAutoFit/>
          </a:bodyPr>
          <a:lstStyle/>
          <a:p>
            <a:pPr algn="ctr"/>
            <a:r>
              <a:rPr sz="1600" b="1">
                <a:solidFill>
                  <a:srgbClr val="BB6BD9"/>
                </a:solidFill>
                <a:latin typeface="Montserrat"/>
              </a:rPr>
              <a:t>~$4.4M</a:t>
            </a:r>
          </a:p>
        </p:txBody>
      </p:sp>
      <p:sp>
        <p:nvSpPr>
          <p:cNvPr id="55" name="TextBox 54"/>
          <p:cNvSpPr txBox="1"/>
          <p:nvPr/>
        </p:nvSpPr>
        <p:spPr>
          <a:xfrm>
            <a:off x="6850000" y="2800000"/>
            <a:ext cx="1500000" cy="150000"/>
          </a:xfrm>
          <a:prstGeom prst="rect">
            <a:avLst/>
          </a:prstGeom>
          <a:noFill/>
        </p:spPr>
        <p:txBody>
          <a:bodyPr wrap="square">
            <a:spAutoFit/>
          </a:bodyPr>
          <a:lstStyle/>
          <a:p>
            <a:pPr algn="ctr"/>
            <a:r>
              <a:rPr sz="800" b="1">
                <a:solidFill>
                  <a:srgbClr val="E8EDF2"/>
                </a:solidFill>
                <a:latin typeface="Montserrat"/>
              </a:rPr>
              <a:t>Economia/Ano</a:t>
            </a:r>
          </a:p>
        </p:txBody>
      </p:sp>
      <p:sp>
        <p:nvSpPr>
          <p:cNvPr id="56" name="TextBox 55"/>
          <p:cNvSpPr txBox="1"/>
          <p:nvPr/>
        </p:nvSpPr>
        <p:spPr>
          <a:xfrm>
            <a:off x="6850000" y="2950000"/>
            <a:ext cx="1500000" cy="150000"/>
          </a:xfrm>
          <a:prstGeom prst="rect">
            <a:avLst/>
          </a:prstGeom>
          <a:noFill/>
        </p:spPr>
        <p:txBody>
          <a:bodyPr wrap="square">
            <a:spAutoFit/>
          </a:bodyPr>
          <a:lstStyle/>
          <a:p>
            <a:pPr algn="ctr"/>
            <a:r>
              <a:rPr sz="650" b="0">
                <a:solidFill>
                  <a:srgbClr val="E8EDF2"/>
                </a:solidFill>
                <a:latin typeface="Inter"/>
              </a:rPr>
              <a:t>(OpEx)</a:t>
            </a:r>
          </a:p>
        </p:txBody>
      </p:sp>
      <p:sp>
        <p:nvSpPr>
          <p:cNvPr id="57" name="Rounded Rectangle 56"/>
          <p:cNvSpPr/>
          <p:nvPr/>
        </p:nvSpPr>
        <p:spPr>
          <a:xfrm>
            <a:off x="428625" y="3350000"/>
            <a:ext cx="8286750" cy="500000"/>
          </a:xfrm>
          <a:prstGeom prst="roundRect">
            <a:avLst>
              <a:gd name="adj" fmla="val 5000"/>
            </a:avLst>
          </a:prstGeom>
          <a:solidFill>
            <a:srgbClr val="1E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8625" y="3350000"/>
            <a:ext cx="28575" cy="500000"/>
          </a:xfrm>
          <a:prstGeom prst="rect">
            <a:avLst/>
          </a:prstGeom>
          <a:solidFill>
            <a:srgbClr val="F2C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8625" y="3380000"/>
            <a:ext cx="8100000" cy="200000"/>
          </a:xfrm>
          <a:prstGeom prst="rect">
            <a:avLst/>
          </a:prstGeom>
          <a:noFill/>
        </p:spPr>
        <p:txBody>
          <a:bodyPr wrap="square">
            <a:spAutoFit/>
          </a:bodyPr>
          <a:lstStyle/>
          <a:p>
            <a:pPr algn="l"/>
            <a:r>
              <a:rPr sz="900" b="1">
                <a:solidFill>
                  <a:srgbClr val="F2C94C"/>
                </a:solidFill>
                <a:latin typeface="Montserrat"/>
              </a:rPr>
              <a:t>CONTRIBUIÇÕES PRINCIPAIS</a:t>
            </a:r>
          </a:p>
        </p:txBody>
      </p:sp>
      <p:sp>
        <p:nvSpPr>
          <p:cNvPr id="60" name="TextBox 59"/>
          <p:cNvSpPr txBox="1"/>
          <p:nvPr/>
        </p:nvSpPr>
        <p:spPr>
          <a:xfrm>
            <a:off x="508625" y="3550000"/>
            <a:ext cx="8100000" cy="100000"/>
          </a:xfrm>
          <a:prstGeom prst="rect">
            <a:avLst/>
          </a:prstGeom>
          <a:noFill/>
        </p:spPr>
        <p:txBody>
          <a:bodyPr wrap="square">
            <a:spAutoFit/>
          </a:bodyPr>
          <a:lstStyle/>
          <a:p>
            <a:pPr algn="l"/>
            <a:r>
              <a:rPr sz="700" b="0">
                <a:solidFill>
                  <a:srgbClr val="E8EDF2"/>
                </a:solidFill>
                <a:latin typeface="Inter"/>
              </a:rPr>
              <a:t>① Arquitetura Híbrida CEEMDAN-EWT-TFT Aggregator — precisão SOTA + eficiência (1 modelo vs. 13)</a:t>
            </a:r>
          </a:p>
        </p:txBody>
      </p:sp>
      <p:sp>
        <p:nvSpPr>
          <p:cNvPr id="61" name="TextBox 60"/>
          <p:cNvSpPr txBox="1"/>
          <p:nvPr/>
        </p:nvSpPr>
        <p:spPr>
          <a:xfrm>
            <a:off x="508625" y="3645000"/>
            <a:ext cx="8100000" cy="100000"/>
          </a:xfrm>
          <a:prstGeom prst="rect">
            <a:avLst/>
          </a:prstGeom>
          <a:noFill/>
        </p:spPr>
        <p:txBody>
          <a:bodyPr wrap="square">
            <a:spAutoFit/>
          </a:bodyPr>
          <a:lstStyle/>
          <a:p>
            <a:pPr algn="l"/>
            <a:r>
              <a:rPr sz="700" b="0">
                <a:solidFill>
                  <a:srgbClr val="E8EDF2"/>
                </a:solidFill>
                <a:latin typeface="Inter"/>
              </a:rPr>
              <a:t>② Dashboard DSS com ORI + análise tecno-econômica + Safety Factor calibrável</a:t>
            </a:r>
          </a:p>
        </p:txBody>
      </p:sp>
      <p:sp>
        <p:nvSpPr>
          <p:cNvPr id="62" name="TextBox 61"/>
          <p:cNvSpPr txBox="1"/>
          <p:nvPr/>
        </p:nvSpPr>
        <p:spPr>
          <a:xfrm>
            <a:off x="508625" y="3740000"/>
            <a:ext cx="8100000" cy="100000"/>
          </a:xfrm>
          <a:prstGeom prst="rect">
            <a:avLst/>
          </a:prstGeom>
          <a:noFill/>
        </p:spPr>
        <p:txBody>
          <a:bodyPr wrap="square">
            <a:spAutoFit/>
          </a:bodyPr>
          <a:lstStyle/>
          <a:p>
            <a:pPr algn="l"/>
            <a:r>
              <a:rPr sz="700" b="0">
                <a:solidFill>
                  <a:srgbClr val="E8EDF2"/>
                </a:solidFill>
                <a:latin typeface="Inter"/>
              </a:rPr>
              <a:t>③ AI Copilot com RAG (agente proativo + interativo) para suporte contextual ao operador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708374" y="1945779"/>
            <a:ext cx="3727252" cy="857250"/>
          </a:xfrm>
          <a:prstGeom prst="rect">
            <a:avLst/>
          </a:prstGeom>
          <a:noFill/>
          <a:ln/>
        </p:spPr>
        <p:txBody>
          <a:bodyPr wrap="none" lIns="0" tIns="0" rIns="0" bIns="0" rtlCol="0" anchor="t">
            <a:spAutoFit/>
          </a:bodyPr>
          <a:lstStyle/>
          <a:p>
            <a:pPr algn="ctr" indent="0" marL="0">
              <a:lnSpc>
                <a:spcPts val="6800"/>
              </a:lnSpc>
              <a:buNone/>
            </a:pPr>
            <a:r>
              <a:rPr lang="en-US" sz="6218" b="1" dirty="0">
                <a:solidFill>
                  <a:srgbClr val="F2C94C">
                    <a:alpha val="12000"/>
                  </a:srgbClr>
                </a:solidFill>
                <a:latin typeface="Montserrat" pitchFamily="34" charset="0"/>
                <a:ea typeface="Montserrat" pitchFamily="34" charset="-122"/>
                <a:cs typeface="Montserrat" pitchFamily="34" charset="-120"/>
              </a:rPr>
              <a:t>02</a:t>
            </a:r>
            <a:endParaRPr lang="en-US" sz="6218" dirty="0"/>
          </a:p>
        </p:txBody>
      </p:sp>
      <p:sp>
        <p:nvSpPr>
          <p:cNvPr id="5" name="Text 1"/>
          <p:cNvSpPr/>
          <p:nvPr/>
        </p:nvSpPr>
        <p:spPr>
          <a:xfrm>
            <a:off x="2708374" y="2660154"/>
            <a:ext cx="3727252" cy="366117"/>
          </a:xfrm>
          <a:prstGeom prst="rect">
            <a:avLst/>
          </a:prstGeom>
          <a:noFill/>
          <a:ln/>
        </p:spPr>
        <p:txBody>
          <a:bodyPr wrap="none" lIns="0" tIns="0" rIns="0" bIns="0" rtlCol="0" anchor="t">
            <a:spAutoFit/>
          </a:bodyPr>
          <a:lstStyle/>
          <a:p>
            <a:pPr algn="ctr" indent="0" marL="0">
              <a:lnSpc>
                <a:spcPts val="2800"/>
              </a:lnSpc>
              <a:buNone/>
            </a:pPr>
            <a:r>
              <a:rPr lang="en-US" sz="2121" b="1" dirty="0">
                <a:solidFill>
                  <a:srgbClr val="F2C94C"/>
                </a:solidFill>
                <a:latin typeface="Montserrat" pitchFamily="34" charset="0"/>
                <a:ea typeface="Montserrat" pitchFamily="34" charset="-122"/>
                <a:cs typeface="Montserrat" pitchFamily="34" charset="-120"/>
              </a:rPr>
              <a:t>Fundamentação Teórica</a:t>
            </a:r>
            <a:endParaRPr lang="en-US" sz="212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327452"/>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CURVA DE POTÊNCIA E CONVERSÃO DE ENERGIA</a:t>
            </a:r>
            <a:endParaRPr lang="en-US" sz="1808" dirty="0"/>
          </a:p>
        </p:txBody>
      </p:sp>
      <p:pic>
        <p:nvPicPr>
          <p:cNvPr id="7" name="Image 1" descr="preencoded.png">    </p:cNvPr>
          <p:cNvPicPr>
            <a:picLocks noChangeAspect="1"/>
          </p:cNvPicPr>
          <p:nvPr/>
        </p:nvPicPr>
        <p:blipFill>
          <a:blip r:embed="rId2"/>
          <a:stretch>
            <a:fillRect/>
          </a:stretch>
        </p:blipFill>
        <p:spPr>
          <a:xfrm>
            <a:off x="428625" y="1193899"/>
            <a:ext cx="142875" cy="142875"/>
          </a:xfrm>
          <a:prstGeom prst="rect">
            <a:avLst/>
          </a:prstGeom>
        </p:spPr>
      </p:pic>
      <p:sp>
        <p:nvSpPr>
          <p:cNvPr id="8" name="Text 3"/>
          <p:cNvSpPr/>
          <p:nvPr/>
        </p:nvSpPr>
        <p:spPr>
          <a:xfrm>
            <a:off x="657225" y="1169789"/>
            <a:ext cx="2532459"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Dinâmica da Curva de Potência</a:t>
            </a:r>
            <a:endParaRPr lang="en-US" sz="1090" dirty="0"/>
          </a:p>
        </p:txBody>
      </p:sp>
      <p:sp>
        <p:nvSpPr>
          <p:cNvPr id="9" name="Text 4"/>
          <p:cNvSpPr/>
          <p:nvPr/>
        </p:nvSpPr>
        <p:spPr>
          <a:xfrm>
            <a:off x="428625" y="1503759"/>
            <a:ext cx="3964781"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A operação da turbina é dividida em 4 regiões distintas baseadas na velocidade do vento:</a:t>
            </a:r>
            <a:endParaRPr lang="en-US" sz="834" dirty="0"/>
          </a:p>
        </p:txBody>
      </p:sp>
      <p:sp>
        <p:nvSpPr>
          <p:cNvPr id="10" name="Text 5"/>
          <p:cNvSpPr/>
          <p:nvPr/>
        </p:nvSpPr>
        <p:spPr>
          <a:xfrm>
            <a:off x="557213" y="1975247"/>
            <a:ext cx="889397"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Região 1 (Cut-in):</a:t>
            </a:r>
            <a:endParaRPr lang="en-US" sz="734" dirty="0"/>
          </a:p>
        </p:txBody>
      </p:sp>
      <p:sp>
        <p:nvSpPr>
          <p:cNvPr id="11" name="Text 6"/>
          <p:cNvSpPr/>
          <p:nvPr/>
        </p:nvSpPr>
        <p:spPr>
          <a:xfrm>
            <a:off x="1446609" y="1975247"/>
            <a:ext cx="1771650" cy="128588"/>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Vento insuficiente, turbina parada.</a:t>
            </a:r>
            <a:endParaRPr lang="en-US" sz="780" dirty="0"/>
          </a:p>
        </p:txBody>
      </p:sp>
      <p:sp>
        <p:nvSpPr>
          <p:cNvPr id="12" name="Text 7"/>
          <p:cNvSpPr/>
          <p:nvPr/>
        </p:nvSpPr>
        <p:spPr>
          <a:xfrm>
            <a:off x="557213" y="2160984"/>
            <a:ext cx="894755"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Região 2 (MPPT):</a:t>
            </a:r>
            <a:endParaRPr lang="en-US" sz="734" dirty="0"/>
          </a:p>
        </p:txBody>
      </p:sp>
      <p:sp>
        <p:nvSpPr>
          <p:cNvPr id="13" name="Text 8"/>
          <p:cNvSpPr/>
          <p:nvPr/>
        </p:nvSpPr>
        <p:spPr>
          <a:xfrm>
            <a:off x="557213" y="2160984"/>
            <a:ext cx="3807619" cy="257175"/>
          </a:xfrm>
          <a:prstGeom prst="rect">
            <a:avLst/>
          </a:prstGeom>
          <a:noFill/>
          <a:ln/>
        </p:spPr>
        <p:txBody>
          <a:bodyPr wrap="squar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Otimização de torque para máxima extração de potência (Cp max).</a:t>
            </a:r>
            <a:endParaRPr lang="en-US" sz="780" dirty="0"/>
          </a:p>
        </p:txBody>
      </p:sp>
      <p:sp>
        <p:nvSpPr>
          <p:cNvPr id="14" name="Text 9"/>
          <p:cNvSpPr/>
          <p:nvPr/>
        </p:nvSpPr>
        <p:spPr>
          <a:xfrm>
            <a:off x="557213" y="2475309"/>
            <a:ext cx="882253"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Região 3 (Rated):</a:t>
            </a:r>
            <a:endParaRPr lang="en-US" sz="734" dirty="0"/>
          </a:p>
        </p:txBody>
      </p:sp>
      <p:sp>
        <p:nvSpPr>
          <p:cNvPr id="15" name="Text 10"/>
          <p:cNvSpPr/>
          <p:nvPr/>
        </p:nvSpPr>
        <p:spPr>
          <a:xfrm>
            <a:off x="1439466" y="2475309"/>
            <a:ext cx="2494955" cy="128588"/>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Potência nominal limitada pelo controle de Pitch.</a:t>
            </a:r>
            <a:endParaRPr lang="en-US" sz="780" dirty="0"/>
          </a:p>
        </p:txBody>
      </p:sp>
      <p:sp>
        <p:nvSpPr>
          <p:cNvPr id="16" name="Text 11"/>
          <p:cNvSpPr/>
          <p:nvPr/>
        </p:nvSpPr>
        <p:spPr>
          <a:xfrm>
            <a:off x="557213" y="2661047"/>
            <a:ext cx="991195"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Região 4 (Cut-out):</a:t>
            </a:r>
            <a:endParaRPr lang="en-US" sz="734" dirty="0"/>
          </a:p>
        </p:txBody>
      </p:sp>
      <p:sp>
        <p:nvSpPr>
          <p:cNvPr id="17" name="Text 12"/>
          <p:cNvSpPr/>
          <p:nvPr/>
        </p:nvSpPr>
        <p:spPr>
          <a:xfrm>
            <a:off x="557213" y="2661047"/>
            <a:ext cx="3359348" cy="257175"/>
          </a:xfrm>
          <a:prstGeom prst="rect">
            <a:avLst/>
          </a:prstGeom>
          <a:noFill/>
          <a:ln/>
        </p:spPr>
        <p:txBody>
          <a:bodyPr wrap="squar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Desligamento de segurança para evitar danos estruturais.</a:t>
            </a:r>
            <a:endParaRPr lang="en-US" sz="780" dirty="0"/>
          </a:p>
        </p:txBody>
      </p:sp>
      <p:sp>
        <p:nvSpPr>
          <p:cNvPr id="18" name="Shape 13"/>
          <p:cNvSpPr/>
          <p:nvPr/>
        </p:nvSpPr>
        <p:spPr>
          <a:xfrm>
            <a:off x="428625" y="3089672"/>
            <a:ext cx="3964781" cy="1632347"/>
          </a:xfrm>
          <a:prstGeom prst="rect">
            <a:avLst/>
          </a:prstGeom>
          <a:solidFill>
            <a:srgbClr val="1A4B6E">
              <a:alpha val="20000"/>
            </a:srgbClr>
          </a:solidFill>
          <a:ln w="18288">
            <a:solidFill>
              <a:srgbClr val="F2C94C">
                <a:alpha val="40000"/>
              </a:srgbClr>
            </a:solidFill>
            <a:prstDash val="dash"/>
          </a:ln>
        </p:spPr>
      </p:sp>
      <p:pic>
        <p:nvPicPr>
          <p:cNvPr id="19" name="Image 2" descr="preencoded.png">    </p:cNvPr>
          <p:cNvPicPr>
            <a:picLocks noChangeAspect="1"/>
          </p:cNvPicPr>
          <p:nvPr/>
        </p:nvPicPr>
        <p:blipFill>
          <a:blip r:embed="rId3">
            <a:alphaModFix amt="70000"/>
          </a:blip>
          <a:stretch>
            <a:fillRect/>
          </a:stretch>
        </p:blipFill>
        <p:spPr>
          <a:xfrm>
            <a:off x="2268141" y="3612059"/>
            <a:ext cx="285750" cy="228600"/>
          </a:xfrm>
          <a:prstGeom prst="rect">
            <a:avLst/>
          </a:prstGeom>
        </p:spPr>
      </p:pic>
      <p:sp>
        <p:nvSpPr>
          <p:cNvPr id="20" name="Text 14"/>
          <p:cNvSpPr/>
          <p:nvPr/>
        </p:nvSpPr>
        <p:spPr>
          <a:xfrm>
            <a:off x="1481435" y="3926384"/>
            <a:ext cx="1859161"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2.1 da Dissertação</a:t>
            </a:r>
            <a:endParaRPr lang="en-US" sz="784" dirty="0"/>
          </a:p>
        </p:txBody>
      </p:sp>
      <p:sp>
        <p:nvSpPr>
          <p:cNvPr id="21" name="Text 15"/>
          <p:cNvSpPr/>
          <p:nvPr/>
        </p:nvSpPr>
        <p:spPr>
          <a:xfrm>
            <a:off x="1409998" y="4094262"/>
            <a:ext cx="2002036"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F2C94C">
                    <a:alpha val="60000"/>
                  </a:srgbClr>
                </a:solidFill>
                <a:latin typeface="Inter" pitchFamily="34" charset="0"/>
                <a:ea typeface="Inter" pitchFamily="34" charset="-122"/>
                <a:cs typeface="Inter" pitchFamily="34" charset="-120"/>
              </a:rPr>
              <a:t>Curva de Potência Típica e Regiões Operacionais</a:t>
            </a:r>
            <a:endParaRPr lang="en-US" sz="621" dirty="0"/>
          </a:p>
        </p:txBody>
      </p:sp>
      <p:sp>
        <p:nvSpPr>
          <p:cNvPr id="22" name="Text 16"/>
          <p:cNvSpPr/>
          <p:nvPr/>
        </p:nvSpPr>
        <p:spPr>
          <a:xfrm>
            <a:off x="428625" y="4779169"/>
            <a:ext cx="3964781"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Adaptado de Medeiros et al. (2024)</a:t>
            </a:r>
            <a:endParaRPr lang="en-US" sz="621" dirty="0"/>
          </a:p>
        </p:txBody>
      </p:sp>
      <p:pic>
        <p:nvPicPr>
          <p:cNvPr id="23" name="Image 3" descr="preencoded.png">    </p:cNvPr>
          <p:cNvPicPr>
            <a:picLocks noChangeAspect="1"/>
          </p:cNvPicPr>
          <p:nvPr/>
        </p:nvPicPr>
        <p:blipFill>
          <a:blip r:embed="rId4"/>
          <a:stretch>
            <a:fillRect/>
          </a:stretch>
        </p:blipFill>
        <p:spPr>
          <a:xfrm>
            <a:off x="4750594" y="1193899"/>
            <a:ext cx="178594" cy="142875"/>
          </a:xfrm>
          <a:prstGeom prst="rect">
            <a:avLst/>
          </a:prstGeom>
        </p:spPr>
      </p:pic>
      <p:sp>
        <p:nvSpPr>
          <p:cNvPr id="24" name="Text 17"/>
          <p:cNvSpPr/>
          <p:nvPr/>
        </p:nvSpPr>
        <p:spPr>
          <a:xfrm>
            <a:off x="5014913" y="1169789"/>
            <a:ext cx="1869877"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Topologia WECS Tipo 4</a:t>
            </a:r>
            <a:endParaRPr lang="en-US" sz="1090" dirty="0"/>
          </a:p>
        </p:txBody>
      </p:sp>
      <p:sp>
        <p:nvSpPr>
          <p:cNvPr id="25" name="Text 18"/>
          <p:cNvSpPr/>
          <p:nvPr/>
        </p:nvSpPr>
        <p:spPr>
          <a:xfrm>
            <a:off x="4750594" y="1503759"/>
            <a:ext cx="3964781"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Padrão para eólica offshore devido à robustez e flexibilidade de controle.</a:t>
            </a:r>
            <a:endParaRPr lang="en-US" sz="834" dirty="0"/>
          </a:p>
        </p:txBody>
      </p:sp>
      <p:sp>
        <p:nvSpPr>
          <p:cNvPr id="26" name="Text 19"/>
          <p:cNvSpPr/>
          <p:nvPr/>
        </p:nvSpPr>
        <p:spPr>
          <a:xfrm>
            <a:off x="4879181" y="1803797"/>
            <a:ext cx="798314"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Gerador PMSG:</a:t>
            </a:r>
            <a:endParaRPr lang="en-US" sz="734" dirty="0"/>
          </a:p>
        </p:txBody>
      </p:sp>
      <p:sp>
        <p:nvSpPr>
          <p:cNvPr id="27" name="Text 20"/>
          <p:cNvSpPr/>
          <p:nvPr/>
        </p:nvSpPr>
        <p:spPr>
          <a:xfrm>
            <a:off x="4879181" y="1803797"/>
            <a:ext cx="3834408" cy="257175"/>
          </a:xfrm>
          <a:prstGeom prst="rect">
            <a:avLst/>
          </a:prstGeom>
          <a:noFill/>
          <a:ln/>
        </p:spPr>
        <p:txBody>
          <a:bodyPr wrap="squar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Síncrono de ímãs permanentes, sem caixa de engrenagens (gearless).</a:t>
            </a:r>
            <a:endParaRPr lang="en-US" sz="780" dirty="0"/>
          </a:p>
        </p:txBody>
      </p:sp>
      <p:sp>
        <p:nvSpPr>
          <p:cNvPr id="28" name="Text 21"/>
          <p:cNvSpPr/>
          <p:nvPr/>
        </p:nvSpPr>
        <p:spPr>
          <a:xfrm>
            <a:off x="4879181" y="2118122"/>
            <a:ext cx="1121569"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Conversor Full-Scale:</a:t>
            </a:r>
            <a:endParaRPr lang="en-US" sz="734" dirty="0"/>
          </a:p>
        </p:txBody>
      </p:sp>
      <p:sp>
        <p:nvSpPr>
          <p:cNvPr id="29" name="Text 22"/>
          <p:cNvSpPr/>
          <p:nvPr/>
        </p:nvSpPr>
        <p:spPr>
          <a:xfrm>
            <a:off x="4879181" y="2118122"/>
            <a:ext cx="3616523" cy="257175"/>
          </a:xfrm>
          <a:prstGeom prst="rect">
            <a:avLst/>
          </a:prstGeom>
          <a:noFill/>
          <a:ln/>
        </p:spPr>
        <p:txBody>
          <a:bodyPr wrap="squar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Conversor Back-to-Back (AC-DC-AC) desacopla totalmente a frequência do gerador da rede.</a:t>
            </a:r>
            <a:endParaRPr lang="en-US" sz="780" dirty="0"/>
          </a:p>
        </p:txBody>
      </p:sp>
      <p:sp>
        <p:nvSpPr>
          <p:cNvPr id="30" name="Text 23"/>
          <p:cNvSpPr/>
          <p:nvPr/>
        </p:nvSpPr>
        <p:spPr>
          <a:xfrm>
            <a:off x="4879181" y="2432447"/>
            <a:ext cx="480417"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Controle:</a:t>
            </a:r>
            <a:endParaRPr lang="en-US" sz="734" dirty="0"/>
          </a:p>
        </p:txBody>
      </p:sp>
      <p:sp>
        <p:nvSpPr>
          <p:cNvPr id="31" name="Text 24"/>
          <p:cNvSpPr/>
          <p:nvPr/>
        </p:nvSpPr>
        <p:spPr>
          <a:xfrm>
            <a:off x="4879181" y="2432447"/>
            <a:ext cx="3045023" cy="257175"/>
          </a:xfrm>
          <a:prstGeom prst="rect">
            <a:avLst/>
          </a:prstGeom>
          <a:noFill/>
          <a:ln/>
        </p:spPr>
        <p:txBody>
          <a:bodyPr wrap="squar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Permite injeção de reativos e suporte à rede (Grid Forming/Following).</a:t>
            </a:r>
            <a:endParaRPr lang="en-US" sz="780" dirty="0"/>
          </a:p>
        </p:txBody>
      </p:sp>
      <p:sp>
        <p:nvSpPr>
          <p:cNvPr id="32" name="Shape 25"/>
          <p:cNvSpPr/>
          <p:nvPr/>
        </p:nvSpPr>
        <p:spPr>
          <a:xfrm>
            <a:off x="4750594" y="2861072"/>
            <a:ext cx="3964781" cy="1860947"/>
          </a:xfrm>
          <a:prstGeom prst="rect">
            <a:avLst/>
          </a:prstGeom>
          <a:solidFill>
            <a:srgbClr val="1A4B6E">
              <a:alpha val="20000"/>
            </a:srgbClr>
          </a:solidFill>
          <a:ln w="18288">
            <a:solidFill>
              <a:srgbClr val="F2C94C">
                <a:alpha val="40000"/>
              </a:srgbClr>
            </a:solidFill>
            <a:prstDash val="dash"/>
          </a:ln>
        </p:spPr>
      </p:sp>
      <p:pic>
        <p:nvPicPr>
          <p:cNvPr id="33" name="Image 4" descr="preencoded.png">    </p:cNvPr>
          <p:cNvPicPr>
            <a:picLocks noChangeAspect="1"/>
          </p:cNvPicPr>
          <p:nvPr/>
        </p:nvPicPr>
        <p:blipFill>
          <a:blip r:embed="rId5">
            <a:alphaModFix amt="70000"/>
          </a:blip>
          <a:stretch>
            <a:fillRect/>
          </a:stretch>
        </p:blipFill>
        <p:spPr>
          <a:xfrm>
            <a:off x="6618684" y="3497759"/>
            <a:ext cx="228600" cy="228600"/>
          </a:xfrm>
          <a:prstGeom prst="rect">
            <a:avLst/>
          </a:prstGeom>
        </p:spPr>
      </p:pic>
      <p:sp>
        <p:nvSpPr>
          <p:cNvPr id="34" name="Text 26"/>
          <p:cNvSpPr/>
          <p:nvPr/>
        </p:nvSpPr>
        <p:spPr>
          <a:xfrm>
            <a:off x="5790009" y="3812084"/>
            <a:ext cx="1885950"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2.2 da Dissertação</a:t>
            </a:r>
            <a:endParaRPr lang="en-US" sz="784" dirty="0"/>
          </a:p>
        </p:txBody>
      </p:sp>
      <p:sp>
        <p:nvSpPr>
          <p:cNvPr id="35" name="Text 27"/>
          <p:cNvSpPr/>
          <p:nvPr/>
        </p:nvSpPr>
        <p:spPr>
          <a:xfrm>
            <a:off x="5962352" y="3979962"/>
            <a:ext cx="1541264"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F2C94C">
                    <a:alpha val="60000"/>
                  </a:srgbClr>
                </a:solidFill>
                <a:latin typeface="Inter" pitchFamily="34" charset="0"/>
                <a:ea typeface="Inter" pitchFamily="34" charset="-122"/>
                <a:cs typeface="Inter" pitchFamily="34" charset="-120"/>
              </a:rPr>
              <a:t>Esquema do WECS Tipo 4 com PMSG</a:t>
            </a:r>
            <a:endParaRPr lang="en-US" sz="621" dirty="0"/>
          </a:p>
        </p:txBody>
      </p:sp>
      <p:sp>
        <p:nvSpPr>
          <p:cNvPr id="36" name="Text 28"/>
          <p:cNvSpPr/>
          <p:nvPr/>
        </p:nvSpPr>
        <p:spPr>
          <a:xfrm>
            <a:off x="4750594" y="4779169"/>
            <a:ext cx="3964781"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Elaboração própria</a:t>
            </a:r>
            <a:endParaRPr lang="en-US" sz="62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56002"/>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SISTEMAS DE POTÊNCIA EM FPSOS</a:t>
            </a:r>
            <a:endParaRPr lang="en-US" sz="1808" dirty="0"/>
          </a:p>
        </p:txBody>
      </p:sp>
      <p:pic>
        <p:nvPicPr>
          <p:cNvPr id="7" name="Image 1" descr="preencoded.png">    </p:cNvPr>
          <p:cNvPicPr>
            <a:picLocks noChangeAspect="1"/>
          </p:cNvPicPr>
          <p:nvPr/>
        </p:nvPicPr>
        <p:blipFill>
          <a:blip r:embed="rId2"/>
          <a:stretch>
            <a:fillRect/>
          </a:stretch>
        </p:blipFill>
        <p:spPr>
          <a:xfrm>
            <a:off x="628650" y="1256407"/>
            <a:ext cx="160734" cy="142875"/>
          </a:xfrm>
          <a:prstGeom prst="rect">
            <a:avLst/>
          </a:prstGeom>
        </p:spPr>
      </p:pic>
      <p:sp>
        <p:nvSpPr>
          <p:cNvPr id="8" name="Text 3"/>
          <p:cNvSpPr/>
          <p:nvPr/>
        </p:nvSpPr>
        <p:spPr>
          <a:xfrm>
            <a:off x="875109" y="1241227"/>
            <a:ext cx="164306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Geração Convencional</a:t>
            </a:r>
            <a:endParaRPr lang="en-US" sz="987" dirty="0"/>
          </a:p>
        </p:txBody>
      </p:sp>
      <p:sp>
        <p:nvSpPr>
          <p:cNvPr id="9" name="Text 4"/>
          <p:cNvSpPr/>
          <p:nvPr/>
        </p:nvSpPr>
        <p:spPr>
          <a:xfrm>
            <a:off x="628650" y="1500188"/>
            <a:ext cx="3371850"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8EDF2">
                    <a:alpha val="90000"/>
                  </a:srgbClr>
                </a:solidFill>
                <a:latin typeface="Inter" pitchFamily="34" charset="0"/>
                <a:ea typeface="Inter" pitchFamily="34" charset="-122"/>
                <a:cs typeface="Inter" pitchFamily="34" charset="-120"/>
              </a:rPr>
              <a:t>FPSOs dependem tradicionalmente de </a:t>
            </a:r>
            <a:pPr algn="l" indent="0" marL="0">
              <a:lnSpc>
                <a:spcPts val="1600"/>
              </a:lnSpc>
              <a:buNone/>
            </a:pPr>
            <a:r>
              <a:rPr lang="en-US" sz="885" b="1" dirty="0">
                <a:solidFill>
                  <a:srgbClr val="E8EDF2">
                    <a:alpha val="90000"/>
                  </a:srgbClr>
                </a:solidFill>
                <a:latin typeface="Inter" pitchFamily="34" charset="0"/>
                <a:ea typeface="Inter" pitchFamily="34" charset="-122"/>
                <a:cs typeface="Inter" pitchFamily="34" charset="-120"/>
              </a:rPr>
              <a:t>Turbinas a Gás</a:t>
            </a:r>
            <a:pPr algn="l" indent="0" marL="0">
              <a:lnSpc>
                <a:spcPts val="1600"/>
              </a:lnSpc>
              <a:buNone/>
            </a:pPr>
            <a:r>
              <a:rPr lang="en-US" sz="942" dirty="0">
                <a:solidFill>
                  <a:srgbClr val="E8EDF2">
                    <a:alpha val="90000"/>
                  </a:srgbClr>
                </a:solidFill>
                <a:latin typeface="Inter" pitchFamily="34" charset="0"/>
                <a:ea typeface="Inter" pitchFamily="34" charset="-122"/>
                <a:cs typeface="Inter" pitchFamily="34" charset="-120"/>
              </a:rPr>
              <a:t> para suprir a demanda energética. Alta confiabilidade, </a:t>
            </a:r>
            <a:pPr algn="l" indent="0" marL="0">
              <a:lnSpc>
                <a:spcPts val="1600"/>
              </a:lnSpc>
              <a:buNone/>
            </a:pPr>
            <a:r>
              <a:rPr lang="en-US" sz="942" dirty="0">
                <a:solidFill>
                  <a:srgbClr val="E8EDF2">
                    <a:alpha val="90000"/>
                  </a:srgbClr>
                </a:solidFill>
                <a:latin typeface="Inter" pitchFamily="34" charset="0"/>
                <a:ea typeface="Inter" pitchFamily="34" charset="-122"/>
                <a:cs typeface="Inter" pitchFamily="34" charset="-120"/>
              </a:rPr>
              <a:t>mas alto custo e emissões.</a:t>
            </a:r>
            <a:endParaRPr lang="en-US" sz="942" dirty="0"/>
          </a:p>
        </p:txBody>
      </p:sp>
      <p:pic>
        <p:nvPicPr>
          <p:cNvPr id="10" name="Image 2" descr="preencoded.png">    </p:cNvPr>
          <p:cNvPicPr>
            <a:picLocks noChangeAspect="1"/>
          </p:cNvPicPr>
          <p:nvPr/>
        </p:nvPicPr>
        <p:blipFill>
          <a:blip r:embed="rId3"/>
          <a:stretch>
            <a:fillRect/>
          </a:stretch>
        </p:blipFill>
        <p:spPr>
          <a:xfrm>
            <a:off x="628650" y="2332546"/>
            <a:ext cx="160734" cy="142875"/>
          </a:xfrm>
          <a:prstGeom prst="rect">
            <a:avLst/>
          </a:prstGeom>
        </p:spPr>
      </p:pic>
      <p:sp>
        <p:nvSpPr>
          <p:cNvPr id="11" name="Text 5"/>
          <p:cNvSpPr/>
          <p:nvPr/>
        </p:nvSpPr>
        <p:spPr>
          <a:xfrm>
            <a:off x="875109" y="2317366"/>
            <a:ext cx="174843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Sistema Híbrido Isolado</a:t>
            </a:r>
            <a:endParaRPr lang="en-US" sz="987" dirty="0"/>
          </a:p>
        </p:txBody>
      </p:sp>
      <p:sp>
        <p:nvSpPr>
          <p:cNvPr id="12" name="Text 6"/>
          <p:cNvSpPr/>
          <p:nvPr/>
        </p:nvSpPr>
        <p:spPr>
          <a:xfrm>
            <a:off x="628650" y="2576326"/>
            <a:ext cx="3371850" cy="822871"/>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8EDF2">
                    <a:alpha val="90000"/>
                  </a:srgbClr>
                </a:solidFill>
                <a:latin typeface="Inter" pitchFamily="34" charset="0"/>
                <a:ea typeface="Inter" pitchFamily="34" charset="-122"/>
                <a:cs typeface="Inter" pitchFamily="34" charset="-120"/>
              </a:rPr>
              <a:t>A integração de energia eólica cria uma microgrid isolada. O desafio é balancear a carga variável com a geração intermitente sem conexão com a rede continental (Grid-tied).</a:t>
            </a:r>
            <a:endParaRPr lang="en-US" sz="942" dirty="0"/>
          </a:p>
        </p:txBody>
      </p:sp>
      <p:pic>
        <p:nvPicPr>
          <p:cNvPr id="13" name="Image 3" descr="preencoded.png">    </p:cNvPr>
          <p:cNvPicPr>
            <a:picLocks noChangeAspect="1"/>
          </p:cNvPicPr>
          <p:nvPr/>
        </p:nvPicPr>
        <p:blipFill>
          <a:blip r:embed="rId4"/>
          <a:stretch>
            <a:fillRect/>
          </a:stretch>
        </p:blipFill>
        <p:spPr>
          <a:xfrm>
            <a:off x="628650" y="3614403"/>
            <a:ext cx="160734" cy="142875"/>
          </a:xfrm>
          <a:prstGeom prst="rect">
            <a:avLst/>
          </a:prstGeom>
        </p:spPr>
      </p:pic>
      <p:sp>
        <p:nvSpPr>
          <p:cNvPr id="14" name="Text 7"/>
          <p:cNvSpPr/>
          <p:nvPr/>
        </p:nvSpPr>
        <p:spPr>
          <a:xfrm>
            <a:off x="875109" y="3599222"/>
            <a:ext cx="1391245"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Plataforma LEOGO</a:t>
            </a:r>
            <a:endParaRPr lang="en-US" sz="987" dirty="0"/>
          </a:p>
        </p:txBody>
      </p:sp>
      <p:sp>
        <p:nvSpPr>
          <p:cNvPr id="15" name="Text 8"/>
          <p:cNvSpPr/>
          <p:nvPr/>
        </p:nvSpPr>
        <p:spPr>
          <a:xfrm>
            <a:off x="628650" y="3858183"/>
            <a:ext cx="3371850" cy="617153"/>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E8EDF2">
                    <a:alpha val="90000"/>
                  </a:srgbClr>
                </a:solidFill>
                <a:latin typeface="Inter" pitchFamily="34" charset="0"/>
                <a:ea typeface="Inter" pitchFamily="34" charset="-122"/>
                <a:cs typeface="Inter" pitchFamily="34" charset="-120"/>
              </a:rPr>
              <a:t>Low Emission Oil &amp; Gas Offshore. Um conceito de referência para eletrificação e descarbonização de ativos offshore.</a:t>
            </a:r>
            <a:endParaRPr lang="en-US" sz="942" dirty="0"/>
          </a:p>
        </p:txBody>
      </p:sp>
      <p:sp>
        <p:nvSpPr>
          <p:cNvPr id="16" name="Shape 9"/>
          <p:cNvSpPr/>
          <p:nvPr/>
        </p:nvSpPr>
        <p:spPr>
          <a:xfrm>
            <a:off x="4429125" y="1241227"/>
            <a:ext cx="4286250" cy="3471863"/>
          </a:xfrm>
          <a:prstGeom prst="rect">
            <a:avLst/>
          </a:prstGeom>
          <a:solidFill>
            <a:srgbClr val="F2C94C">
              <a:alpha val="5000"/>
            </a:srgbClr>
          </a:solidFill>
          <a:ln w="18288">
            <a:solidFill>
              <a:srgbClr val="F2C94C">
                <a:alpha val="50000"/>
              </a:srgbClr>
            </a:solidFill>
            <a:prstDash val="dash"/>
          </a:ln>
        </p:spPr>
      </p:sp>
      <p:pic>
        <p:nvPicPr>
          <p:cNvPr id="17" name="Image 4" descr="preencoded.png">    </p:cNvPr>
          <p:cNvPicPr>
            <a:picLocks noChangeAspect="1"/>
          </p:cNvPicPr>
          <p:nvPr/>
        </p:nvPicPr>
        <p:blipFill>
          <a:blip r:embed="rId5">
            <a:alphaModFix amt="80000"/>
          </a:blip>
          <a:stretch>
            <a:fillRect/>
          </a:stretch>
        </p:blipFill>
        <p:spPr>
          <a:xfrm>
            <a:off x="6343650" y="2377976"/>
            <a:ext cx="457200" cy="457200"/>
          </a:xfrm>
          <a:prstGeom prst="rect">
            <a:avLst/>
          </a:prstGeom>
        </p:spPr>
      </p:pic>
      <p:sp>
        <p:nvSpPr>
          <p:cNvPr id="18" name="Text 10"/>
          <p:cNvSpPr/>
          <p:nvPr/>
        </p:nvSpPr>
        <p:spPr>
          <a:xfrm>
            <a:off x="5165824" y="3006626"/>
            <a:ext cx="2812852" cy="208955"/>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2C94C"/>
                </a:solidFill>
                <a:latin typeface="Montserrat" pitchFamily="34" charset="0"/>
                <a:ea typeface="Montserrat" pitchFamily="34" charset="-122"/>
                <a:cs typeface="Montserrat" pitchFamily="34" charset="-120"/>
              </a:rPr>
              <a:t>Inserir Figura 3.3 da Dissertação</a:t>
            </a:r>
            <a:endParaRPr lang="en-US" sz="1193" dirty="0"/>
          </a:p>
        </p:txBody>
      </p:sp>
      <p:sp>
        <p:nvSpPr>
          <p:cNvPr id="19" name="Text 11"/>
          <p:cNvSpPr/>
          <p:nvPr/>
        </p:nvSpPr>
        <p:spPr>
          <a:xfrm>
            <a:off x="4857750" y="3301305"/>
            <a:ext cx="3429000" cy="275034"/>
          </a:xfrm>
          <a:prstGeom prst="rect">
            <a:avLst/>
          </a:prstGeom>
          <a:noFill/>
          <a:ln/>
        </p:spPr>
        <p:txBody>
          <a:bodyPr wrap="square" lIns="0" tIns="0" rIns="0" bIns="0" rtlCol="0" anchor="t">
            <a:spAutoFit/>
          </a:bodyPr>
          <a:lstStyle/>
          <a:p>
            <a:pPr algn="ctr" indent="0" marL="0">
              <a:lnSpc>
                <a:spcPts val="1100"/>
              </a:lnSpc>
              <a:buNone/>
            </a:pPr>
            <a:r>
              <a:rPr lang="en-US" sz="834" dirty="0">
                <a:solidFill>
                  <a:srgbClr val="E8EDF2">
                    <a:alpha val="60000"/>
                  </a:srgbClr>
                </a:solidFill>
                <a:latin typeface="Inter" pitchFamily="34" charset="0"/>
                <a:ea typeface="Inter" pitchFamily="34" charset="-122"/>
                <a:cs typeface="Inter" pitchFamily="34" charset="-120"/>
              </a:rPr>
              <a:t>Diagrama unifilar ou esquemático da plataforma LEOGO e seu sistema de potência</a:t>
            </a:r>
            <a:endParaRPr lang="en-US" sz="834" dirty="0"/>
          </a:p>
        </p:txBody>
      </p:sp>
      <p:sp>
        <p:nvSpPr>
          <p:cNvPr id="20" name="Text 12"/>
          <p:cNvSpPr/>
          <p:nvPr/>
        </p:nvSpPr>
        <p:spPr>
          <a:xfrm>
            <a:off x="5713214" y="4521994"/>
            <a:ext cx="1718072"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Adaptado de Medeiros et al. (2022)</a:t>
            </a:r>
            <a:endParaRPr lang="en-US" sz="62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RISCOS OPERACIONAIS: BLACKOUTS E LOAD SHEDDING</a:t>
            </a:r>
            <a:endParaRPr lang="en-US" sz="1808" dirty="0"/>
          </a:p>
        </p:txBody>
      </p:sp>
      <p:sp>
        <p:nvSpPr>
          <p:cNvPr id="7" name="Shape 3"/>
          <p:cNvSpPr/>
          <p:nvPr/>
        </p:nvSpPr>
        <p:spPr>
          <a:xfrm>
            <a:off x="428625" y="1266230"/>
            <a:ext cx="285750" cy="285750"/>
          </a:xfrm>
          <a:prstGeom prst="rect">
            <a:avLst/>
          </a:prstGeom>
          <a:solidFill>
            <a:srgbClr val="F2C94C">
              <a:alpha val="10000"/>
            </a:srgbClr>
          </a:solidFill>
          <a:ln w="9144">
            <a:solidFill>
              <a:srgbClr val="F2C94C"/>
            </a:solidFill>
            <a:prstDash val="solid"/>
          </a:ln>
        </p:spPr>
      </p:sp>
      <p:pic>
        <p:nvPicPr>
          <p:cNvPr id="8" name="Image 1" descr="preencoded.png">    </p:cNvPr>
          <p:cNvPicPr>
            <a:picLocks noChangeAspect="1"/>
          </p:cNvPicPr>
          <p:nvPr/>
        </p:nvPicPr>
        <p:blipFill>
          <a:blip r:embed="rId2"/>
          <a:stretch>
            <a:fillRect/>
          </a:stretch>
        </p:blipFill>
        <p:spPr>
          <a:xfrm>
            <a:off x="514350" y="1351955"/>
            <a:ext cx="114300" cy="114300"/>
          </a:xfrm>
          <a:prstGeom prst="rect">
            <a:avLst/>
          </a:prstGeom>
        </p:spPr>
      </p:pic>
      <p:sp>
        <p:nvSpPr>
          <p:cNvPr id="9" name="Text 4"/>
          <p:cNvSpPr/>
          <p:nvPr/>
        </p:nvSpPr>
        <p:spPr>
          <a:xfrm>
            <a:off x="857250" y="1266230"/>
            <a:ext cx="331333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Perda Súbita de Geração</a:t>
            </a:r>
            <a:endParaRPr lang="en-US" sz="885" dirty="0"/>
          </a:p>
        </p:txBody>
      </p:sp>
      <p:sp>
        <p:nvSpPr>
          <p:cNvPr id="10" name="Text 5"/>
          <p:cNvSpPr/>
          <p:nvPr/>
        </p:nvSpPr>
        <p:spPr>
          <a:xfrm>
            <a:off x="857250" y="1451967"/>
            <a:ext cx="331333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Queda abrupta na velocidade do vento reduz a potência ativa injetada na rede isolada.</a:t>
            </a:r>
            <a:endParaRPr lang="en-US" sz="780" dirty="0"/>
          </a:p>
        </p:txBody>
      </p:sp>
      <p:sp>
        <p:nvSpPr>
          <p:cNvPr id="11" name="Shape 6"/>
          <p:cNvSpPr/>
          <p:nvPr/>
        </p:nvSpPr>
        <p:spPr>
          <a:xfrm>
            <a:off x="428625" y="1923455"/>
            <a:ext cx="285750" cy="285750"/>
          </a:xfrm>
          <a:prstGeom prst="rect">
            <a:avLst/>
          </a:prstGeom>
          <a:solidFill>
            <a:srgbClr val="F2C94C">
              <a:alpha val="10000"/>
            </a:srgbClr>
          </a:solidFill>
          <a:ln w="9144">
            <a:solidFill>
              <a:srgbClr val="F2C94C"/>
            </a:solidFill>
            <a:prstDash val="solid"/>
          </a:ln>
        </p:spPr>
      </p:sp>
      <p:pic>
        <p:nvPicPr>
          <p:cNvPr id="12" name="Image 2" descr="preencoded.png">    </p:cNvPr>
          <p:cNvPicPr>
            <a:picLocks noChangeAspect="1"/>
          </p:cNvPicPr>
          <p:nvPr/>
        </p:nvPicPr>
        <p:blipFill>
          <a:blip r:embed="rId3"/>
          <a:stretch>
            <a:fillRect/>
          </a:stretch>
        </p:blipFill>
        <p:spPr>
          <a:xfrm>
            <a:off x="514350" y="2009180"/>
            <a:ext cx="114300" cy="114300"/>
          </a:xfrm>
          <a:prstGeom prst="rect">
            <a:avLst/>
          </a:prstGeom>
        </p:spPr>
      </p:pic>
      <p:sp>
        <p:nvSpPr>
          <p:cNvPr id="13" name="Text 7"/>
          <p:cNvSpPr/>
          <p:nvPr/>
        </p:nvSpPr>
        <p:spPr>
          <a:xfrm>
            <a:off x="857250" y="1923455"/>
            <a:ext cx="331333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Load Shedding (UFLS)</a:t>
            </a:r>
            <a:endParaRPr lang="en-US" sz="885" dirty="0"/>
          </a:p>
        </p:txBody>
      </p:sp>
      <p:sp>
        <p:nvSpPr>
          <p:cNvPr id="14" name="Text 8"/>
          <p:cNvSpPr/>
          <p:nvPr/>
        </p:nvSpPr>
        <p:spPr>
          <a:xfrm>
            <a:off x="857250" y="2109192"/>
            <a:ext cx="331333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Mecanismo de proteção que desliga cargas não essenciais para tentar recuperar a frequência.</a:t>
            </a:r>
            <a:endParaRPr lang="en-US" sz="780" dirty="0"/>
          </a:p>
        </p:txBody>
      </p:sp>
      <p:sp>
        <p:nvSpPr>
          <p:cNvPr id="15" name="Shape 9"/>
          <p:cNvSpPr/>
          <p:nvPr/>
        </p:nvSpPr>
        <p:spPr>
          <a:xfrm>
            <a:off x="428625" y="2580680"/>
            <a:ext cx="285750" cy="285750"/>
          </a:xfrm>
          <a:prstGeom prst="rect">
            <a:avLst/>
          </a:prstGeom>
          <a:solidFill>
            <a:srgbClr val="F2C94C">
              <a:alpha val="10000"/>
            </a:srgbClr>
          </a:solidFill>
          <a:ln w="9144">
            <a:solidFill>
              <a:srgbClr val="F2C94C"/>
            </a:solidFill>
            <a:prstDash val="solid"/>
          </a:ln>
        </p:spPr>
      </p:sp>
      <p:pic>
        <p:nvPicPr>
          <p:cNvPr id="16" name="Image 3" descr="preencoded.png">    </p:cNvPr>
          <p:cNvPicPr>
            <a:picLocks noChangeAspect="1"/>
          </p:cNvPicPr>
          <p:nvPr/>
        </p:nvPicPr>
        <p:blipFill>
          <a:blip r:embed="rId4"/>
          <a:stretch>
            <a:fillRect/>
          </a:stretch>
        </p:blipFill>
        <p:spPr>
          <a:xfrm>
            <a:off x="514350" y="2666405"/>
            <a:ext cx="114300" cy="114300"/>
          </a:xfrm>
          <a:prstGeom prst="rect">
            <a:avLst/>
          </a:prstGeom>
        </p:spPr>
      </p:pic>
      <p:sp>
        <p:nvSpPr>
          <p:cNvPr id="17" name="Text 10"/>
          <p:cNvSpPr/>
          <p:nvPr/>
        </p:nvSpPr>
        <p:spPr>
          <a:xfrm>
            <a:off x="857250" y="2580680"/>
            <a:ext cx="331333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Blackout Total</a:t>
            </a:r>
            <a:endParaRPr lang="en-US" sz="885" dirty="0"/>
          </a:p>
        </p:txBody>
      </p:sp>
      <p:sp>
        <p:nvSpPr>
          <p:cNvPr id="18" name="Text 11"/>
          <p:cNvSpPr/>
          <p:nvPr/>
        </p:nvSpPr>
        <p:spPr>
          <a:xfrm>
            <a:off x="857250" y="2766417"/>
            <a:ext cx="331333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Se o UFLS falhar ou a inércia for insuficiente, ocorre o colapso total do sistema.</a:t>
            </a:r>
            <a:endParaRPr lang="en-US" sz="780" dirty="0"/>
          </a:p>
        </p:txBody>
      </p:sp>
      <p:sp>
        <p:nvSpPr>
          <p:cNvPr id="19" name="Shape 12"/>
          <p:cNvSpPr/>
          <p:nvPr/>
        </p:nvSpPr>
        <p:spPr>
          <a:xfrm>
            <a:off x="428625" y="3523655"/>
            <a:ext cx="3741958" cy="1121569"/>
          </a:xfrm>
          <a:prstGeom prst="rect">
            <a:avLst/>
          </a:prstGeom>
          <a:solidFill>
            <a:srgbClr val="F2C94C">
              <a:alpha val="10000"/>
            </a:srgbClr>
          </a:solidFill>
          <a:ln/>
        </p:spPr>
      </p:sp>
      <p:sp>
        <p:nvSpPr>
          <p:cNvPr id="20" name="Shape 13"/>
          <p:cNvSpPr/>
          <p:nvPr/>
        </p:nvSpPr>
        <p:spPr>
          <a:xfrm>
            <a:off x="428625" y="3523655"/>
            <a:ext cx="42863" cy="1121569"/>
          </a:xfrm>
          <a:prstGeom prst="rect">
            <a:avLst/>
          </a:prstGeom>
          <a:solidFill>
            <a:srgbClr val="F2C94C"/>
          </a:solidFill>
          <a:ln/>
        </p:spPr>
      </p:sp>
      <p:sp>
        <p:nvSpPr>
          <p:cNvPr id="21" name="Text 14"/>
          <p:cNvSpPr/>
          <p:nvPr/>
        </p:nvSpPr>
        <p:spPr>
          <a:xfrm>
            <a:off x="600075" y="3695105"/>
            <a:ext cx="3399058"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F2C94C"/>
                </a:solidFill>
                <a:latin typeface="Inter" pitchFamily="34" charset="0"/>
                <a:ea typeface="Inter" pitchFamily="34" charset="-122"/>
                <a:cs typeface="Inter" pitchFamily="34" charset="-120"/>
              </a:rPr>
              <a:t>IMPACTO FINANCEIRO ESTIMADO</a:t>
            </a:r>
            <a:endParaRPr lang="en-US" sz="683" dirty="0"/>
          </a:p>
        </p:txBody>
      </p:sp>
      <p:sp>
        <p:nvSpPr>
          <p:cNvPr id="22" name="Text 15"/>
          <p:cNvSpPr/>
          <p:nvPr/>
        </p:nvSpPr>
        <p:spPr>
          <a:xfrm>
            <a:off x="600075" y="3873698"/>
            <a:ext cx="3399058" cy="300038"/>
          </a:xfrm>
          <a:prstGeom prst="rect">
            <a:avLst/>
          </a:prstGeom>
          <a:noFill/>
          <a:ln/>
        </p:spPr>
        <p:txBody>
          <a:bodyPr wrap="none" lIns="0" tIns="0" rIns="0" bIns="0" rtlCol="0" anchor="t">
            <a:spAutoFit/>
          </a:bodyPr>
          <a:lstStyle/>
          <a:p>
            <a:pPr algn="l" indent="0" marL="0">
              <a:lnSpc>
                <a:spcPts val="2400"/>
              </a:lnSpc>
              <a:buNone/>
            </a:pPr>
            <a:r>
              <a:rPr lang="en-US" sz="2121" b="1" dirty="0">
                <a:solidFill>
                  <a:srgbClr val="FFFFFF"/>
                </a:solidFill>
                <a:latin typeface="Montserrat" pitchFamily="34" charset="0"/>
                <a:ea typeface="Montserrat" pitchFamily="34" charset="-122"/>
                <a:cs typeface="Montserrat" pitchFamily="34" charset="-120"/>
              </a:rPr>
              <a:t>$100,000 USD</a:t>
            </a:r>
            <a:endParaRPr lang="en-US" sz="2121" dirty="0"/>
          </a:p>
        </p:txBody>
      </p:sp>
      <p:sp>
        <p:nvSpPr>
          <p:cNvPr id="23" name="Text 16"/>
          <p:cNvSpPr/>
          <p:nvPr/>
        </p:nvSpPr>
        <p:spPr>
          <a:xfrm>
            <a:off x="600075" y="4230886"/>
            <a:ext cx="3399058"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E8EDF2">
                    <a:alpha val="60000"/>
                  </a:srgbClr>
                </a:solidFill>
                <a:latin typeface="Inter" pitchFamily="34" charset="0"/>
                <a:ea typeface="Inter" pitchFamily="34" charset="-122"/>
                <a:cs typeface="Inter" pitchFamily="34" charset="-120"/>
              </a:rPr>
              <a:t>Custo médio por evento de blackout (perda de produção + custo de restart)</a:t>
            </a:r>
            <a:endParaRPr lang="en-US" sz="727" dirty="0"/>
          </a:p>
        </p:txBody>
      </p:sp>
      <p:sp>
        <p:nvSpPr>
          <p:cNvPr id="24" name="Shape 17"/>
          <p:cNvSpPr/>
          <p:nvPr/>
        </p:nvSpPr>
        <p:spPr>
          <a:xfrm>
            <a:off x="4599208" y="1169789"/>
            <a:ext cx="4116167" cy="3571875"/>
          </a:xfrm>
          <a:prstGeom prst="rect">
            <a:avLst/>
          </a:prstGeom>
          <a:solidFill>
            <a:srgbClr val="001D33">
              <a:alpha val="50000"/>
            </a:srgbClr>
          </a:solidFill>
          <a:ln w="18288">
            <a:solidFill>
              <a:srgbClr val="F2C94C">
                <a:alpha val="50000"/>
              </a:srgbClr>
            </a:solidFill>
            <a:prstDash val="dash"/>
          </a:ln>
        </p:spPr>
      </p:sp>
      <p:pic>
        <p:nvPicPr>
          <p:cNvPr id="25" name="Image 4" descr="preencoded.png">    </p:cNvPr>
          <p:cNvPicPr>
            <a:picLocks noChangeAspect="1"/>
          </p:cNvPicPr>
          <p:nvPr/>
        </p:nvPicPr>
        <p:blipFill>
          <a:blip r:embed="rId5">
            <a:alphaModFix amt="80000"/>
          </a:blip>
          <a:stretch>
            <a:fillRect/>
          </a:stretch>
        </p:blipFill>
        <p:spPr>
          <a:xfrm>
            <a:off x="6457252" y="2433340"/>
            <a:ext cx="400050" cy="400050"/>
          </a:xfrm>
          <a:prstGeom prst="rect">
            <a:avLst/>
          </a:prstGeom>
        </p:spPr>
      </p:pic>
      <p:sp>
        <p:nvSpPr>
          <p:cNvPr id="26" name="Text 18"/>
          <p:cNvSpPr/>
          <p:nvPr/>
        </p:nvSpPr>
        <p:spPr>
          <a:xfrm>
            <a:off x="5474094" y="2976265"/>
            <a:ext cx="2366367"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2.4 da Dissertação</a:t>
            </a:r>
            <a:endParaRPr lang="en-US" sz="987" dirty="0"/>
          </a:p>
        </p:txBody>
      </p:sp>
      <p:sp>
        <p:nvSpPr>
          <p:cNvPr id="27" name="Text 19"/>
          <p:cNvSpPr/>
          <p:nvPr/>
        </p:nvSpPr>
        <p:spPr>
          <a:xfrm>
            <a:off x="4997890" y="3220938"/>
            <a:ext cx="3318774"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Simulação comparativa: Recuperação de frequência com Load Shedding vs. Colapso (Blackout)</a:t>
            </a:r>
            <a:endParaRPr lang="en-US" sz="780" dirty="0"/>
          </a:p>
        </p:txBody>
      </p:sp>
      <p:sp>
        <p:nvSpPr>
          <p:cNvPr id="28" name="Text 20"/>
          <p:cNvSpPr/>
          <p:nvPr/>
        </p:nvSpPr>
        <p:spPr>
          <a:xfrm>
            <a:off x="4599208" y="4827389"/>
            <a:ext cx="4116167"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2 (Fundamentação Teórica)</a:t>
            </a:r>
            <a:endParaRPr lang="en-US" sz="62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ESTADO DA ARTE: PREVISÃO DE POTÊNCIA EÓLICA</a:t>
            </a:r>
            <a:endParaRPr lang="en-US" sz="1808" dirty="0"/>
          </a:p>
        </p:txBody>
      </p:sp>
      <p:sp>
        <p:nvSpPr>
          <p:cNvPr id="7" name="Text 3"/>
          <p:cNvSpPr/>
          <p:nvPr/>
        </p:nvSpPr>
        <p:spPr>
          <a:xfrm>
            <a:off x="571500" y="1112639"/>
            <a:ext cx="3202772"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Modelos Estatísticos</a:t>
            </a:r>
            <a:endParaRPr lang="en-US" sz="885" dirty="0"/>
          </a:p>
        </p:txBody>
      </p:sp>
      <p:sp>
        <p:nvSpPr>
          <p:cNvPr id="8" name="Text 4"/>
          <p:cNvSpPr/>
          <p:nvPr/>
        </p:nvSpPr>
        <p:spPr>
          <a:xfrm>
            <a:off x="571500" y="1298377"/>
            <a:ext cx="3202772"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70000"/>
                  </a:srgbClr>
                </a:solidFill>
                <a:latin typeface="Inter" pitchFamily="34" charset="0"/>
                <a:ea typeface="Inter" pitchFamily="34" charset="-122"/>
                <a:cs typeface="Inter" pitchFamily="34" charset="-120"/>
              </a:rPr>
              <a:t>ARIMA, SARIMA. Eficazes para curto prazo e padrões lineares, mas falham em capturar a volatilidade estocástica.</a:t>
            </a:r>
            <a:endParaRPr lang="en-US" sz="727" dirty="0"/>
          </a:p>
        </p:txBody>
      </p:sp>
      <p:sp>
        <p:nvSpPr>
          <p:cNvPr id="9" name="Text 5"/>
          <p:cNvSpPr/>
          <p:nvPr/>
        </p:nvSpPr>
        <p:spPr>
          <a:xfrm>
            <a:off x="571500" y="1706966"/>
            <a:ext cx="3202772"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Machine Learning Clássico</a:t>
            </a:r>
            <a:endParaRPr lang="en-US" sz="885" dirty="0"/>
          </a:p>
        </p:txBody>
      </p:sp>
      <p:sp>
        <p:nvSpPr>
          <p:cNvPr id="10" name="Text 6"/>
          <p:cNvSpPr/>
          <p:nvPr/>
        </p:nvSpPr>
        <p:spPr>
          <a:xfrm>
            <a:off x="571500" y="1892703"/>
            <a:ext cx="3202772" cy="42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70000"/>
                  </a:srgbClr>
                </a:solidFill>
                <a:latin typeface="Inter" pitchFamily="34" charset="0"/>
                <a:ea typeface="Inter" pitchFamily="34" charset="-122"/>
                <a:cs typeface="Inter" pitchFamily="34" charset="-120"/>
              </a:rPr>
              <a:t>SVR, Random Forest, XGBoost. Lidam melhor com não-linearidades, mas dependem pesadamente de feature engineering manual.</a:t>
            </a:r>
            <a:endParaRPr lang="en-US" sz="727" dirty="0"/>
          </a:p>
        </p:txBody>
      </p:sp>
      <p:sp>
        <p:nvSpPr>
          <p:cNvPr id="11" name="Text 7"/>
          <p:cNvSpPr/>
          <p:nvPr/>
        </p:nvSpPr>
        <p:spPr>
          <a:xfrm>
            <a:off x="571500" y="2441293"/>
            <a:ext cx="3202772"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Deep Learning (RNNs)</a:t>
            </a:r>
            <a:endParaRPr lang="en-US" sz="885" dirty="0"/>
          </a:p>
        </p:txBody>
      </p:sp>
      <p:sp>
        <p:nvSpPr>
          <p:cNvPr id="12" name="Text 8"/>
          <p:cNvSpPr/>
          <p:nvPr/>
        </p:nvSpPr>
        <p:spPr>
          <a:xfrm>
            <a:off x="571500" y="2627030"/>
            <a:ext cx="3202772"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70000"/>
                  </a:srgbClr>
                </a:solidFill>
                <a:latin typeface="Inter" pitchFamily="34" charset="0"/>
                <a:ea typeface="Inter" pitchFamily="34" charset="-122"/>
                <a:cs typeface="Inter" pitchFamily="34" charset="-120"/>
              </a:rPr>
              <a:t>LSTM, GRU. Capacidade de aprender dependências temporais de longo prazo automaticamente.</a:t>
            </a:r>
            <a:endParaRPr lang="en-US" sz="727" dirty="0"/>
          </a:p>
        </p:txBody>
      </p:sp>
      <p:sp>
        <p:nvSpPr>
          <p:cNvPr id="13" name="Text 9"/>
          <p:cNvSpPr/>
          <p:nvPr/>
        </p:nvSpPr>
        <p:spPr>
          <a:xfrm>
            <a:off x="571500" y="3035619"/>
            <a:ext cx="3202772"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latin typeface="Montserrat" pitchFamily="34" charset="0"/>
                <a:ea typeface="Montserrat" pitchFamily="34" charset="-122"/>
                <a:cs typeface="Montserrat" pitchFamily="34" charset="-120"/>
              </a:rPr>
              <a:t>Abordagens Híbridas (SOTA)</a:t>
            </a:r>
            <a:endParaRPr lang="en-US" sz="885" dirty="0"/>
          </a:p>
        </p:txBody>
      </p:sp>
      <p:sp>
        <p:nvSpPr>
          <p:cNvPr id="14" name="Text 10"/>
          <p:cNvSpPr/>
          <p:nvPr/>
        </p:nvSpPr>
        <p:spPr>
          <a:xfrm>
            <a:off x="571500" y="3221357"/>
            <a:ext cx="3202772"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solidFill>
                <a:latin typeface="Inter" pitchFamily="34" charset="0"/>
                <a:ea typeface="Inter" pitchFamily="34" charset="-122"/>
                <a:cs typeface="Inter" pitchFamily="34" charset="-120"/>
              </a:rPr>
              <a:t>Combinação de Decomposição de Sinais (EMD, VMD) com Deep Learning Avançado (Transformers). Foco atual da pesquisa.</a:t>
            </a:r>
            <a:endParaRPr lang="en-US" sz="727" dirty="0"/>
          </a:p>
        </p:txBody>
      </p:sp>
      <p:sp>
        <p:nvSpPr>
          <p:cNvPr id="15" name="Shape 11"/>
          <p:cNvSpPr/>
          <p:nvPr/>
        </p:nvSpPr>
        <p:spPr>
          <a:xfrm>
            <a:off x="4031447" y="1112639"/>
            <a:ext cx="4683900" cy="3286125"/>
          </a:xfrm>
          <a:prstGeom prst="rect">
            <a:avLst/>
          </a:prstGeom>
          <a:solidFill>
            <a:srgbClr val="F2C94C">
              <a:alpha val="5000"/>
            </a:srgbClr>
          </a:solidFill>
          <a:ln w="18288">
            <a:solidFill>
              <a:srgbClr val="F2C94C">
                <a:alpha val="50000"/>
              </a:srgbClr>
            </a:solidFill>
            <a:prstDash val="dash"/>
          </a:ln>
        </p:spPr>
      </p:sp>
      <p:pic>
        <p:nvPicPr>
          <p:cNvPr id="16" name="Image 1" descr="preencoded.png">    </p:cNvPr>
          <p:cNvPicPr>
            <a:picLocks noChangeAspect="1"/>
          </p:cNvPicPr>
          <p:nvPr/>
        </p:nvPicPr>
        <p:blipFill>
          <a:blip r:embed="rId2">
            <a:alphaModFix amt="80000"/>
          </a:blip>
          <a:stretch>
            <a:fillRect/>
          </a:stretch>
        </p:blipFill>
        <p:spPr>
          <a:xfrm>
            <a:off x="6173372" y="2269034"/>
            <a:ext cx="400050" cy="400050"/>
          </a:xfrm>
          <a:prstGeom prst="rect">
            <a:avLst/>
          </a:prstGeom>
        </p:spPr>
      </p:pic>
      <p:sp>
        <p:nvSpPr>
          <p:cNvPr id="17" name="Text 12"/>
          <p:cNvSpPr/>
          <p:nvPr/>
        </p:nvSpPr>
        <p:spPr>
          <a:xfrm>
            <a:off x="5206287" y="2754809"/>
            <a:ext cx="2334220"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Tabela 3.1 da Dissertação</a:t>
            </a:r>
            <a:endParaRPr lang="en-US" sz="987" dirty="0"/>
          </a:p>
        </p:txBody>
      </p:sp>
      <p:sp>
        <p:nvSpPr>
          <p:cNvPr id="18" name="Text 13"/>
          <p:cNvSpPr/>
          <p:nvPr/>
        </p:nvSpPr>
        <p:spPr>
          <a:xfrm>
            <a:off x="4636991" y="2985195"/>
            <a:ext cx="3472783"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Análise comparativa detalhada dos métodos de previsão na literatura recente</a:t>
            </a:r>
            <a:endParaRPr lang="en-US" sz="780" dirty="0"/>
          </a:p>
        </p:txBody>
      </p:sp>
      <p:sp>
        <p:nvSpPr>
          <p:cNvPr id="19" name="Text 14"/>
          <p:cNvSpPr/>
          <p:nvPr/>
        </p:nvSpPr>
        <p:spPr>
          <a:xfrm>
            <a:off x="4031447" y="4470202"/>
            <a:ext cx="468390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3 (Revisão Bibliográfica)</a:t>
            </a:r>
            <a:endParaRPr lang="en-US" sz="62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LACUNAS NA LITERATURA E POSICIONAMENTO</a:t>
            </a:r>
            <a:endParaRPr lang="en-US" sz="1808" dirty="0"/>
          </a:p>
        </p:txBody>
      </p:sp>
      <p:sp>
        <p:nvSpPr>
          <p:cNvPr id="7" name="Shape 3"/>
          <p:cNvSpPr/>
          <p:nvPr/>
        </p:nvSpPr>
        <p:spPr>
          <a:xfrm>
            <a:off x="428625" y="1241227"/>
            <a:ext cx="2619356" cy="3429000"/>
          </a:xfrm>
          <a:prstGeom prst="rect">
            <a:avLst/>
          </a:prstGeom>
          <a:solidFill>
            <a:srgbClr val="001D33">
              <a:alpha val="40000"/>
            </a:srgbClr>
          </a:solidFill>
          <a:ln w="9144">
            <a:solidFill>
              <a:srgbClr val="E8EDF2">
                <a:alpha val="10000"/>
              </a:srgbClr>
            </a:solidFill>
            <a:prstDash val="solid"/>
          </a:ln>
        </p:spPr>
      </p:sp>
      <p:sp>
        <p:nvSpPr>
          <p:cNvPr id="8" name="Shape 4"/>
          <p:cNvSpPr/>
          <p:nvPr/>
        </p:nvSpPr>
        <p:spPr>
          <a:xfrm>
            <a:off x="428625" y="1241227"/>
            <a:ext cx="2619356" cy="1225153"/>
          </a:xfrm>
          <a:prstGeom prst="rect">
            <a:avLst/>
          </a:prstGeom>
          <a:solidFill>
            <a:srgbClr val="FFFFFF">
              <a:alpha val="2000"/>
            </a:srgbClr>
          </a:solidFill>
          <a:ln/>
        </p:spPr>
      </p:sp>
      <p:sp>
        <p:nvSpPr>
          <p:cNvPr id="9" name="Shape 5"/>
          <p:cNvSpPr/>
          <p:nvPr/>
        </p:nvSpPr>
        <p:spPr>
          <a:xfrm>
            <a:off x="428625" y="2459236"/>
            <a:ext cx="2619356" cy="7144"/>
          </a:xfrm>
          <a:prstGeom prst="rect">
            <a:avLst/>
          </a:prstGeom>
          <a:solidFill>
            <a:srgbClr val="FDFDFE"/>
          </a:solidFill>
          <a:ln/>
        </p:spPr>
      </p:sp>
      <p:sp>
        <p:nvSpPr>
          <p:cNvPr id="10" name="Text 6"/>
          <p:cNvSpPr/>
          <p:nvPr/>
        </p:nvSpPr>
        <p:spPr>
          <a:xfrm>
            <a:off x="607219" y="1419820"/>
            <a:ext cx="2262169" cy="103584"/>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2C94C">
                    <a:alpha val="60000"/>
                  </a:srgbClr>
                </a:solidFill>
                <a:latin typeface="Montserrat" pitchFamily="34" charset="0"/>
                <a:ea typeface="Montserrat" pitchFamily="34" charset="-122"/>
                <a:cs typeface="Montserrat" pitchFamily="34" charset="-120"/>
              </a:rPr>
              <a:t>LACUNA 01</a:t>
            </a:r>
            <a:endParaRPr lang="en-US" sz="584" dirty="0"/>
          </a:p>
        </p:txBody>
      </p:sp>
      <p:pic>
        <p:nvPicPr>
          <p:cNvPr id="11" name="Image 1" descr="preencoded.png">    </p:cNvPr>
          <p:cNvPicPr>
            <a:picLocks noChangeAspect="1"/>
          </p:cNvPicPr>
          <p:nvPr/>
        </p:nvPicPr>
        <p:blipFill>
          <a:blip r:embed="rId2"/>
          <a:stretch>
            <a:fillRect/>
          </a:stretch>
        </p:blipFill>
        <p:spPr>
          <a:xfrm>
            <a:off x="607219" y="1610916"/>
            <a:ext cx="214313" cy="171450"/>
          </a:xfrm>
          <a:prstGeom prst="rect">
            <a:avLst/>
          </a:prstGeom>
        </p:spPr>
      </p:pic>
      <p:sp>
        <p:nvSpPr>
          <p:cNvPr id="12" name="Text 7"/>
          <p:cNvSpPr/>
          <p:nvPr/>
        </p:nvSpPr>
        <p:spPr>
          <a:xfrm>
            <a:off x="607219" y="1909167"/>
            <a:ext cx="2262169" cy="371475"/>
          </a:xfrm>
          <a:prstGeom prst="rect">
            <a:avLst/>
          </a:prstGeom>
          <a:noFill/>
          <a:ln/>
        </p:spPr>
        <p:txBody>
          <a:bodyPr wrap="square" lIns="0" tIns="0" rIns="0" bIns="0" rtlCol="0" anchor="t">
            <a:spAutoFit/>
          </a:bodyPr>
          <a:lstStyle/>
          <a:p>
            <a:pPr algn="l" indent="0" marL="0">
              <a:lnSpc>
                <a:spcPts val="1500"/>
              </a:lnSpc>
              <a:buNone/>
            </a:pPr>
            <a:r>
              <a:rPr lang="en-US" sz="987" b="1" dirty="0">
                <a:solidFill>
                  <a:srgbClr val="E8EDF2"/>
                </a:solidFill>
                <a:latin typeface="Montserrat" pitchFamily="34" charset="0"/>
                <a:ea typeface="Montserrat" pitchFamily="34" charset="-122"/>
                <a:cs typeface="Montserrat" pitchFamily="34" charset="-120"/>
              </a:rPr>
              <a:t>Desconexão entre Previsão e Decisão</a:t>
            </a:r>
            <a:endParaRPr lang="en-US" sz="987" dirty="0"/>
          </a:p>
        </p:txBody>
      </p:sp>
      <p:sp>
        <p:nvSpPr>
          <p:cNvPr id="13" name="Text 8"/>
          <p:cNvSpPr/>
          <p:nvPr/>
        </p:nvSpPr>
        <p:spPr>
          <a:xfrm>
            <a:off x="607219" y="2637830"/>
            <a:ext cx="2262169" cy="8572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8EDF2">
                    <a:alpha val="70000"/>
                  </a:srgbClr>
                </a:solidFill>
                <a:latin typeface="Inter" pitchFamily="34" charset="0"/>
                <a:ea typeface="Inter" pitchFamily="34" charset="-122"/>
                <a:cs typeface="Inter" pitchFamily="34" charset="-120"/>
              </a:rPr>
              <a:t>A maioria dos trabalhos foca apenas na </a:t>
            </a:r>
            <a:pPr algn="l" indent="0" marL="0">
              <a:lnSpc>
                <a:spcPts val="1400"/>
              </a:lnSpc>
              <a:buNone/>
            </a:pPr>
            <a:r>
              <a:rPr lang="en-US" sz="780" dirty="0">
                <a:solidFill>
                  <a:srgbClr val="E8EDF2">
                    <a:alpha val="70000"/>
                  </a:srgbClr>
                </a:solidFill>
                <a:latin typeface="Inter" pitchFamily="34" charset="0"/>
                <a:ea typeface="Inter" pitchFamily="34" charset="-122"/>
                <a:cs typeface="Inter" pitchFamily="34" charset="-120"/>
              </a:rPr>
              <a:t>métrica de erro (RMSE/MAPE) ou em </a:t>
            </a:r>
            <a:pPr algn="l" indent="0" marL="0">
              <a:lnSpc>
                <a:spcPts val="1400"/>
              </a:lnSpc>
              <a:buNone/>
            </a:pPr>
            <a:r>
              <a:rPr lang="en-US" sz="780" dirty="0">
                <a:solidFill>
                  <a:srgbClr val="E8EDF2">
                    <a:alpha val="70000"/>
                  </a:srgbClr>
                </a:solidFill>
                <a:latin typeface="Inter" pitchFamily="34" charset="0"/>
                <a:ea typeface="Inter" pitchFamily="34" charset="-122"/>
                <a:cs typeface="Inter" pitchFamily="34" charset="-120"/>
              </a:rPr>
              <a:t>sistemas conectados à rede (Grid-tied). </a:t>
            </a:r>
            <a:pPr algn="l" indent="0" marL="0">
              <a:lnSpc>
                <a:spcPts val="1400"/>
              </a:lnSpc>
              <a:buNone/>
            </a:pPr>
            <a:r>
              <a:rPr lang="en-US" sz="780" dirty="0">
                <a:solidFill>
                  <a:srgbClr val="E8EDF2">
                    <a:alpha val="70000"/>
                  </a:srgbClr>
                </a:solidFill>
                <a:latin typeface="Inter" pitchFamily="34" charset="0"/>
                <a:ea typeface="Inter" pitchFamily="34" charset="-122"/>
                <a:cs typeface="Inter" pitchFamily="34" charset="-120"/>
              </a:rPr>
              <a:t>Poucos abordam o impacto da previsão na </a:t>
            </a:r>
            <a:pPr algn="l" indent="0" marL="0">
              <a:lnSpc>
                <a:spcPts val="1400"/>
              </a:lnSpc>
              <a:buNone/>
            </a:pPr>
            <a:r>
              <a:rPr lang="en-US" sz="780" dirty="0">
                <a:solidFill>
                  <a:srgbClr val="E8EDF2">
                    <a:alpha val="70000"/>
                  </a:srgbClr>
                </a:solidFill>
                <a:latin typeface="Inter" pitchFamily="34" charset="0"/>
                <a:ea typeface="Inter" pitchFamily="34" charset="-122"/>
                <a:cs typeface="Inter" pitchFamily="34" charset="-120"/>
              </a:rPr>
              <a:t>estabilidade de </a:t>
            </a:r>
            <a:pPr algn="l" indent="0" marL="0">
              <a:lnSpc>
                <a:spcPts val="1400"/>
              </a:lnSpc>
              <a:buNone/>
            </a:pPr>
            <a:r>
              <a:rPr lang="en-US" sz="734" b="1" dirty="0">
                <a:solidFill>
                  <a:srgbClr val="E8EDF2">
                    <a:alpha val="70000"/>
                  </a:srgbClr>
                </a:solidFill>
                <a:latin typeface="Inter" pitchFamily="34" charset="0"/>
                <a:ea typeface="Inter" pitchFamily="34" charset="-122"/>
                <a:cs typeface="Inter" pitchFamily="34" charset="-120"/>
              </a:rPr>
              <a:t>redes isoladas (FPSOs)</a:t>
            </a:r>
            <a:pPr algn="l" indent="0" marL="0">
              <a:lnSpc>
                <a:spcPts val="1400"/>
              </a:lnSpc>
              <a:buNone/>
            </a:pPr>
            <a:r>
              <a:rPr lang="en-US" sz="780" dirty="0">
                <a:solidFill>
                  <a:srgbClr val="E8EDF2">
                    <a:alpha val="70000"/>
                  </a:srgbClr>
                </a:solidFill>
                <a:latin typeface="Inter" pitchFamily="34" charset="0"/>
                <a:ea typeface="Inter" pitchFamily="34" charset="-122"/>
                <a:cs typeface="Inter" pitchFamily="34" charset="-120"/>
              </a:rPr>
              <a:t>.</a:t>
            </a:r>
            <a:endParaRPr lang="en-US" sz="780" dirty="0"/>
          </a:p>
        </p:txBody>
      </p:sp>
      <p:pic>
        <p:nvPicPr>
          <p:cNvPr id="14" name="Image 2" descr="preencoded.png">    </p:cNvPr>
          <p:cNvPicPr>
            <a:picLocks noChangeAspect="1"/>
          </p:cNvPicPr>
          <p:nvPr/>
        </p:nvPicPr>
        <p:blipFill>
          <a:blip r:embed="rId3"/>
          <a:stretch>
            <a:fillRect/>
          </a:stretch>
        </p:blipFill>
        <p:spPr>
          <a:xfrm>
            <a:off x="607219" y="4104084"/>
            <a:ext cx="78581" cy="78581"/>
          </a:xfrm>
          <a:prstGeom prst="rect">
            <a:avLst/>
          </a:prstGeom>
        </p:spPr>
      </p:pic>
      <p:sp>
        <p:nvSpPr>
          <p:cNvPr id="15" name="Text 9"/>
          <p:cNvSpPr/>
          <p:nvPr/>
        </p:nvSpPr>
        <p:spPr>
          <a:xfrm>
            <a:off x="728663" y="4095155"/>
            <a:ext cx="426839" cy="96441"/>
          </a:xfrm>
          <a:prstGeom prst="rect">
            <a:avLst/>
          </a:prstGeom>
          <a:noFill/>
          <a:ln/>
        </p:spPr>
        <p:txBody>
          <a:bodyPr wrap="none" lIns="0" tIns="0" rIns="0" bIns="0" rtlCol="0" anchor="t">
            <a:spAutoFit/>
          </a:bodyPr>
          <a:lstStyle/>
          <a:p>
            <a:pPr algn="l" indent="0" marL="0">
              <a:lnSpc>
                <a:spcPts val="700"/>
              </a:lnSpc>
              <a:buNone/>
            </a:pPr>
            <a:r>
              <a:rPr lang="en-US" sz="534" b="1" dirty="0">
                <a:solidFill>
                  <a:srgbClr val="F2C94C"/>
                </a:solidFill>
                <a:latin typeface="Inter" pitchFamily="34" charset="0"/>
                <a:ea typeface="Inter" pitchFamily="34" charset="-122"/>
                <a:cs typeface="Inter" pitchFamily="34" charset="-120"/>
              </a:rPr>
              <a:t>PROPOSTA</a:t>
            </a:r>
            <a:endParaRPr lang="en-US" sz="534" dirty="0"/>
          </a:p>
        </p:txBody>
      </p:sp>
      <p:sp>
        <p:nvSpPr>
          <p:cNvPr id="16" name="Text 10"/>
          <p:cNvSpPr/>
          <p:nvPr/>
        </p:nvSpPr>
        <p:spPr>
          <a:xfrm>
            <a:off x="607219" y="4234458"/>
            <a:ext cx="2262169" cy="257175"/>
          </a:xfrm>
          <a:prstGeom prst="rect">
            <a:avLst/>
          </a:prstGeom>
          <a:noFill/>
          <a:ln/>
        </p:spPr>
        <p:txBody>
          <a:bodyPr wrap="square" lIns="0" tIns="0" rIns="0" bIns="0" rtlCol="0" anchor="t">
            <a:spAutoFit/>
          </a:bodyPr>
          <a:lstStyle/>
          <a:p>
            <a:pPr algn="l" indent="0" marL="0">
              <a:lnSpc>
                <a:spcPts val="1000"/>
              </a:lnSpc>
              <a:buNone/>
            </a:pPr>
            <a:r>
              <a:rPr lang="en-US" sz="734" b="1" dirty="0">
                <a:solidFill>
                  <a:srgbClr val="FFFFFF"/>
                </a:solidFill>
                <a:latin typeface="Inter" pitchFamily="34" charset="0"/>
                <a:ea typeface="Inter" pitchFamily="34" charset="-122"/>
                <a:cs typeface="Inter" pitchFamily="34" charset="-120"/>
              </a:rPr>
              <a:t>Framework integrado focando na decisão final (despacho).</a:t>
            </a:r>
            <a:endParaRPr lang="en-US" sz="734" dirty="0"/>
          </a:p>
        </p:txBody>
      </p:sp>
      <p:sp>
        <p:nvSpPr>
          <p:cNvPr id="17" name="Shape 11"/>
          <p:cNvSpPr/>
          <p:nvPr/>
        </p:nvSpPr>
        <p:spPr>
          <a:xfrm>
            <a:off x="3262294" y="1241227"/>
            <a:ext cx="2619384" cy="3429000"/>
          </a:xfrm>
          <a:prstGeom prst="rect">
            <a:avLst/>
          </a:prstGeom>
          <a:solidFill>
            <a:srgbClr val="001D33">
              <a:alpha val="40000"/>
            </a:srgbClr>
          </a:solidFill>
          <a:ln w="9144">
            <a:solidFill>
              <a:srgbClr val="E8EDF2">
                <a:alpha val="10000"/>
              </a:srgbClr>
            </a:solidFill>
            <a:prstDash val="solid"/>
          </a:ln>
        </p:spPr>
      </p:sp>
      <p:sp>
        <p:nvSpPr>
          <p:cNvPr id="18" name="Shape 12"/>
          <p:cNvSpPr/>
          <p:nvPr/>
        </p:nvSpPr>
        <p:spPr>
          <a:xfrm>
            <a:off x="3262294" y="1241227"/>
            <a:ext cx="2619384" cy="1225153"/>
          </a:xfrm>
          <a:prstGeom prst="rect">
            <a:avLst/>
          </a:prstGeom>
          <a:solidFill>
            <a:srgbClr val="FFFFFF">
              <a:alpha val="2000"/>
            </a:srgbClr>
          </a:solidFill>
          <a:ln/>
        </p:spPr>
      </p:sp>
      <p:sp>
        <p:nvSpPr>
          <p:cNvPr id="19" name="Shape 13"/>
          <p:cNvSpPr/>
          <p:nvPr/>
        </p:nvSpPr>
        <p:spPr>
          <a:xfrm>
            <a:off x="3262294" y="2459236"/>
            <a:ext cx="2619384" cy="7144"/>
          </a:xfrm>
          <a:prstGeom prst="rect">
            <a:avLst/>
          </a:prstGeom>
          <a:solidFill>
            <a:srgbClr val="FDFDFE"/>
          </a:solidFill>
          <a:ln/>
        </p:spPr>
      </p:sp>
      <p:sp>
        <p:nvSpPr>
          <p:cNvPr id="20" name="Text 14"/>
          <p:cNvSpPr/>
          <p:nvPr/>
        </p:nvSpPr>
        <p:spPr>
          <a:xfrm>
            <a:off x="3440888" y="1419820"/>
            <a:ext cx="2262197" cy="103584"/>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2C94C">
                    <a:alpha val="60000"/>
                  </a:srgbClr>
                </a:solidFill>
                <a:latin typeface="Montserrat" pitchFamily="34" charset="0"/>
                <a:ea typeface="Montserrat" pitchFamily="34" charset="-122"/>
                <a:cs typeface="Montserrat" pitchFamily="34" charset="-120"/>
              </a:rPr>
              <a:t>LACUNA 02</a:t>
            </a:r>
            <a:endParaRPr lang="en-US" sz="584" dirty="0"/>
          </a:p>
        </p:txBody>
      </p:sp>
      <p:pic>
        <p:nvPicPr>
          <p:cNvPr id="21" name="Image 3" descr="preencoded.png">    </p:cNvPr>
          <p:cNvPicPr>
            <a:picLocks noChangeAspect="1"/>
          </p:cNvPicPr>
          <p:nvPr/>
        </p:nvPicPr>
        <p:blipFill>
          <a:blip r:embed="rId4"/>
          <a:stretch>
            <a:fillRect/>
          </a:stretch>
        </p:blipFill>
        <p:spPr>
          <a:xfrm>
            <a:off x="3440888" y="1610916"/>
            <a:ext cx="214313" cy="171450"/>
          </a:xfrm>
          <a:prstGeom prst="rect">
            <a:avLst/>
          </a:prstGeom>
        </p:spPr>
      </p:pic>
      <p:sp>
        <p:nvSpPr>
          <p:cNvPr id="22" name="Text 15"/>
          <p:cNvSpPr/>
          <p:nvPr/>
        </p:nvSpPr>
        <p:spPr>
          <a:xfrm>
            <a:off x="3440888" y="1909167"/>
            <a:ext cx="2262197" cy="371475"/>
          </a:xfrm>
          <a:prstGeom prst="rect">
            <a:avLst/>
          </a:prstGeom>
          <a:noFill/>
          <a:ln/>
        </p:spPr>
        <p:txBody>
          <a:bodyPr wrap="square" lIns="0" tIns="0" rIns="0" bIns="0" rtlCol="0" anchor="t">
            <a:spAutoFit/>
          </a:bodyPr>
          <a:lstStyle/>
          <a:p>
            <a:pPr algn="l" indent="0" marL="0">
              <a:lnSpc>
                <a:spcPts val="1500"/>
              </a:lnSpc>
              <a:buNone/>
            </a:pPr>
            <a:r>
              <a:rPr lang="en-US" sz="987" b="1" dirty="0">
                <a:solidFill>
                  <a:srgbClr val="E8EDF2"/>
                </a:solidFill>
                <a:latin typeface="Montserrat" pitchFamily="34" charset="0"/>
                <a:ea typeface="Montserrat" pitchFamily="34" charset="-122"/>
                <a:cs typeface="Montserrat" pitchFamily="34" charset="-120"/>
              </a:rPr>
              <a:t>Ausência de Calibração de Risco</a:t>
            </a:r>
            <a:endParaRPr lang="en-US" sz="987" dirty="0"/>
          </a:p>
        </p:txBody>
      </p:sp>
      <p:sp>
        <p:nvSpPr>
          <p:cNvPr id="23" name="Text 16"/>
          <p:cNvSpPr/>
          <p:nvPr/>
        </p:nvSpPr>
        <p:spPr>
          <a:xfrm>
            <a:off x="3440888" y="2637830"/>
            <a:ext cx="2262197" cy="8572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8EDF2">
                    <a:alpha val="70000"/>
                  </a:srgbClr>
                </a:solidFill>
                <a:latin typeface="Inter" pitchFamily="34" charset="0"/>
                <a:ea typeface="Inter" pitchFamily="34" charset="-122"/>
                <a:cs typeface="Inter" pitchFamily="34" charset="-120"/>
              </a:rPr>
              <a:t>Previsões probabilísticas puras (quantis) são difíceis de interpretar operacionalmente. Falta uma tradução clara para níveis de risco (ex: "Seguro" vs. "Crítico") para o operador.</a:t>
            </a:r>
            <a:endParaRPr lang="en-US" sz="780" dirty="0"/>
          </a:p>
        </p:txBody>
      </p:sp>
      <p:pic>
        <p:nvPicPr>
          <p:cNvPr id="24" name="Image 4" descr="preencoded.png">    </p:cNvPr>
          <p:cNvPicPr>
            <a:picLocks noChangeAspect="1"/>
          </p:cNvPicPr>
          <p:nvPr/>
        </p:nvPicPr>
        <p:blipFill>
          <a:blip r:embed="rId5"/>
          <a:stretch>
            <a:fillRect/>
          </a:stretch>
        </p:blipFill>
        <p:spPr>
          <a:xfrm>
            <a:off x="3440888" y="4104084"/>
            <a:ext cx="78581" cy="78581"/>
          </a:xfrm>
          <a:prstGeom prst="rect">
            <a:avLst/>
          </a:prstGeom>
        </p:spPr>
      </p:pic>
      <p:sp>
        <p:nvSpPr>
          <p:cNvPr id="25" name="Text 17"/>
          <p:cNvSpPr/>
          <p:nvPr/>
        </p:nvSpPr>
        <p:spPr>
          <a:xfrm>
            <a:off x="3562331" y="4095155"/>
            <a:ext cx="426839" cy="96441"/>
          </a:xfrm>
          <a:prstGeom prst="rect">
            <a:avLst/>
          </a:prstGeom>
          <a:noFill/>
          <a:ln/>
        </p:spPr>
        <p:txBody>
          <a:bodyPr wrap="none" lIns="0" tIns="0" rIns="0" bIns="0" rtlCol="0" anchor="t">
            <a:spAutoFit/>
          </a:bodyPr>
          <a:lstStyle/>
          <a:p>
            <a:pPr algn="l" indent="0" marL="0">
              <a:lnSpc>
                <a:spcPts val="700"/>
              </a:lnSpc>
              <a:buNone/>
            </a:pPr>
            <a:r>
              <a:rPr lang="en-US" sz="534" b="1" dirty="0">
                <a:solidFill>
                  <a:srgbClr val="F2C94C"/>
                </a:solidFill>
                <a:latin typeface="Inter" pitchFamily="34" charset="0"/>
                <a:ea typeface="Inter" pitchFamily="34" charset="-122"/>
                <a:cs typeface="Inter" pitchFamily="34" charset="-120"/>
              </a:rPr>
              <a:t>PROPOSTA</a:t>
            </a:r>
            <a:endParaRPr lang="en-US" sz="534" dirty="0"/>
          </a:p>
        </p:txBody>
      </p:sp>
      <p:sp>
        <p:nvSpPr>
          <p:cNvPr id="26" name="Text 18"/>
          <p:cNvSpPr/>
          <p:nvPr/>
        </p:nvSpPr>
        <p:spPr>
          <a:xfrm>
            <a:off x="3440888" y="4234458"/>
            <a:ext cx="2262197" cy="257175"/>
          </a:xfrm>
          <a:prstGeom prst="rect">
            <a:avLst/>
          </a:prstGeom>
          <a:noFill/>
          <a:ln/>
        </p:spPr>
        <p:txBody>
          <a:bodyPr wrap="square" lIns="0" tIns="0" rIns="0" bIns="0" rtlCol="0" anchor="t">
            <a:spAutoFit/>
          </a:bodyPr>
          <a:lstStyle/>
          <a:p>
            <a:pPr algn="l" indent="0" marL="0">
              <a:lnSpc>
                <a:spcPts val="1000"/>
              </a:lnSpc>
              <a:buNone/>
            </a:pPr>
            <a:r>
              <a:rPr lang="en-US" sz="734" b="1" dirty="0">
                <a:solidFill>
                  <a:srgbClr val="FFFFFF"/>
                </a:solidFill>
                <a:latin typeface="Inter" pitchFamily="34" charset="0"/>
                <a:ea typeface="Inter" pitchFamily="34" charset="-122"/>
                <a:cs typeface="Inter" pitchFamily="34" charset="-120"/>
              </a:rPr>
              <a:t>Índice de Risco Operacional (ORI) com Safety Factor.</a:t>
            </a:r>
            <a:endParaRPr lang="en-US" sz="734" dirty="0"/>
          </a:p>
        </p:txBody>
      </p:sp>
      <p:sp>
        <p:nvSpPr>
          <p:cNvPr id="27" name="Shape 19"/>
          <p:cNvSpPr/>
          <p:nvPr/>
        </p:nvSpPr>
        <p:spPr>
          <a:xfrm>
            <a:off x="6095991" y="1241227"/>
            <a:ext cx="2619356" cy="3429000"/>
          </a:xfrm>
          <a:prstGeom prst="rect">
            <a:avLst/>
          </a:prstGeom>
          <a:solidFill>
            <a:srgbClr val="001D33">
              <a:alpha val="40000"/>
            </a:srgbClr>
          </a:solidFill>
          <a:ln w="9144">
            <a:solidFill>
              <a:srgbClr val="E8EDF2">
                <a:alpha val="10000"/>
              </a:srgbClr>
            </a:solidFill>
            <a:prstDash val="solid"/>
          </a:ln>
        </p:spPr>
      </p:sp>
      <p:sp>
        <p:nvSpPr>
          <p:cNvPr id="28" name="Shape 20"/>
          <p:cNvSpPr/>
          <p:nvPr/>
        </p:nvSpPr>
        <p:spPr>
          <a:xfrm>
            <a:off x="6095991" y="1241227"/>
            <a:ext cx="2619356" cy="1225153"/>
          </a:xfrm>
          <a:prstGeom prst="rect">
            <a:avLst/>
          </a:prstGeom>
          <a:solidFill>
            <a:srgbClr val="FFFFFF">
              <a:alpha val="2000"/>
            </a:srgbClr>
          </a:solidFill>
          <a:ln/>
        </p:spPr>
      </p:sp>
      <p:sp>
        <p:nvSpPr>
          <p:cNvPr id="29" name="Shape 21"/>
          <p:cNvSpPr/>
          <p:nvPr/>
        </p:nvSpPr>
        <p:spPr>
          <a:xfrm>
            <a:off x="6095991" y="2459236"/>
            <a:ext cx="2619356" cy="7144"/>
          </a:xfrm>
          <a:prstGeom prst="rect">
            <a:avLst/>
          </a:prstGeom>
          <a:solidFill>
            <a:srgbClr val="FDFDFE"/>
          </a:solidFill>
          <a:ln/>
        </p:spPr>
      </p:sp>
      <p:sp>
        <p:nvSpPr>
          <p:cNvPr id="30" name="Text 22"/>
          <p:cNvSpPr/>
          <p:nvPr/>
        </p:nvSpPr>
        <p:spPr>
          <a:xfrm>
            <a:off x="6274584" y="1419820"/>
            <a:ext cx="2262169" cy="103584"/>
          </a:xfrm>
          <a:prstGeom prst="rect">
            <a:avLst/>
          </a:prstGeom>
          <a:noFill/>
          <a:ln/>
        </p:spPr>
        <p:txBody>
          <a:bodyPr wrap="none" lIns="0" tIns="0" rIns="0" bIns="0" rtlCol="0" anchor="t">
            <a:spAutoFit/>
          </a:bodyPr>
          <a:lstStyle/>
          <a:p>
            <a:pPr algn="l" indent="0" marL="0">
              <a:lnSpc>
                <a:spcPts val="800"/>
              </a:lnSpc>
              <a:buNone/>
            </a:pPr>
            <a:r>
              <a:rPr lang="en-US" sz="584" b="1" spc="2" kern="0" dirty="0">
                <a:solidFill>
                  <a:srgbClr val="F2C94C">
                    <a:alpha val="60000"/>
                  </a:srgbClr>
                </a:solidFill>
                <a:latin typeface="Montserrat" pitchFamily="34" charset="0"/>
                <a:ea typeface="Montserrat" pitchFamily="34" charset="-122"/>
                <a:cs typeface="Montserrat" pitchFamily="34" charset="-120"/>
              </a:rPr>
              <a:t>LACUNA 03</a:t>
            </a:r>
            <a:endParaRPr lang="en-US" sz="584" dirty="0"/>
          </a:p>
        </p:txBody>
      </p:sp>
      <p:pic>
        <p:nvPicPr>
          <p:cNvPr id="31" name="Image 5" descr="preencoded.png">    </p:cNvPr>
          <p:cNvPicPr>
            <a:picLocks noChangeAspect="1"/>
          </p:cNvPicPr>
          <p:nvPr/>
        </p:nvPicPr>
        <p:blipFill>
          <a:blip r:embed="rId6"/>
          <a:stretch>
            <a:fillRect/>
          </a:stretch>
        </p:blipFill>
        <p:spPr>
          <a:xfrm>
            <a:off x="6274584" y="1610916"/>
            <a:ext cx="214313" cy="171450"/>
          </a:xfrm>
          <a:prstGeom prst="rect">
            <a:avLst/>
          </a:prstGeom>
        </p:spPr>
      </p:pic>
      <p:sp>
        <p:nvSpPr>
          <p:cNvPr id="32" name="Text 23"/>
          <p:cNvSpPr/>
          <p:nvPr/>
        </p:nvSpPr>
        <p:spPr>
          <a:xfrm>
            <a:off x="6274584" y="1909167"/>
            <a:ext cx="2262169" cy="371475"/>
          </a:xfrm>
          <a:prstGeom prst="rect">
            <a:avLst/>
          </a:prstGeom>
          <a:noFill/>
          <a:ln/>
        </p:spPr>
        <p:txBody>
          <a:bodyPr wrap="square" lIns="0" tIns="0" rIns="0" bIns="0" rtlCol="0" anchor="t">
            <a:spAutoFit/>
          </a:bodyPr>
          <a:lstStyle/>
          <a:p>
            <a:pPr algn="l" indent="0" marL="0">
              <a:lnSpc>
                <a:spcPts val="1500"/>
              </a:lnSpc>
              <a:buNone/>
            </a:pPr>
            <a:r>
              <a:rPr lang="en-US" sz="987" b="1" dirty="0">
                <a:solidFill>
                  <a:srgbClr val="E8EDF2"/>
                </a:solidFill>
                <a:latin typeface="Montserrat" pitchFamily="34" charset="0"/>
                <a:ea typeface="Montserrat" pitchFamily="34" charset="-122"/>
                <a:cs typeface="Montserrat" pitchFamily="34" charset="-120"/>
              </a:rPr>
              <a:t>GenAI em Operações Offshore</a:t>
            </a:r>
            <a:endParaRPr lang="en-US" sz="987" dirty="0"/>
          </a:p>
        </p:txBody>
      </p:sp>
      <p:sp>
        <p:nvSpPr>
          <p:cNvPr id="33" name="Text 24"/>
          <p:cNvSpPr/>
          <p:nvPr/>
        </p:nvSpPr>
        <p:spPr>
          <a:xfrm>
            <a:off x="6274584" y="2637830"/>
            <a:ext cx="2262169" cy="8572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E8EDF2">
                    <a:alpha val="70000"/>
                  </a:srgbClr>
                </a:solidFill>
                <a:latin typeface="Inter" pitchFamily="34" charset="0"/>
                <a:ea typeface="Inter" pitchFamily="34" charset="-122"/>
                <a:cs typeface="Inter" pitchFamily="34" charset="-120"/>
              </a:rPr>
              <a:t>O uso de Large Language Models (LLMs) para suporte contextual e automação de tarefas em salas de controle offshore é praticamente inexplorado na literatura técnica.</a:t>
            </a:r>
            <a:endParaRPr lang="en-US" sz="780" dirty="0"/>
          </a:p>
        </p:txBody>
      </p:sp>
      <p:pic>
        <p:nvPicPr>
          <p:cNvPr id="34" name="Image 6" descr="preencoded.png">    </p:cNvPr>
          <p:cNvPicPr>
            <a:picLocks noChangeAspect="1"/>
          </p:cNvPicPr>
          <p:nvPr/>
        </p:nvPicPr>
        <p:blipFill>
          <a:blip r:embed="rId7"/>
          <a:stretch>
            <a:fillRect/>
          </a:stretch>
        </p:blipFill>
        <p:spPr>
          <a:xfrm>
            <a:off x="6274584" y="4232672"/>
            <a:ext cx="78581" cy="78581"/>
          </a:xfrm>
          <a:prstGeom prst="rect">
            <a:avLst/>
          </a:prstGeom>
        </p:spPr>
      </p:pic>
      <p:sp>
        <p:nvSpPr>
          <p:cNvPr id="35" name="Text 25"/>
          <p:cNvSpPr/>
          <p:nvPr/>
        </p:nvSpPr>
        <p:spPr>
          <a:xfrm>
            <a:off x="6396028" y="4223742"/>
            <a:ext cx="426839" cy="96441"/>
          </a:xfrm>
          <a:prstGeom prst="rect">
            <a:avLst/>
          </a:prstGeom>
          <a:noFill/>
          <a:ln/>
        </p:spPr>
        <p:txBody>
          <a:bodyPr wrap="none" lIns="0" tIns="0" rIns="0" bIns="0" rtlCol="0" anchor="t">
            <a:spAutoFit/>
          </a:bodyPr>
          <a:lstStyle/>
          <a:p>
            <a:pPr algn="l" indent="0" marL="0">
              <a:lnSpc>
                <a:spcPts val="700"/>
              </a:lnSpc>
              <a:buNone/>
            </a:pPr>
            <a:r>
              <a:rPr lang="en-US" sz="534" b="1" dirty="0">
                <a:solidFill>
                  <a:srgbClr val="F2C94C"/>
                </a:solidFill>
                <a:latin typeface="Inter" pitchFamily="34" charset="0"/>
                <a:ea typeface="Inter" pitchFamily="34" charset="-122"/>
                <a:cs typeface="Inter" pitchFamily="34" charset="-120"/>
              </a:rPr>
              <a:t>PROPOSTA</a:t>
            </a:r>
            <a:endParaRPr lang="en-US" sz="534" dirty="0"/>
          </a:p>
        </p:txBody>
      </p:sp>
      <p:sp>
        <p:nvSpPr>
          <p:cNvPr id="36" name="Text 26"/>
          <p:cNvSpPr/>
          <p:nvPr/>
        </p:nvSpPr>
        <p:spPr>
          <a:xfrm>
            <a:off x="6274584" y="4363045"/>
            <a:ext cx="2262169" cy="128588"/>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FFFFF"/>
                </a:solidFill>
                <a:latin typeface="Inter" pitchFamily="34" charset="0"/>
                <a:ea typeface="Inter" pitchFamily="34" charset="-122"/>
                <a:cs typeface="Inter" pitchFamily="34" charset="-120"/>
              </a:rPr>
              <a:t>AI Copilot com arquitetura RAG e Agentes.</a:t>
            </a:r>
            <a:endParaRPr lang="en-US" sz="734"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498527" y="1945779"/>
            <a:ext cx="4146947" cy="857250"/>
          </a:xfrm>
          <a:prstGeom prst="rect">
            <a:avLst/>
          </a:prstGeom>
          <a:noFill/>
          <a:ln/>
        </p:spPr>
        <p:txBody>
          <a:bodyPr wrap="none" lIns="0" tIns="0" rIns="0" bIns="0" rtlCol="0" anchor="t">
            <a:spAutoFit/>
          </a:bodyPr>
          <a:lstStyle/>
          <a:p>
            <a:pPr algn="ctr" indent="0" marL="0">
              <a:lnSpc>
                <a:spcPts val="6800"/>
              </a:lnSpc>
              <a:buNone/>
            </a:pPr>
            <a:r>
              <a:rPr lang="en-US" sz="6218" b="1" dirty="0">
                <a:solidFill>
                  <a:srgbClr val="F2C94C">
                    <a:alpha val="12000"/>
                  </a:srgbClr>
                </a:solidFill>
                <a:latin typeface="Montserrat" pitchFamily="34" charset="0"/>
                <a:ea typeface="Montserrat" pitchFamily="34" charset="-122"/>
                <a:cs typeface="Montserrat" pitchFamily="34" charset="-120"/>
              </a:rPr>
              <a:t>03</a:t>
            </a:r>
            <a:endParaRPr lang="en-US" sz="6218" dirty="0"/>
          </a:p>
        </p:txBody>
      </p:sp>
      <p:sp>
        <p:nvSpPr>
          <p:cNvPr id="5" name="Text 1"/>
          <p:cNvSpPr/>
          <p:nvPr/>
        </p:nvSpPr>
        <p:spPr>
          <a:xfrm>
            <a:off x="2498527" y="2660154"/>
            <a:ext cx="4146947" cy="366117"/>
          </a:xfrm>
          <a:prstGeom prst="rect">
            <a:avLst/>
          </a:prstGeom>
          <a:noFill/>
          <a:ln/>
        </p:spPr>
        <p:txBody>
          <a:bodyPr wrap="none" lIns="0" tIns="0" rIns="0" bIns="0" rtlCol="0" anchor="t">
            <a:spAutoFit/>
          </a:bodyPr>
          <a:lstStyle/>
          <a:p>
            <a:pPr algn="ctr" indent="0" marL="0">
              <a:lnSpc>
                <a:spcPts val="2800"/>
              </a:lnSpc>
              <a:buNone/>
            </a:pPr>
            <a:r>
              <a:rPr lang="en-US" sz="2121" b="1" dirty="0">
                <a:solidFill>
                  <a:srgbClr val="F2C94C"/>
                </a:solidFill>
                <a:latin typeface="Montserrat" pitchFamily="34" charset="0"/>
                <a:ea typeface="Montserrat" pitchFamily="34" charset="-122"/>
                <a:cs typeface="Montserrat" pitchFamily="34" charset="-120"/>
              </a:rPr>
              <a:t>Técnicas de Deep Learning</a:t>
            </a:r>
            <a:endParaRPr lang="en-US" sz="212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SLIDING WINDOW PARA SÉRIES TEMPORAIS</a:t>
            </a:r>
            <a:endParaRPr lang="en-US" sz="1808" dirty="0"/>
          </a:p>
        </p:txBody>
      </p:sp>
      <p:sp>
        <p:nvSpPr>
          <p:cNvPr id="7" name="Shape 3"/>
          <p:cNvSpPr/>
          <p:nvPr/>
        </p:nvSpPr>
        <p:spPr>
          <a:xfrm>
            <a:off x="428625" y="1953816"/>
            <a:ext cx="3309928" cy="785813"/>
          </a:xfrm>
          <a:prstGeom prst="rect">
            <a:avLst/>
          </a:prstGeom>
          <a:solidFill>
            <a:srgbClr val="1A4B6E">
              <a:alpha val="30000"/>
            </a:srgbClr>
          </a:solidFill>
          <a:ln/>
        </p:spPr>
      </p:sp>
      <p:sp>
        <p:nvSpPr>
          <p:cNvPr id="8" name="Shape 4"/>
          <p:cNvSpPr/>
          <p:nvPr/>
        </p:nvSpPr>
        <p:spPr>
          <a:xfrm>
            <a:off x="428625" y="1953816"/>
            <a:ext cx="28575" cy="785813"/>
          </a:xfrm>
          <a:prstGeom prst="rect">
            <a:avLst/>
          </a:prstGeom>
          <a:solidFill>
            <a:srgbClr val="F2C94C"/>
          </a:solidFill>
          <a:ln/>
        </p:spPr>
      </p:sp>
      <p:sp>
        <p:nvSpPr>
          <p:cNvPr id="9" name="Text 5"/>
          <p:cNvSpPr/>
          <p:nvPr/>
        </p:nvSpPr>
        <p:spPr>
          <a:xfrm>
            <a:off x="542925" y="2068116"/>
            <a:ext cx="3081328"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Aprendizado Supervisionado</a:t>
            </a:r>
            <a:endParaRPr lang="en-US" sz="885" dirty="0"/>
          </a:p>
        </p:txBody>
      </p:sp>
      <p:sp>
        <p:nvSpPr>
          <p:cNvPr id="10" name="Text 6"/>
          <p:cNvSpPr/>
          <p:nvPr/>
        </p:nvSpPr>
        <p:spPr>
          <a:xfrm>
            <a:off x="542925" y="2282428"/>
            <a:ext cx="3081328"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Transformação da série temporal contínua em pares de </a:t>
            </a:r>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Input (X)</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e </a:t>
            </a:r>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Target (y)</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através de uma janela deslizante.</a:t>
            </a:r>
            <a:endParaRPr lang="en-US" sz="834" dirty="0"/>
          </a:p>
        </p:txBody>
      </p:sp>
      <p:sp>
        <p:nvSpPr>
          <p:cNvPr id="11" name="Shape 7"/>
          <p:cNvSpPr/>
          <p:nvPr/>
        </p:nvSpPr>
        <p:spPr>
          <a:xfrm>
            <a:off x="428625" y="2911078"/>
            <a:ext cx="3309928" cy="462558"/>
          </a:xfrm>
          <a:prstGeom prst="rect">
            <a:avLst/>
          </a:prstGeom>
          <a:solidFill>
            <a:srgbClr val="001D33">
              <a:alpha val="40000"/>
            </a:srgbClr>
          </a:solidFill>
          <a:ln w="9144">
            <a:solidFill>
              <a:srgbClr val="F2C94C">
                <a:alpha val="20000"/>
              </a:srgbClr>
            </a:solidFill>
            <a:prstDash val="solid"/>
          </a:ln>
        </p:spPr>
      </p:sp>
      <p:sp>
        <p:nvSpPr>
          <p:cNvPr id="12" name="Text 8"/>
          <p:cNvSpPr/>
          <p:nvPr/>
        </p:nvSpPr>
        <p:spPr>
          <a:xfrm>
            <a:off x="514350" y="3028950"/>
            <a:ext cx="428625"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JetBrains Mono" pitchFamily="34" charset="0"/>
                <a:ea typeface="JetBrains Mono" pitchFamily="34" charset="-122"/>
                <a:cs typeface="JetBrains Mono" pitchFamily="34" charset="-120"/>
              </a:rPr>
              <a:t>L=6</a:t>
            </a:r>
            <a:endParaRPr lang="en-US" sz="1193" dirty="0"/>
          </a:p>
        </p:txBody>
      </p:sp>
      <p:sp>
        <p:nvSpPr>
          <p:cNvPr id="13" name="Text 9"/>
          <p:cNvSpPr/>
          <p:nvPr/>
        </p:nvSpPr>
        <p:spPr>
          <a:xfrm>
            <a:off x="942975" y="3003947"/>
            <a:ext cx="2709853"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E8EDF2">
                    <a:alpha val="50000"/>
                  </a:srgbClr>
                </a:solidFill>
                <a:latin typeface="Inter" pitchFamily="34" charset="0"/>
                <a:ea typeface="Inter" pitchFamily="34" charset="-122"/>
                <a:cs typeface="Inter" pitchFamily="34" charset="-120"/>
              </a:rPr>
              <a:t>INPUT LAG (LOOK-BACK)</a:t>
            </a:r>
            <a:endParaRPr lang="en-US" sz="683" dirty="0"/>
          </a:p>
        </p:txBody>
      </p:sp>
      <p:sp>
        <p:nvSpPr>
          <p:cNvPr id="14" name="Text 10"/>
          <p:cNvSpPr/>
          <p:nvPr/>
        </p:nvSpPr>
        <p:spPr>
          <a:xfrm>
            <a:off x="942975" y="3125391"/>
            <a:ext cx="2709853"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60 minutos de histórico</a:t>
            </a:r>
            <a:endParaRPr lang="en-US" sz="885" dirty="0"/>
          </a:p>
        </p:txBody>
      </p:sp>
      <p:sp>
        <p:nvSpPr>
          <p:cNvPr id="15" name="Shape 11"/>
          <p:cNvSpPr/>
          <p:nvPr/>
        </p:nvSpPr>
        <p:spPr>
          <a:xfrm>
            <a:off x="428625" y="3452217"/>
            <a:ext cx="3309928" cy="462558"/>
          </a:xfrm>
          <a:prstGeom prst="rect">
            <a:avLst/>
          </a:prstGeom>
          <a:solidFill>
            <a:srgbClr val="001D33">
              <a:alpha val="40000"/>
            </a:srgbClr>
          </a:solidFill>
          <a:ln w="9144">
            <a:solidFill>
              <a:srgbClr val="F2C94C">
                <a:alpha val="20000"/>
              </a:srgbClr>
            </a:solidFill>
            <a:prstDash val="solid"/>
          </a:ln>
        </p:spPr>
      </p:sp>
      <p:sp>
        <p:nvSpPr>
          <p:cNvPr id="16" name="Text 12"/>
          <p:cNvSpPr/>
          <p:nvPr/>
        </p:nvSpPr>
        <p:spPr>
          <a:xfrm>
            <a:off x="514350" y="3570089"/>
            <a:ext cx="428625"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JetBrains Mono" pitchFamily="34" charset="0"/>
                <a:ea typeface="JetBrains Mono" pitchFamily="34" charset="-122"/>
                <a:cs typeface="JetBrains Mono" pitchFamily="34" charset="-120"/>
              </a:rPr>
              <a:t>H=3</a:t>
            </a:r>
            <a:endParaRPr lang="en-US" sz="1193" dirty="0"/>
          </a:p>
        </p:txBody>
      </p:sp>
      <p:sp>
        <p:nvSpPr>
          <p:cNvPr id="17" name="Text 13"/>
          <p:cNvSpPr/>
          <p:nvPr/>
        </p:nvSpPr>
        <p:spPr>
          <a:xfrm>
            <a:off x="942975" y="3545086"/>
            <a:ext cx="2709853"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E8EDF2">
                    <a:alpha val="50000"/>
                  </a:srgbClr>
                </a:solidFill>
                <a:latin typeface="Inter" pitchFamily="34" charset="0"/>
                <a:ea typeface="Inter" pitchFamily="34" charset="-122"/>
                <a:cs typeface="Inter" pitchFamily="34" charset="-120"/>
              </a:rPr>
              <a:t>FORECAST HORIZON</a:t>
            </a:r>
            <a:endParaRPr lang="en-US" sz="683" dirty="0"/>
          </a:p>
        </p:txBody>
      </p:sp>
      <p:sp>
        <p:nvSpPr>
          <p:cNvPr id="18" name="Text 14"/>
          <p:cNvSpPr/>
          <p:nvPr/>
        </p:nvSpPr>
        <p:spPr>
          <a:xfrm>
            <a:off x="942975" y="3666530"/>
            <a:ext cx="2709853"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t+10, t+20, t+30 min</a:t>
            </a:r>
            <a:endParaRPr lang="en-US" sz="885" dirty="0"/>
          </a:p>
        </p:txBody>
      </p:sp>
      <p:sp>
        <p:nvSpPr>
          <p:cNvPr id="19" name="Shape 15"/>
          <p:cNvSpPr/>
          <p:nvPr/>
        </p:nvSpPr>
        <p:spPr>
          <a:xfrm>
            <a:off x="4081453" y="1169789"/>
            <a:ext cx="4633894" cy="1530548"/>
          </a:xfrm>
          <a:prstGeom prst="rect">
            <a:avLst/>
          </a:prstGeom>
          <a:solidFill>
            <a:srgbClr val="F2C94C">
              <a:alpha val="5000"/>
            </a:srgbClr>
          </a:solidFill>
          <a:ln w="18288">
            <a:solidFill>
              <a:srgbClr val="F2C94C">
                <a:alpha val="50000"/>
              </a:srgbClr>
            </a:solidFill>
            <a:prstDash val="dash"/>
          </a:ln>
        </p:spPr>
      </p:sp>
      <p:pic>
        <p:nvPicPr>
          <p:cNvPr id="20" name="Image 1" descr="preencoded.png">    </p:cNvPr>
          <p:cNvPicPr>
            <a:picLocks noChangeAspect="1"/>
          </p:cNvPicPr>
          <p:nvPr/>
        </p:nvPicPr>
        <p:blipFill>
          <a:blip r:embed="rId2">
            <a:alphaModFix amt="80000"/>
          </a:blip>
          <a:stretch>
            <a:fillRect/>
          </a:stretch>
        </p:blipFill>
        <p:spPr>
          <a:xfrm>
            <a:off x="6198375" y="1398389"/>
            <a:ext cx="400050" cy="400050"/>
          </a:xfrm>
          <a:prstGeom prst="rect">
            <a:avLst/>
          </a:prstGeom>
        </p:spPr>
      </p:pic>
      <p:sp>
        <p:nvSpPr>
          <p:cNvPr id="21" name="Text 16"/>
          <p:cNvSpPr/>
          <p:nvPr/>
        </p:nvSpPr>
        <p:spPr>
          <a:xfrm>
            <a:off x="5221467" y="1941314"/>
            <a:ext cx="2353866"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5.2 da Dissertação</a:t>
            </a:r>
            <a:endParaRPr lang="en-US" sz="987" dirty="0"/>
          </a:p>
        </p:txBody>
      </p:sp>
      <p:sp>
        <p:nvSpPr>
          <p:cNvPr id="22" name="Text 17"/>
          <p:cNvSpPr/>
          <p:nvPr/>
        </p:nvSpPr>
        <p:spPr>
          <a:xfrm>
            <a:off x="4727711" y="2185988"/>
            <a:ext cx="3341350"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Ilustração do processo de Sliding Window: Inputs (azul) e Targets (laranja) ao longo do tempo</a:t>
            </a:r>
            <a:endParaRPr lang="en-US" sz="780" dirty="0"/>
          </a:p>
        </p:txBody>
      </p:sp>
      <p:sp>
        <p:nvSpPr>
          <p:cNvPr id="23" name="Text 18"/>
          <p:cNvSpPr/>
          <p:nvPr/>
        </p:nvSpPr>
        <p:spPr>
          <a:xfrm>
            <a:off x="4081453" y="2757488"/>
            <a:ext cx="4633894"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ARQUITETURAS RECORRENTES: RNN, LSTM E GRU</a:t>
            </a:r>
            <a:endParaRPr lang="en-US" sz="1808" dirty="0"/>
          </a:p>
        </p:txBody>
      </p:sp>
      <p:sp>
        <p:nvSpPr>
          <p:cNvPr id="7" name="Shape 3"/>
          <p:cNvSpPr/>
          <p:nvPr/>
        </p:nvSpPr>
        <p:spPr>
          <a:xfrm>
            <a:off x="428625" y="1055489"/>
            <a:ext cx="8286750" cy="489347"/>
          </a:xfrm>
          <a:prstGeom prst="rect">
            <a:avLst/>
          </a:prstGeom>
          <a:solidFill>
            <a:srgbClr val="1A4B6E">
              <a:alpha val="30000"/>
            </a:srgbClr>
          </a:solidFill>
          <a:ln/>
        </p:spPr>
      </p:sp>
      <p:sp>
        <p:nvSpPr>
          <p:cNvPr id="8" name="Shape 4"/>
          <p:cNvSpPr/>
          <p:nvPr/>
        </p:nvSpPr>
        <p:spPr>
          <a:xfrm>
            <a:off x="428625" y="1055489"/>
            <a:ext cx="28575" cy="489347"/>
          </a:xfrm>
          <a:prstGeom prst="rect">
            <a:avLst/>
          </a:prstGeom>
          <a:solidFill>
            <a:srgbClr val="F2C94C"/>
          </a:solidFill>
          <a:ln/>
        </p:spPr>
      </p:sp>
      <p:sp>
        <p:nvSpPr>
          <p:cNvPr id="9" name="Text 5"/>
          <p:cNvSpPr/>
          <p:nvPr/>
        </p:nvSpPr>
        <p:spPr>
          <a:xfrm>
            <a:off x="428625" y="1055489"/>
            <a:ext cx="8286750" cy="489347"/>
          </a:xfrm>
          <a:prstGeom prst="rect">
            <a:avLst/>
          </a:prstGeom>
          <a:noFill/>
          <a:ln/>
        </p:spPr>
        <p:txBody>
          <a:bodyPr wrap="square" lIns="170053" tIns="127508" rIns="170053" bIns="127508" rtlCol="0" anchor="t">
            <a:spAutoFit/>
          </a:bodyPr>
          <a:lstStyle/>
          <a:p>
            <a:pPr algn="l" indent="0" marL="0">
              <a:lnSpc>
                <a:spcPts val="1100"/>
              </a:lnSpc>
              <a:buNone/>
            </a:pPr>
            <a:pPr algn="l" indent="0" marL="0">
              <a:lnSpc>
                <a:spcPts val="1100"/>
              </a:lnSpc>
              <a:buNone/>
            </a:pPr>
            <a:r>
              <a:rPr lang="en-US" sz="784" b="1" dirty="0">
                <a:solidFill>
                  <a:srgbClr val="E8EDF2">
                    <a:alpha val="90000"/>
                  </a:srgbClr>
                </a:solidFill>
                <a:latin typeface="Inter" pitchFamily="34" charset="0"/>
                <a:ea typeface="Inter" pitchFamily="34" charset="-122"/>
                <a:cs typeface="Inter" pitchFamily="34" charset="-120"/>
              </a:rPr>
              <a:t>Problema das RNNs Simples:</a:t>
            </a:r>
            <a:pPr algn="l" indent="0" marL="0">
              <a:lnSpc>
                <a:spcPts val="1100"/>
              </a:lnSpc>
              <a:buNone/>
            </a:pPr>
            <a:r>
              <a:rPr lang="en-US" sz="834" dirty="0">
                <a:solidFill>
                  <a:srgbClr val="E8EDF2">
                    <a:alpha val="90000"/>
                  </a:srgbClr>
                </a:solidFill>
                <a:latin typeface="Inter" pitchFamily="34" charset="0"/>
                <a:ea typeface="Inter" pitchFamily="34" charset="-122"/>
                <a:cs typeface="Inter" pitchFamily="34" charset="-120"/>
              </a:rPr>
              <a:t> Dificuldade em aprender dependências de longo prazo devido ao problema do desvanecimento do gradiente </a:t>
            </a:r>
            <a:pPr algn="l" indent="0" marL="0">
              <a:lnSpc>
                <a:spcPts val="1100"/>
              </a:lnSpc>
              <a:buNone/>
            </a:pPr>
            <a:r>
              <a:rPr lang="en-US" sz="834" dirty="0">
                <a:solidFill>
                  <a:srgbClr val="E8EDF2">
                    <a:alpha val="90000"/>
                  </a:srgbClr>
                </a:solidFill>
                <a:latin typeface="Inter" pitchFamily="34" charset="0"/>
                <a:ea typeface="Inter" pitchFamily="34" charset="-122"/>
                <a:cs typeface="Inter" pitchFamily="34" charset="-120"/>
              </a:rPr>
              <a:t>(Vanishing Gradient).</a:t>
            </a:r>
            <a:endParaRPr lang="en-US" sz="834" dirty="0"/>
          </a:p>
        </p:txBody>
      </p:sp>
      <p:sp>
        <p:nvSpPr>
          <p:cNvPr id="10" name="Shape 6"/>
          <p:cNvSpPr/>
          <p:nvPr/>
        </p:nvSpPr>
        <p:spPr>
          <a:xfrm>
            <a:off x="428625" y="1687711"/>
            <a:ext cx="4029075" cy="3000375"/>
          </a:xfrm>
          <a:prstGeom prst="rect">
            <a:avLst/>
          </a:prstGeom>
          <a:solidFill>
            <a:srgbClr val="001D33">
              <a:alpha val="30000"/>
            </a:srgbClr>
          </a:solidFill>
          <a:ln w="9144">
            <a:solidFill>
              <a:srgbClr val="F2C94C">
                <a:alpha val="20000"/>
              </a:srgbClr>
            </a:solidFill>
            <a:prstDash val="solid"/>
          </a:ln>
        </p:spPr>
      </p:sp>
      <p:sp>
        <p:nvSpPr>
          <p:cNvPr id="11" name="Text 7"/>
          <p:cNvSpPr/>
          <p:nvPr/>
        </p:nvSpPr>
        <p:spPr>
          <a:xfrm>
            <a:off x="571500" y="1830586"/>
            <a:ext cx="2571750"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Montserrat" pitchFamily="34" charset="0"/>
                <a:ea typeface="Montserrat" pitchFamily="34" charset="-122"/>
                <a:cs typeface="Montserrat" pitchFamily="34" charset="-120"/>
              </a:rPr>
              <a:t>LSTM</a:t>
            </a:r>
            <a:endParaRPr lang="en-US" sz="1193" dirty="0"/>
          </a:p>
        </p:txBody>
      </p:sp>
      <p:sp>
        <p:nvSpPr>
          <p:cNvPr id="12" name="Shape 8"/>
          <p:cNvSpPr/>
          <p:nvPr/>
        </p:nvSpPr>
        <p:spPr>
          <a:xfrm>
            <a:off x="3143250" y="1853803"/>
            <a:ext cx="1171575" cy="162520"/>
          </a:xfrm>
          <a:prstGeom prst="rect">
            <a:avLst/>
          </a:prstGeom>
          <a:solidFill>
            <a:srgbClr val="F2C94C">
              <a:alpha val="10000"/>
            </a:srgbClr>
          </a:solidFill>
          <a:ln/>
        </p:spPr>
      </p:sp>
      <p:sp>
        <p:nvSpPr>
          <p:cNvPr id="13" name="Text 9"/>
          <p:cNvSpPr/>
          <p:nvPr/>
        </p:nvSpPr>
        <p:spPr>
          <a:xfrm>
            <a:off x="3143250" y="1853803"/>
            <a:ext cx="1171575" cy="162520"/>
          </a:xfrm>
          <a:prstGeom prst="rect">
            <a:avLst/>
          </a:prstGeom>
          <a:noFill/>
          <a:ln/>
        </p:spPr>
        <p:txBody>
          <a:bodyPr wrap="square" lIns="68072" tIns="34036" rIns="68072" bIns="34036" rtlCol="0" anchor="t">
            <a:spAutoFit/>
          </a:bodyPr>
          <a:lstStyle/>
          <a:p>
            <a:pPr algn="l" indent="0" marL="0">
              <a:lnSpc>
                <a:spcPts val="800"/>
              </a:lnSpc>
              <a:buNone/>
            </a:pPr>
            <a:r>
              <a:rPr lang="en-US" sz="584" b="1" dirty="0">
                <a:solidFill>
                  <a:srgbClr val="F2C94C"/>
                </a:solidFill>
                <a:latin typeface="Inter" pitchFamily="34" charset="0"/>
                <a:ea typeface="Inter" pitchFamily="34" charset="-122"/>
                <a:cs typeface="Inter" pitchFamily="34" charset="-120"/>
              </a:rPr>
              <a:t>Long Short-Term Memory</a:t>
            </a:r>
            <a:endParaRPr lang="en-US" sz="584" dirty="0"/>
          </a:p>
        </p:txBody>
      </p:sp>
      <p:sp>
        <p:nvSpPr>
          <p:cNvPr id="14" name="Text 10"/>
          <p:cNvSpPr/>
          <p:nvPr/>
        </p:nvSpPr>
        <p:spPr>
          <a:xfrm>
            <a:off x="571500" y="2218134"/>
            <a:ext cx="374332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Forget Gate (ft): O que esquecer?</a:t>
            </a:r>
            <a:endParaRPr lang="en-US" sz="727" dirty="0"/>
          </a:p>
        </p:txBody>
      </p:sp>
      <p:sp>
        <p:nvSpPr>
          <p:cNvPr id="15" name="Text 11"/>
          <p:cNvSpPr/>
          <p:nvPr/>
        </p:nvSpPr>
        <p:spPr>
          <a:xfrm>
            <a:off x="571500" y="2393156"/>
            <a:ext cx="374332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Input Gate (it): O que atualizar?</a:t>
            </a:r>
            <a:endParaRPr lang="en-US" sz="727" dirty="0"/>
          </a:p>
        </p:txBody>
      </p:sp>
      <p:sp>
        <p:nvSpPr>
          <p:cNvPr id="16" name="Text 12"/>
          <p:cNvSpPr/>
          <p:nvPr/>
        </p:nvSpPr>
        <p:spPr>
          <a:xfrm>
            <a:off x="571500" y="2568178"/>
            <a:ext cx="374332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Output Gate (ot): O que passar adiante?</a:t>
            </a:r>
            <a:endParaRPr lang="en-US" sz="727" dirty="0"/>
          </a:p>
        </p:txBody>
      </p:sp>
      <p:sp>
        <p:nvSpPr>
          <p:cNvPr id="17" name="Shape 13"/>
          <p:cNvSpPr/>
          <p:nvPr/>
        </p:nvSpPr>
        <p:spPr>
          <a:xfrm>
            <a:off x="571500" y="2828925"/>
            <a:ext cx="3743325" cy="1553766"/>
          </a:xfrm>
          <a:prstGeom prst="rect">
            <a:avLst/>
          </a:prstGeom>
          <a:solidFill>
            <a:srgbClr val="F2C94C">
              <a:alpha val="5000"/>
            </a:srgbClr>
          </a:solidFill>
          <a:ln w="18288">
            <a:solidFill>
              <a:srgbClr val="F2C94C">
                <a:alpha val="40000"/>
              </a:srgbClr>
            </a:solidFill>
            <a:prstDash val="dash"/>
          </a:ln>
        </p:spPr>
      </p:sp>
      <p:pic>
        <p:nvPicPr>
          <p:cNvPr id="18" name="Image 1" descr="preencoded.png">    </p:cNvPr>
          <p:cNvPicPr>
            <a:picLocks noChangeAspect="1"/>
          </p:cNvPicPr>
          <p:nvPr/>
        </p:nvPicPr>
        <p:blipFill>
          <a:blip r:embed="rId2">
            <a:alphaModFix amt="80000"/>
          </a:blip>
          <a:stretch>
            <a:fillRect/>
          </a:stretch>
        </p:blipFill>
        <p:spPr>
          <a:xfrm>
            <a:off x="2300288" y="3265587"/>
            <a:ext cx="285750" cy="285750"/>
          </a:xfrm>
          <a:prstGeom prst="rect">
            <a:avLst/>
          </a:prstGeom>
        </p:spPr>
      </p:pic>
      <p:sp>
        <p:nvSpPr>
          <p:cNvPr id="19" name="Text 14"/>
          <p:cNvSpPr/>
          <p:nvPr/>
        </p:nvSpPr>
        <p:spPr>
          <a:xfrm>
            <a:off x="1490365" y="3637062"/>
            <a:ext cx="1905595"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4.4 da Dissertação</a:t>
            </a:r>
            <a:endParaRPr lang="en-US" sz="784" dirty="0"/>
          </a:p>
        </p:txBody>
      </p:sp>
      <p:sp>
        <p:nvSpPr>
          <p:cNvPr id="20" name="Text 15"/>
          <p:cNvSpPr/>
          <p:nvPr/>
        </p:nvSpPr>
        <p:spPr>
          <a:xfrm>
            <a:off x="1884164" y="3833515"/>
            <a:ext cx="1117997"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Estrutura da Célula LSTM</a:t>
            </a:r>
            <a:endParaRPr lang="en-US" sz="674" dirty="0"/>
          </a:p>
        </p:txBody>
      </p:sp>
      <p:sp>
        <p:nvSpPr>
          <p:cNvPr id="21" name="Text 16"/>
          <p:cNvSpPr/>
          <p:nvPr/>
        </p:nvSpPr>
        <p:spPr>
          <a:xfrm>
            <a:off x="571500" y="4439841"/>
            <a:ext cx="3743325"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Adaptado de Olah (2015)</a:t>
            </a:r>
            <a:endParaRPr lang="en-US" sz="621" dirty="0"/>
          </a:p>
        </p:txBody>
      </p:sp>
      <p:sp>
        <p:nvSpPr>
          <p:cNvPr id="22" name="Shape 17"/>
          <p:cNvSpPr/>
          <p:nvPr/>
        </p:nvSpPr>
        <p:spPr>
          <a:xfrm>
            <a:off x="4686300" y="1687711"/>
            <a:ext cx="4029075" cy="3000375"/>
          </a:xfrm>
          <a:prstGeom prst="rect">
            <a:avLst/>
          </a:prstGeom>
          <a:solidFill>
            <a:srgbClr val="001D33">
              <a:alpha val="30000"/>
            </a:srgbClr>
          </a:solidFill>
          <a:ln w="9144">
            <a:solidFill>
              <a:srgbClr val="F2C94C">
                <a:alpha val="20000"/>
              </a:srgbClr>
            </a:solidFill>
            <a:prstDash val="solid"/>
          </a:ln>
        </p:spPr>
      </p:sp>
      <p:sp>
        <p:nvSpPr>
          <p:cNvPr id="23" name="Text 18"/>
          <p:cNvSpPr/>
          <p:nvPr/>
        </p:nvSpPr>
        <p:spPr>
          <a:xfrm>
            <a:off x="4829175" y="1830586"/>
            <a:ext cx="2766417"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Montserrat" pitchFamily="34" charset="0"/>
                <a:ea typeface="Montserrat" pitchFamily="34" charset="-122"/>
                <a:cs typeface="Montserrat" pitchFamily="34" charset="-120"/>
              </a:rPr>
              <a:t>GRU</a:t>
            </a:r>
            <a:endParaRPr lang="en-US" sz="1193" dirty="0"/>
          </a:p>
        </p:txBody>
      </p:sp>
      <p:sp>
        <p:nvSpPr>
          <p:cNvPr id="24" name="Shape 19"/>
          <p:cNvSpPr/>
          <p:nvPr/>
        </p:nvSpPr>
        <p:spPr>
          <a:xfrm>
            <a:off x="7595592" y="1853803"/>
            <a:ext cx="976908" cy="162520"/>
          </a:xfrm>
          <a:prstGeom prst="rect">
            <a:avLst/>
          </a:prstGeom>
          <a:solidFill>
            <a:srgbClr val="F2C94C">
              <a:alpha val="10000"/>
            </a:srgbClr>
          </a:solidFill>
          <a:ln/>
        </p:spPr>
      </p:sp>
      <p:sp>
        <p:nvSpPr>
          <p:cNvPr id="25" name="Text 20"/>
          <p:cNvSpPr/>
          <p:nvPr/>
        </p:nvSpPr>
        <p:spPr>
          <a:xfrm>
            <a:off x="7595592" y="1853803"/>
            <a:ext cx="976908" cy="162520"/>
          </a:xfrm>
          <a:prstGeom prst="rect">
            <a:avLst/>
          </a:prstGeom>
          <a:noFill/>
          <a:ln/>
        </p:spPr>
        <p:txBody>
          <a:bodyPr wrap="square" lIns="68072" tIns="34036" rIns="68072" bIns="34036" rtlCol="0" anchor="t">
            <a:spAutoFit/>
          </a:bodyPr>
          <a:lstStyle/>
          <a:p>
            <a:pPr algn="l" indent="0" marL="0">
              <a:lnSpc>
                <a:spcPts val="800"/>
              </a:lnSpc>
              <a:buNone/>
            </a:pPr>
            <a:r>
              <a:rPr lang="en-US" sz="584" b="1" dirty="0">
                <a:solidFill>
                  <a:srgbClr val="F2C94C"/>
                </a:solidFill>
                <a:latin typeface="Inter" pitchFamily="34" charset="0"/>
                <a:ea typeface="Inter" pitchFamily="34" charset="-122"/>
                <a:cs typeface="Inter" pitchFamily="34" charset="-120"/>
              </a:rPr>
              <a:t>Gated Recurrent Unit</a:t>
            </a:r>
            <a:endParaRPr lang="en-US" sz="584" dirty="0"/>
          </a:p>
        </p:txBody>
      </p:sp>
      <p:sp>
        <p:nvSpPr>
          <p:cNvPr id="26" name="Text 21"/>
          <p:cNvSpPr/>
          <p:nvPr/>
        </p:nvSpPr>
        <p:spPr>
          <a:xfrm>
            <a:off x="4829175" y="2218134"/>
            <a:ext cx="374332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Update Gate (zt): Quanto do passado manter?</a:t>
            </a:r>
            <a:endParaRPr lang="en-US" sz="727" dirty="0"/>
          </a:p>
        </p:txBody>
      </p:sp>
      <p:sp>
        <p:nvSpPr>
          <p:cNvPr id="27" name="Text 22"/>
          <p:cNvSpPr/>
          <p:nvPr/>
        </p:nvSpPr>
        <p:spPr>
          <a:xfrm>
            <a:off x="4829175" y="2393156"/>
            <a:ext cx="374332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Reset Gate (rt): Quanto do passado ignorar?</a:t>
            </a:r>
            <a:endParaRPr lang="en-US" sz="727" dirty="0"/>
          </a:p>
        </p:txBody>
      </p:sp>
      <p:sp>
        <p:nvSpPr>
          <p:cNvPr id="28" name="Text 23"/>
          <p:cNvSpPr/>
          <p:nvPr/>
        </p:nvSpPr>
        <p:spPr>
          <a:xfrm>
            <a:off x="4829175" y="2568178"/>
            <a:ext cx="374332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50000"/>
                  </a:srgbClr>
                </a:solidFill>
                <a:latin typeface="JetBrains Mono" pitchFamily="34" charset="0"/>
                <a:ea typeface="JetBrains Mono" pitchFamily="34" charset="-122"/>
                <a:cs typeface="JetBrains Mono" pitchFamily="34" charset="-120"/>
              </a:rPr>
              <a:t>(Sem Output Gate explícito)</a:t>
            </a:r>
            <a:endParaRPr lang="en-US" sz="727" dirty="0"/>
          </a:p>
        </p:txBody>
      </p:sp>
      <p:sp>
        <p:nvSpPr>
          <p:cNvPr id="29" name="Shape 24"/>
          <p:cNvSpPr/>
          <p:nvPr/>
        </p:nvSpPr>
        <p:spPr>
          <a:xfrm>
            <a:off x="4829175" y="2828925"/>
            <a:ext cx="3743325" cy="1553766"/>
          </a:xfrm>
          <a:prstGeom prst="rect">
            <a:avLst/>
          </a:prstGeom>
          <a:solidFill>
            <a:srgbClr val="F2C94C">
              <a:alpha val="5000"/>
            </a:srgbClr>
          </a:solidFill>
          <a:ln w="18288">
            <a:solidFill>
              <a:srgbClr val="F2C94C">
                <a:alpha val="40000"/>
              </a:srgbClr>
            </a:solidFill>
            <a:prstDash val="dash"/>
          </a:ln>
        </p:spPr>
      </p:sp>
      <p:pic>
        <p:nvPicPr>
          <p:cNvPr id="30" name="Image 2" descr="preencoded.png">    </p:cNvPr>
          <p:cNvPicPr>
            <a:picLocks noChangeAspect="1"/>
          </p:cNvPicPr>
          <p:nvPr/>
        </p:nvPicPr>
        <p:blipFill>
          <a:blip r:embed="rId3">
            <a:alphaModFix amt="80000"/>
          </a:blip>
          <a:stretch>
            <a:fillRect/>
          </a:stretch>
        </p:blipFill>
        <p:spPr>
          <a:xfrm>
            <a:off x="6540103" y="3265587"/>
            <a:ext cx="321469" cy="285750"/>
          </a:xfrm>
          <a:prstGeom prst="rect">
            <a:avLst/>
          </a:prstGeom>
        </p:spPr>
      </p:pic>
      <p:sp>
        <p:nvSpPr>
          <p:cNvPr id="31" name="Text 25"/>
          <p:cNvSpPr/>
          <p:nvPr/>
        </p:nvSpPr>
        <p:spPr>
          <a:xfrm>
            <a:off x="5753398" y="3637062"/>
            <a:ext cx="1894880"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4.5 da Dissertação</a:t>
            </a:r>
            <a:endParaRPr lang="en-US" sz="784" dirty="0"/>
          </a:p>
        </p:txBody>
      </p:sp>
      <p:sp>
        <p:nvSpPr>
          <p:cNvPr id="32" name="Text 26"/>
          <p:cNvSpPr/>
          <p:nvPr/>
        </p:nvSpPr>
        <p:spPr>
          <a:xfrm>
            <a:off x="6170414" y="3833515"/>
            <a:ext cx="1060847"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Estrutura da Célula GRU</a:t>
            </a:r>
            <a:endParaRPr lang="en-US" sz="674" dirty="0"/>
          </a:p>
        </p:txBody>
      </p:sp>
      <p:sp>
        <p:nvSpPr>
          <p:cNvPr id="33" name="Text 27"/>
          <p:cNvSpPr/>
          <p:nvPr/>
        </p:nvSpPr>
        <p:spPr>
          <a:xfrm>
            <a:off x="4829175" y="4439841"/>
            <a:ext cx="3743325"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Adaptado de Olah (2015)</a:t>
            </a:r>
            <a:endParaRPr lang="en-US" sz="62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CNN PARA SÉRIES TEMPORAIS</a:t>
            </a:r>
            <a:endParaRPr lang="en-US" sz="1808" dirty="0"/>
          </a:p>
        </p:txBody>
      </p:sp>
      <p:pic>
        <p:nvPicPr>
          <p:cNvPr id="7" name="Image 1" descr="preencoded.png">    </p:cNvPr>
          <p:cNvPicPr>
            <a:picLocks noChangeAspect="1"/>
          </p:cNvPicPr>
          <p:nvPr/>
        </p:nvPicPr>
        <p:blipFill>
          <a:blip r:embed="rId2"/>
          <a:stretch>
            <a:fillRect/>
          </a:stretch>
        </p:blipFill>
        <p:spPr>
          <a:xfrm>
            <a:off x="628650" y="1821545"/>
            <a:ext cx="196453" cy="157163"/>
          </a:xfrm>
          <a:prstGeom prst="rect">
            <a:avLst/>
          </a:prstGeom>
        </p:spPr>
      </p:pic>
      <p:sp>
        <p:nvSpPr>
          <p:cNvPr id="8" name="Text 3"/>
          <p:cNvSpPr/>
          <p:nvPr/>
        </p:nvSpPr>
        <p:spPr>
          <a:xfrm>
            <a:off x="910828" y="1804578"/>
            <a:ext cx="1935956"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Convolução 1D (Conv1D)</a:t>
            </a:r>
            <a:endParaRPr lang="en-US" sz="1090" dirty="0"/>
          </a:p>
        </p:txBody>
      </p:sp>
      <p:sp>
        <p:nvSpPr>
          <p:cNvPr id="9" name="Text 4"/>
          <p:cNvSpPr/>
          <p:nvPr/>
        </p:nvSpPr>
        <p:spPr>
          <a:xfrm>
            <a:off x="628650" y="2081399"/>
            <a:ext cx="3371850"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Diferente de imagens (2D), em séries temporais os filtros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deslizam apenas na dimensão do tempo. Excelente para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extrair </a:t>
            </a:r>
            <a:pPr algn="l"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padrões locais</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e features invariantes a translação (ex: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picos repentinos).</a:t>
            </a:r>
            <a:endParaRPr lang="en-US" sz="834" dirty="0"/>
          </a:p>
        </p:txBody>
      </p:sp>
      <p:pic>
        <p:nvPicPr>
          <p:cNvPr id="10" name="Image 2" descr="preencoded.png">    </p:cNvPr>
          <p:cNvPicPr>
            <a:picLocks noChangeAspect="1"/>
          </p:cNvPicPr>
          <p:nvPr/>
        </p:nvPicPr>
        <p:blipFill>
          <a:blip r:embed="rId3"/>
          <a:stretch>
            <a:fillRect/>
          </a:stretch>
        </p:blipFill>
        <p:spPr>
          <a:xfrm>
            <a:off x="628650" y="3115568"/>
            <a:ext cx="196453" cy="157163"/>
          </a:xfrm>
          <a:prstGeom prst="rect">
            <a:avLst/>
          </a:prstGeom>
        </p:spPr>
      </p:pic>
      <p:sp>
        <p:nvSpPr>
          <p:cNvPr id="11" name="Text 5"/>
          <p:cNvSpPr/>
          <p:nvPr/>
        </p:nvSpPr>
        <p:spPr>
          <a:xfrm>
            <a:off x="910828" y="3098602"/>
            <a:ext cx="1562695"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F2C94C"/>
                </a:solidFill>
                <a:latin typeface="Montserrat" pitchFamily="34" charset="0"/>
                <a:ea typeface="Montserrat" pitchFamily="34" charset="-122"/>
                <a:cs typeface="Montserrat" pitchFamily="34" charset="-120"/>
              </a:rPr>
              <a:t>Arquitetura Híbrida</a:t>
            </a:r>
            <a:endParaRPr lang="en-US" sz="1090" dirty="0"/>
          </a:p>
        </p:txBody>
      </p:sp>
      <p:sp>
        <p:nvSpPr>
          <p:cNvPr id="12" name="Text 6"/>
          <p:cNvSpPr/>
          <p:nvPr/>
        </p:nvSpPr>
        <p:spPr>
          <a:xfrm>
            <a:off x="628650" y="3375422"/>
            <a:ext cx="3371850"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Combinação estratégica: </a:t>
            </a:r>
            <a:pPr algn="l"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CNN</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atua como extrator de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características (encoder), reduzindo a dimensionalidade e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ruído, alimentando uma </a:t>
            </a:r>
            <a:pPr algn="l"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Bi-LSTM</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que modela a dependência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temporal sequencial.</a:t>
            </a:r>
            <a:endParaRPr lang="en-US" sz="834" dirty="0"/>
          </a:p>
        </p:txBody>
      </p:sp>
      <p:sp>
        <p:nvSpPr>
          <p:cNvPr id="13" name="Shape 7"/>
          <p:cNvSpPr/>
          <p:nvPr/>
        </p:nvSpPr>
        <p:spPr>
          <a:xfrm>
            <a:off x="4429125" y="1169789"/>
            <a:ext cx="4286250" cy="3571875"/>
          </a:xfrm>
          <a:prstGeom prst="rect">
            <a:avLst/>
          </a:prstGeom>
          <a:solidFill>
            <a:srgbClr val="F2C94C">
              <a:alpha val="5000"/>
            </a:srgbClr>
          </a:solidFill>
          <a:ln w="18288">
            <a:solidFill>
              <a:srgbClr val="F2C94C">
                <a:alpha val="50000"/>
              </a:srgbClr>
            </a:solidFill>
            <a:prstDash val="dash"/>
          </a:ln>
        </p:spPr>
      </p:sp>
      <p:pic>
        <p:nvPicPr>
          <p:cNvPr id="14" name="Image 3" descr="preencoded.png">    </p:cNvPr>
          <p:cNvPicPr>
            <a:picLocks noChangeAspect="1"/>
          </p:cNvPicPr>
          <p:nvPr/>
        </p:nvPicPr>
        <p:blipFill>
          <a:blip r:embed="rId4">
            <a:alphaModFix amt="80000"/>
          </a:blip>
          <a:stretch>
            <a:fillRect/>
          </a:stretch>
        </p:blipFill>
        <p:spPr>
          <a:xfrm>
            <a:off x="6347222" y="2497634"/>
            <a:ext cx="450056" cy="400050"/>
          </a:xfrm>
          <a:prstGeom prst="rect">
            <a:avLst/>
          </a:prstGeom>
        </p:spPr>
      </p:pic>
      <p:sp>
        <p:nvSpPr>
          <p:cNvPr id="15" name="Text 8"/>
          <p:cNvSpPr/>
          <p:nvPr/>
        </p:nvSpPr>
        <p:spPr>
          <a:xfrm>
            <a:off x="5386388" y="3040559"/>
            <a:ext cx="2371725"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4.6 da Dissertação</a:t>
            </a:r>
            <a:endParaRPr lang="en-US" sz="987" dirty="0"/>
          </a:p>
        </p:txBody>
      </p:sp>
      <p:sp>
        <p:nvSpPr>
          <p:cNvPr id="16" name="Text 9"/>
          <p:cNvSpPr/>
          <p:nvPr/>
        </p:nvSpPr>
        <p:spPr>
          <a:xfrm>
            <a:off x="5169396" y="3285232"/>
            <a:ext cx="2805708" cy="128588"/>
          </a:xfrm>
          <a:prstGeom prst="rect">
            <a:avLst/>
          </a:prstGeom>
          <a:noFill/>
          <a:ln/>
        </p:spPr>
        <p:txBody>
          <a:bodyPr wrap="non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Diagrama da arquitetura híbrida CNN-BiLSTM proposta</a:t>
            </a:r>
            <a:endParaRPr lang="en-US" sz="780" dirty="0"/>
          </a:p>
        </p:txBody>
      </p:sp>
      <p:sp>
        <p:nvSpPr>
          <p:cNvPr id="17" name="Text 10"/>
          <p:cNvSpPr/>
          <p:nvPr/>
        </p:nvSpPr>
        <p:spPr>
          <a:xfrm>
            <a:off x="4429125" y="4827389"/>
            <a:ext cx="428625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4 (Fundamentação Teórica)</a:t>
            </a:r>
            <a:endParaRPr lang="en-US" sz="62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55414"/>
          </a:xfrm>
          <a:prstGeom prst="rect">
            <a:avLst/>
          </a:prstGeom>
          <a:solidFill>
            <a:srgbClr val="000000">
              <a:alpha val="0"/>
            </a:srgbClr>
          </a:solidFill>
          <a:ln/>
        </p:spPr>
      </p:sp>
      <p:sp>
        <p:nvSpPr>
          <p:cNvPr id="5" name="Shape 1"/>
          <p:cNvSpPr/>
          <p:nvPr/>
        </p:nvSpPr>
        <p:spPr>
          <a:xfrm>
            <a:off x="428625" y="869752"/>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MECANISMO DE ATENÇÃO E TRANSFORMERS</a:t>
            </a:r>
            <a:endParaRPr lang="en-US" sz="1808" dirty="0"/>
          </a:p>
        </p:txBody>
      </p:sp>
      <p:sp>
        <p:nvSpPr>
          <p:cNvPr id="7" name="Shape 3"/>
          <p:cNvSpPr/>
          <p:nvPr/>
        </p:nvSpPr>
        <p:spPr>
          <a:xfrm>
            <a:off x="428625" y="1126927"/>
            <a:ext cx="3591353" cy="1921669"/>
          </a:xfrm>
          <a:prstGeom prst="rect">
            <a:avLst/>
          </a:prstGeom>
          <a:solidFill>
            <a:srgbClr val="001D33">
              <a:alpha val="30000"/>
            </a:srgbClr>
          </a:solidFill>
          <a:ln/>
        </p:spPr>
      </p:sp>
      <p:sp>
        <p:nvSpPr>
          <p:cNvPr id="8" name="Shape 4"/>
          <p:cNvSpPr/>
          <p:nvPr/>
        </p:nvSpPr>
        <p:spPr>
          <a:xfrm>
            <a:off x="428625" y="1126927"/>
            <a:ext cx="28575" cy="1921669"/>
          </a:xfrm>
          <a:prstGeom prst="rect">
            <a:avLst/>
          </a:prstGeom>
          <a:solidFill>
            <a:srgbClr val="F2C94C"/>
          </a:solidFill>
          <a:ln/>
        </p:spPr>
      </p:sp>
      <p:pic>
        <p:nvPicPr>
          <p:cNvPr id="9" name="Image 1" descr="preencoded.png">    </p:cNvPr>
          <p:cNvPicPr>
            <a:picLocks noChangeAspect="1"/>
          </p:cNvPicPr>
          <p:nvPr/>
        </p:nvPicPr>
        <p:blipFill>
          <a:blip r:embed="rId2"/>
          <a:stretch>
            <a:fillRect/>
          </a:stretch>
        </p:blipFill>
        <p:spPr>
          <a:xfrm>
            <a:off x="542925" y="1256407"/>
            <a:ext cx="142875" cy="142875"/>
          </a:xfrm>
          <a:prstGeom prst="rect">
            <a:avLst/>
          </a:prstGeom>
        </p:spPr>
      </p:pic>
      <p:sp>
        <p:nvSpPr>
          <p:cNvPr id="10" name="Text 5"/>
          <p:cNvSpPr/>
          <p:nvPr/>
        </p:nvSpPr>
        <p:spPr>
          <a:xfrm>
            <a:off x="757238" y="1241227"/>
            <a:ext cx="221634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Scaled Dot-Product Attention</a:t>
            </a:r>
            <a:endParaRPr lang="en-US" sz="987" dirty="0"/>
          </a:p>
        </p:txBody>
      </p:sp>
      <p:sp>
        <p:nvSpPr>
          <p:cNvPr id="11" name="Text 6"/>
          <p:cNvSpPr/>
          <p:nvPr/>
        </p:nvSpPr>
        <p:spPr>
          <a:xfrm>
            <a:off x="542925" y="1485900"/>
            <a:ext cx="3362753"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O núcleo do Transformer. Permite que o modelo pondere a importância de diferentes passos de tempo passados.</a:t>
            </a:r>
            <a:endParaRPr lang="en-US" sz="834" dirty="0"/>
          </a:p>
        </p:txBody>
      </p:sp>
      <p:sp>
        <p:nvSpPr>
          <p:cNvPr id="12" name="Text 7"/>
          <p:cNvSpPr/>
          <p:nvPr/>
        </p:nvSpPr>
        <p:spPr>
          <a:xfrm>
            <a:off x="542925" y="1935956"/>
            <a:ext cx="285750" cy="141089"/>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JetBrains Mono" pitchFamily="34" charset="0"/>
                <a:ea typeface="JetBrains Mono" pitchFamily="34" charset="-122"/>
                <a:cs typeface="JetBrains Mono" pitchFamily="34" charset="-120"/>
              </a:rPr>
              <a:t>Q</a:t>
            </a:r>
            <a:endParaRPr lang="en-US" sz="734" dirty="0"/>
          </a:p>
        </p:txBody>
      </p:sp>
      <p:sp>
        <p:nvSpPr>
          <p:cNvPr id="13" name="Text 8"/>
          <p:cNvSpPr/>
          <p:nvPr/>
        </p:nvSpPr>
        <p:spPr>
          <a:xfrm>
            <a:off x="828675" y="1935956"/>
            <a:ext cx="1607344" cy="141089"/>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JetBrains Mono" pitchFamily="34" charset="0"/>
                <a:ea typeface="JetBrains Mono" pitchFamily="34" charset="-122"/>
                <a:cs typeface="JetBrains Mono" pitchFamily="34" charset="-120"/>
              </a:rPr>
              <a:t>Queries (O que eu busco?)</a:t>
            </a:r>
            <a:endParaRPr lang="en-US" sz="780" dirty="0"/>
          </a:p>
        </p:txBody>
      </p:sp>
      <p:sp>
        <p:nvSpPr>
          <p:cNvPr id="14" name="Text 9"/>
          <p:cNvSpPr/>
          <p:nvPr/>
        </p:nvSpPr>
        <p:spPr>
          <a:xfrm>
            <a:off x="542925" y="2148483"/>
            <a:ext cx="285750" cy="141089"/>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JetBrains Mono" pitchFamily="34" charset="0"/>
                <a:ea typeface="JetBrains Mono" pitchFamily="34" charset="-122"/>
                <a:cs typeface="JetBrains Mono" pitchFamily="34" charset="-120"/>
              </a:rPr>
              <a:t>K</a:t>
            </a:r>
            <a:endParaRPr lang="en-US" sz="734" dirty="0"/>
          </a:p>
        </p:txBody>
      </p:sp>
      <p:sp>
        <p:nvSpPr>
          <p:cNvPr id="15" name="Text 10"/>
          <p:cNvSpPr/>
          <p:nvPr/>
        </p:nvSpPr>
        <p:spPr>
          <a:xfrm>
            <a:off x="828675" y="2148483"/>
            <a:ext cx="1993106" cy="141089"/>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JetBrains Mono" pitchFamily="34" charset="0"/>
                <a:ea typeface="JetBrains Mono" pitchFamily="34" charset="-122"/>
                <a:cs typeface="JetBrains Mono" pitchFamily="34" charset="-120"/>
              </a:rPr>
              <a:t>Keys (O que define o conteúdo?)</a:t>
            </a:r>
            <a:endParaRPr lang="en-US" sz="780" dirty="0"/>
          </a:p>
        </p:txBody>
      </p:sp>
      <p:sp>
        <p:nvSpPr>
          <p:cNvPr id="16" name="Text 11"/>
          <p:cNvSpPr/>
          <p:nvPr/>
        </p:nvSpPr>
        <p:spPr>
          <a:xfrm>
            <a:off x="542925" y="2361009"/>
            <a:ext cx="285750" cy="141089"/>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F2C94C"/>
                </a:solidFill>
                <a:latin typeface="JetBrains Mono" pitchFamily="34" charset="0"/>
                <a:ea typeface="JetBrains Mono" pitchFamily="34" charset="-122"/>
                <a:cs typeface="JetBrains Mono" pitchFamily="34" charset="-120"/>
              </a:rPr>
              <a:t>V</a:t>
            </a:r>
            <a:endParaRPr lang="en-US" sz="734" dirty="0"/>
          </a:p>
        </p:txBody>
      </p:sp>
      <p:sp>
        <p:nvSpPr>
          <p:cNvPr id="17" name="Text 12"/>
          <p:cNvSpPr/>
          <p:nvPr/>
        </p:nvSpPr>
        <p:spPr>
          <a:xfrm>
            <a:off x="828675" y="2361009"/>
            <a:ext cx="1607344" cy="141089"/>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JetBrains Mono" pitchFamily="34" charset="0"/>
                <a:ea typeface="JetBrains Mono" pitchFamily="34" charset="-122"/>
                <a:cs typeface="JetBrains Mono" pitchFamily="34" charset="-120"/>
              </a:rPr>
              <a:t>Values (O conteúdo em si)</a:t>
            </a:r>
            <a:endParaRPr lang="en-US" sz="780" dirty="0"/>
          </a:p>
        </p:txBody>
      </p:sp>
      <p:sp>
        <p:nvSpPr>
          <p:cNvPr id="18" name="Shape 13"/>
          <p:cNvSpPr/>
          <p:nvPr/>
        </p:nvSpPr>
        <p:spPr>
          <a:xfrm>
            <a:off x="542925" y="2573536"/>
            <a:ext cx="3362753" cy="360759"/>
          </a:xfrm>
          <a:prstGeom prst="rect">
            <a:avLst/>
          </a:prstGeom>
          <a:solidFill>
            <a:srgbClr val="F2C94C">
              <a:alpha val="10000"/>
            </a:srgbClr>
          </a:solidFill>
          <a:ln w="9144">
            <a:solidFill>
              <a:srgbClr val="F2C94C">
                <a:alpha val="30000"/>
              </a:srgbClr>
            </a:solidFill>
            <a:prstDash val="solid"/>
          </a:ln>
        </p:spPr>
      </p:sp>
      <p:sp>
        <p:nvSpPr>
          <p:cNvPr id="19" name="Text 14"/>
          <p:cNvSpPr/>
          <p:nvPr/>
        </p:nvSpPr>
        <p:spPr>
          <a:xfrm>
            <a:off x="542925" y="2573536"/>
            <a:ext cx="3362753" cy="360759"/>
          </a:xfrm>
          <a:prstGeom prst="rect">
            <a:avLst/>
          </a:prstGeom>
          <a:noFill/>
          <a:ln/>
        </p:spPr>
        <p:txBody>
          <a:bodyPr wrap="square" lIns="102108" tIns="102108" rIns="102108" bIns="102108" rtlCol="0" anchor="t">
            <a:spAutoFit/>
          </a:bodyPr>
          <a:lstStyle/>
          <a:p>
            <a:pPr algn="ctr" indent="0" marL="0">
              <a:lnSpc>
                <a:spcPts val="1200"/>
              </a:lnSpc>
              <a:buNone/>
            </a:pPr>
            <a:r>
              <a:rPr lang="en-US" sz="942" dirty="0">
                <a:solidFill>
                  <a:srgbClr val="FFFFFF"/>
                </a:solidFill>
                <a:latin typeface="JetBrains Mono" pitchFamily="34" charset="0"/>
                <a:ea typeface="JetBrains Mono" pitchFamily="34" charset="-122"/>
                <a:cs typeface="JetBrains Mono" pitchFamily="34" charset="-120"/>
              </a:rPr>
              <a:t>Attention(Q,K,V) = softmax(QKᵀ/√dₖ)V</a:t>
            </a:r>
            <a:endParaRPr lang="en-US" sz="942" dirty="0"/>
          </a:p>
        </p:txBody>
      </p:sp>
      <p:sp>
        <p:nvSpPr>
          <p:cNvPr id="20" name="Shape 15"/>
          <p:cNvSpPr/>
          <p:nvPr/>
        </p:nvSpPr>
        <p:spPr>
          <a:xfrm>
            <a:off x="428625" y="3205758"/>
            <a:ext cx="3591353" cy="987623"/>
          </a:xfrm>
          <a:prstGeom prst="rect">
            <a:avLst/>
          </a:prstGeom>
          <a:solidFill>
            <a:srgbClr val="001D33">
              <a:alpha val="30000"/>
            </a:srgbClr>
          </a:solidFill>
          <a:ln/>
        </p:spPr>
      </p:sp>
      <p:sp>
        <p:nvSpPr>
          <p:cNvPr id="21" name="Shape 16"/>
          <p:cNvSpPr/>
          <p:nvPr/>
        </p:nvSpPr>
        <p:spPr>
          <a:xfrm>
            <a:off x="428625" y="3205758"/>
            <a:ext cx="28575" cy="987623"/>
          </a:xfrm>
          <a:prstGeom prst="rect">
            <a:avLst/>
          </a:prstGeom>
          <a:solidFill>
            <a:srgbClr val="F2C94C"/>
          </a:solidFill>
          <a:ln/>
        </p:spPr>
      </p:sp>
      <p:pic>
        <p:nvPicPr>
          <p:cNvPr id="22" name="Image 2" descr="preencoded.png">    </p:cNvPr>
          <p:cNvPicPr>
            <a:picLocks noChangeAspect="1"/>
          </p:cNvPicPr>
          <p:nvPr/>
        </p:nvPicPr>
        <p:blipFill>
          <a:blip r:embed="rId3"/>
          <a:stretch>
            <a:fillRect/>
          </a:stretch>
        </p:blipFill>
        <p:spPr>
          <a:xfrm>
            <a:off x="542925" y="3335238"/>
            <a:ext cx="178594" cy="142875"/>
          </a:xfrm>
          <a:prstGeom prst="rect">
            <a:avLst/>
          </a:prstGeom>
        </p:spPr>
      </p:pic>
      <p:sp>
        <p:nvSpPr>
          <p:cNvPr id="23" name="Text 17"/>
          <p:cNvSpPr/>
          <p:nvPr/>
        </p:nvSpPr>
        <p:spPr>
          <a:xfrm>
            <a:off x="792956" y="3320058"/>
            <a:ext cx="158234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Multi-Head Attention</a:t>
            </a:r>
            <a:endParaRPr lang="en-US" sz="987" dirty="0"/>
          </a:p>
        </p:txBody>
      </p:sp>
      <p:sp>
        <p:nvSpPr>
          <p:cNvPr id="24" name="Text 18"/>
          <p:cNvSpPr/>
          <p:nvPr/>
        </p:nvSpPr>
        <p:spPr>
          <a:xfrm>
            <a:off x="542925" y="3564731"/>
            <a:ext cx="3362753"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Múltiplas camadas de atenção em paralelo, permitindo que o modelo capture diferentes tipos de dependências (ex: curto vs. longo prazo) simultaneamente.</a:t>
            </a:r>
            <a:endParaRPr lang="en-US" sz="834" dirty="0"/>
          </a:p>
        </p:txBody>
      </p:sp>
      <p:sp>
        <p:nvSpPr>
          <p:cNvPr id="25" name="Shape 19"/>
          <p:cNvSpPr/>
          <p:nvPr/>
        </p:nvSpPr>
        <p:spPr>
          <a:xfrm>
            <a:off x="4405740" y="1126927"/>
            <a:ext cx="4309635" cy="3571875"/>
          </a:xfrm>
          <a:prstGeom prst="rect">
            <a:avLst/>
          </a:prstGeom>
          <a:solidFill>
            <a:srgbClr val="F2C94C">
              <a:alpha val="5000"/>
            </a:srgbClr>
          </a:solidFill>
          <a:ln w="18288">
            <a:solidFill>
              <a:srgbClr val="F2C94C">
                <a:alpha val="50000"/>
              </a:srgbClr>
            </a:solidFill>
            <a:prstDash val="dash"/>
          </a:ln>
        </p:spPr>
      </p:sp>
      <p:pic>
        <p:nvPicPr>
          <p:cNvPr id="26" name="Image 3" descr="preencoded.png">    </p:cNvPr>
          <p:cNvPicPr>
            <a:picLocks noChangeAspect="1"/>
          </p:cNvPicPr>
          <p:nvPr/>
        </p:nvPicPr>
        <p:blipFill>
          <a:blip r:embed="rId4">
            <a:alphaModFix amt="80000"/>
          </a:blip>
          <a:stretch>
            <a:fillRect/>
          </a:stretch>
        </p:blipFill>
        <p:spPr>
          <a:xfrm>
            <a:off x="6335530" y="2390477"/>
            <a:ext cx="450056" cy="400050"/>
          </a:xfrm>
          <a:prstGeom prst="rect">
            <a:avLst/>
          </a:prstGeom>
        </p:spPr>
      </p:pic>
      <p:sp>
        <p:nvSpPr>
          <p:cNvPr id="27" name="Text 20"/>
          <p:cNvSpPr/>
          <p:nvPr/>
        </p:nvSpPr>
        <p:spPr>
          <a:xfrm>
            <a:off x="5375588" y="2933402"/>
            <a:ext cx="2369939"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4.7 da Dissertação</a:t>
            </a:r>
            <a:endParaRPr lang="en-US" sz="987" dirty="0"/>
          </a:p>
        </p:txBody>
      </p:sp>
      <p:sp>
        <p:nvSpPr>
          <p:cNvPr id="28" name="Text 21"/>
          <p:cNvSpPr/>
          <p:nvPr/>
        </p:nvSpPr>
        <p:spPr>
          <a:xfrm>
            <a:off x="5042455" y="3178076"/>
            <a:ext cx="3036205"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Arquitetura do Transformer e o mecanismo de Scaled Dot-Product Attention</a:t>
            </a:r>
            <a:endParaRPr lang="en-US" sz="780" dirty="0"/>
          </a:p>
        </p:txBody>
      </p:sp>
      <p:sp>
        <p:nvSpPr>
          <p:cNvPr id="29" name="Text 22"/>
          <p:cNvSpPr/>
          <p:nvPr/>
        </p:nvSpPr>
        <p:spPr>
          <a:xfrm>
            <a:off x="4405740" y="4784527"/>
            <a:ext cx="4309635"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Vaswani et al. (2017) / Dissertação</a:t>
            </a:r>
            <a:endParaRPr lang="en-US" sz="62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TEMPORAL FUSION TRANSFORMER (TFT)</a:t>
            </a:r>
            <a:endParaRPr lang="en-US" sz="1808" dirty="0"/>
          </a:p>
        </p:txBody>
      </p:sp>
      <p:sp>
        <p:nvSpPr>
          <p:cNvPr id="7" name="Shape 3"/>
          <p:cNvSpPr/>
          <p:nvPr/>
        </p:nvSpPr>
        <p:spPr>
          <a:xfrm>
            <a:off x="428625" y="1644848"/>
            <a:ext cx="228600" cy="228600"/>
          </a:xfrm>
          <a:prstGeom prst="rect">
            <a:avLst/>
          </a:prstGeom>
          <a:solidFill>
            <a:srgbClr val="F2C94C">
              <a:alpha val="10000"/>
            </a:srgbClr>
          </a:solidFill>
          <a:ln w="9144">
            <a:solidFill>
              <a:srgbClr val="F2C94C"/>
            </a:solidFill>
            <a:prstDash val="solid"/>
          </a:ln>
        </p:spPr>
      </p:sp>
      <p:pic>
        <p:nvPicPr>
          <p:cNvPr id="8" name="Image 1" descr="preencoded.png">    </p:cNvPr>
          <p:cNvPicPr>
            <a:picLocks noChangeAspect="1"/>
          </p:cNvPicPr>
          <p:nvPr/>
        </p:nvPicPr>
        <p:blipFill>
          <a:blip r:embed="rId2"/>
          <a:stretch>
            <a:fillRect/>
          </a:stretch>
        </p:blipFill>
        <p:spPr>
          <a:xfrm>
            <a:off x="492919" y="1709142"/>
            <a:ext cx="100013" cy="100013"/>
          </a:xfrm>
          <a:prstGeom prst="rect">
            <a:avLst/>
          </a:prstGeom>
        </p:spPr>
      </p:pic>
      <p:sp>
        <p:nvSpPr>
          <p:cNvPr id="9" name="Text 4"/>
          <p:cNvSpPr/>
          <p:nvPr/>
        </p:nvSpPr>
        <p:spPr>
          <a:xfrm>
            <a:off x="764381" y="1644848"/>
            <a:ext cx="326857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Variable Selection Networks</a:t>
            </a:r>
            <a:endParaRPr lang="en-US" sz="885" dirty="0"/>
          </a:p>
        </p:txBody>
      </p:sp>
      <p:sp>
        <p:nvSpPr>
          <p:cNvPr id="10" name="Text 5"/>
          <p:cNvSpPr/>
          <p:nvPr/>
        </p:nvSpPr>
        <p:spPr>
          <a:xfrm>
            <a:off x="764381" y="1830586"/>
            <a:ext cx="326857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Seleciona automaticamente as variáveis mais relevantes a cada passo de tempo, descartando ruído.</a:t>
            </a:r>
            <a:endParaRPr lang="en-US" sz="780" dirty="0"/>
          </a:p>
        </p:txBody>
      </p:sp>
      <p:sp>
        <p:nvSpPr>
          <p:cNvPr id="11" name="Shape 6"/>
          <p:cNvSpPr/>
          <p:nvPr/>
        </p:nvSpPr>
        <p:spPr>
          <a:xfrm>
            <a:off x="428625" y="2309217"/>
            <a:ext cx="228600" cy="228600"/>
          </a:xfrm>
          <a:prstGeom prst="rect">
            <a:avLst/>
          </a:prstGeom>
          <a:solidFill>
            <a:srgbClr val="F2C94C">
              <a:alpha val="10000"/>
            </a:srgbClr>
          </a:solidFill>
          <a:ln w="9144">
            <a:solidFill>
              <a:srgbClr val="F2C94C"/>
            </a:solidFill>
            <a:prstDash val="solid"/>
          </a:ln>
        </p:spPr>
      </p:sp>
      <p:pic>
        <p:nvPicPr>
          <p:cNvPr id="12" name="Image 2" descr="preencoded.png">    </p:cNvPr>
          <p:cNvPicPr>
            <a:picLocks noChangeAspect="1"/>
          </p:cNvPicPr>
          <p:nvPr/>
        </p:nvPicPr>
        <p:blipFill>
          <a:blip r:embed="rId3"/>
          <a:stretch>
            <a:fillRect/>
          </a:stretch>
        </p:blipFill>
        <p:spPr>
          <a:xfrm>
            <a:off x="480417" y="2373511"/>
            <a:ext cx="125016" cy="100013"/>
          </a:xfrm>
          <a:prstGeom prst="rect">
            <a:avLst/>
          </a:prstGeom>
        </p:spPr>
      </p:pic>
      <p:sp>
        <p:nvSpPr>
          <p:cNvPr id="13" name="Text 7"/>
          <p:cNvSpPr/>
          <p:nvPr/>
        </p:nvSpPr>
        <p:spPr>
          <a:xfrm>
            <a:off x="764381" y="2309217"/>
            <a:ext cx="326857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Gated Residual Networks (GRN)</a:t>
            </a:r>
            <a:endParaRPr lang="en-US" sz="885" dirty="0"/>
          </a:p>
        </p:txBody>
      </p:sp>
      <p:sp>
        <p:nvSpPr>
          <p:cNvPr id="14" name="Text 8"/>
          <p:cNvSpPr/>
          <p:nvPr/>
        </p:nvSpPr>
        <p:spPr>
          <a:xfrm>
            <a:off x="764381" y="2494955"/>
            <a:ext cx="326857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Permite que o modelo aplique processamento não-linear apenas onde necessário (skip connections).</a:t>
            </a:r>
            <a:endParaRPr lang="en-US" sz="780" dirty="0"/>
          </a:p>
        </p:txBody>
      </p:sp>
      <p:sp>
        <p:nvSpPr>
          <p:cNvPr id="15" name="Shape 9"/>
          <p:cNvSpPr/>
          <p:nvPr/>
        </p:nvSpPr>
        <p:spPr>
          <a:xfrm>
            <a:off x="428625" y="2973586"/>
            <a:ext cx="228600" cy="228600"/>
          </a:xfrm>
          <a:prstGeom prst="rect">
            <a:avLst/>
          </a:prstGeom>
          <a:solidFill>
            <a:srgbClr val="F2C94C">
              <a:alpha val="10000"/>
            </a:srgbClr>
          </a:solidFill>
          <a:ln w="9144">
            <a:solidFill>
              <a:srgbClr val="F2C94C"/>
            </a:solidFill>
            <a:prstDash val="solid"/>
          </a:ln>
        </p:spPr>
      </p:sp>
      <p:pic>
        <p:nvPicPr>
          <p:cNvPr id="16" name="Image 3" descr="preencoded.png">    </p:cNvPr>
          <p:cNvPicPr>
            <a:picLocks noChangeAspect="1"/>
          </p:cNvPicPr>
          <p:nvPr/>
        </p:nvPicPr>
        <p:blipFill>
          <a:blip r:embed="rId4"/>
          <a:stretch>
            <a:fillRect/>
          </a:stretch>
        </p:blipFill>
        <p:spPr>
          <a:xfrm>
            <a:off x="486668" y="3037880"/>
            <a:ext cx="112514" cy="100013"/>
          </a:xfrm>
          <a:prstGeom prst="rect">
            <a:avLst/>
          </a:prstGeom>
        </p:spPr>
      </p:pic>
      <p:sp>
        <p:nvSpPr>
          <p:cNvPr id="17" name="Text 10"/>
          <p:cNvSpPr/>
          <p:nvPr/>
        </p:nvSpPr>
        <p:spPr>
          <a:xfrm>
            <a:off x="764381" y="2973586"/>
            <a:ext cx="326857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Temporal Self-Attention</a:t>
            </a:r>
            <a:endParaRPr lang="en-US" sz="885" dirty="0"/>
          </a:p>
        </p:txBody>
      </p:sp>
      <p:sp>
        <p:nvSpPr>
          <p:cNvPr id="18" name="Text 11"/>
          <p:cNvSpPr/>
          <p:nvPr/>
        </p:nvSpPr>
        <p:spPr>
          <a:xfrm>
            <a:off x="764381" y="3159323"/>
            <a:ext cx="326857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Captura dependências de longo prazo e permite interpretabilidade (quais passos passados importam mais).</a:t>
            </a:r>
            <a:endParaRPr lang="en-US" sz="780" dirty="0"/>
          </a:p>
        </p:txBody>
      </p:sp>
      <p:sp>
        <p:nvSpPr>
          <p:cNvPr id="19" name="Shape 12"/>
          <p:cNvSpPr/>
          <p:nvPr/>
        </p:nvSpPr>
        <p:spPr>
          <a:xfrm>
            <a:off x="428625" y="3637955"/>
            <a:ext cx="228600" cy="228600"/>
          </a:xfrm>
          <a:prstGeom prst="rect">
            <a:avLst/>
          </a:prstGeom>
          <a:solidFill>
            <a:srgbClr val="F2C94C">
              <a:alpha val="10000"/>
            </a:srgbClr>
          </a:solidFill>
          <a:ln w="9144">
            <a:solidFill>
              <a:srgbClr val="F2C94C"/>
            </a:solidFill>
            <a:prstDash val="solid"/>
          </a:ln>
        </p:spPr>
      </p:sp>
      <p:pic>
        <p:nvPicPr>
          <p:cNvPr id="20" name="Image 4" descr="preencoded.png">    </p:cNvPr>
          <p:cNvPicPr>
            <a:picLocks noChangeAspect="1"/>
          </p:cNvPicPr>
          <p:nvPr/>
        </p:nvPicPr>
        <p:blipFill>
          <a:blip r:embed="rId5"/>
          <a:stretch>
            <a:fillRect/>
          </a:stretch>
        </p:blipFill>
        <p:spPr>
          <a:xfrm>
            <a:off x="492919" y="3702248"/>
            <a:ext cx="100013" cy="100013"/>
          </a:xfrm>
          <a:prstGeom prst="rect">
            <a:avLst/>
          </a:prstGeom>
        </p:spPr>
      </p:pic>
      <p:sp>
        <p:nvSpPr>
          <p:cNvPr id="21" name="Text 13"/>
          <p:cNvSpPr/>
          <p:nvPr/>
        </p:nvSpPr>
        <p:spPr>
          <a:xfrm>
            <a:off x="764381" y="3637955"/>
            <a:ext cx="326857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Multi-quantile Output</a:t>
            </a:r>
            <a:endParaRPr lang="en-US" sz="885" dirty="0"/>
          </a:p>
        </p:txBody>
      </p:sp>
      <p:sp>
        <p:nvSpPr>
          <p:cNvPr id="22" name="Text 14"/>
          <p:cNvSpPr/>
          <p:nvPr/>
        </p:nvSpPr>
        <p:spPr>
          <a:xfrm>
            <a:off x="764381" y="3823692"/>
            <a:ext cx="326857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Gera previsões probabilísticas (P10, P50, P90) nativamente para quantificar incerteza.</a:t>
            </a:r>
            <a:endParaRPr lang="en-US" sz="780" dirty="0"/>
          </a:p>
        </p:txBody>
      </p:sp>
      <p:sp>
        <p:nvSpPr>
          <p:cNvPr id="23" name="Shape 15"/>
          <p:cNvSpPr/>
          <p:nvPr/>
        </p:nvSpPr>
        <p:spPr>
          <a:xfrm>
            <a:off x="4390141" y="1098352"/>
            <a:ext cx="4325234" cy="3571875"/>
          </a:xfrm>
          <a:prstGeom prst="rect">
            <a:avLst/>
          </a:prstGeom>
          <a:solidFill>
            <a:srgbClr val="F2C94C">
              <a:alpha val="5000"/>
            </a:srgbClr>
          </a:solidFill>
          <a:ln w="18288">
            <a:solidFill>
              <a:srgbClr val="F2C94C">
                <a:alpha val="50000"/>
              </a:srgbClr>
            </a:solidFill>
            <a:prstDash val="dash"/>
          </a:ln>
        </p:spPr>
      </p:sp>
      <p:pic>
        <p:nvPicPr>
          <p:cNvPr id="24" name="Image 5" descr="preencoded.png">    </p:cNvPr>
          <p:cNvPicPr>
            <a:picLocks noChangeAspect="1"/>
          </p:cNvPicPr>
          <p:nvPr/>
        </p:nvPicPr>
        <p:blipFill>
          <a:blip r:embed="rId6">
            <a:alphaModFix amt="80000"/>
          </a:blip>
          <a:stretch>
            <a:fillRect/>
          </a:stretch>
        </p:blipFill>
        <p:spPr>
          <a:xfrm>
            <a:off x="6327716" y="2426196"/>
            <a:ext cx="450056" cy="400050"/>
          </a:xfrm>
          <a:prstGeom prst="rect">
            <a:avLst/>
          </a:prstGeom>
        </p:spPr>
      </p:pic>
      <p:sp>
        <p:nvSpPr>
          <p:cNvPr id="25" name="Text 16"/>
          <p:cNvSpPr/>
          <p:nvPr/>
        </p:nvSpPr>
        <p:spPr>
          <a:xfrm>
            <a:off x="5363310" y="2969121"/>
            <a:ext cx="2378869"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4.8 da Dissertação</a:t>
            </a:r>
            <a:endParaRPr lang="en-US" sz="987" dirty="0"/>
          </a:p>
        </p:txBody>
      </p:sp>
      <p:sp>
        <p:nvSpPr>
          <p:cNvPr id="26" name="Text 17"/>
          <p:cNvSpPr/>
          <p:nvPr/>
        </p:nvSpPr>
        <p:spPr>
          <a:xfrm>
            <a:off x="5160606" y="3213795"/>
            <a:ext cx="2784277" cy="128588"/>
          </a:xfrm>
          <a:prstGeom prst="rect">
            <a:avLst/>
          </a:prstGeom>
          <a:noFill/>
          <a:ln/>
        </p:spPr>
        <p:txBody>
          <a:bodyPr wrap="non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Arquitetura detalhada do Temporal Fusion Transformer</a:t>
            </a:r>
            <a:endParaRPr lang="en-US" sz="780" dirty="0"/>
          </a:p>
        </p:txBody>
      </p:sp>
      <p:sp>
        <p:nvSpPr>
          <p:cNvPr id="27" name="Text 18"/>
          <p:cNvSpPr/>
          <p:nvPr/>
        </p:nvSpPr>
        <p:spPr>
          <a:xfrm>
            <a:off x="4390141" y="4755952"/>
            <a:ext cx="4325234"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Lim et al. (2021) / Dissertação</a:t>
            </a:r>
            <a:endParaRPr lang="en-US" sz="62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385763"/>
            <a:ext cx="8286750" cy="296466"/>
          </a:xfrm>
          <a:prstGeom prst="rect">
            <a:avLst/>
          </a:prstGeom>
          <a:noFill/>
          <a:ln/>
        </p:spPr>
        <p:txBody>
          <a:bodyPr wrap="none" lIns="0" tIns="0" rIns="0" bIns="0" rtlCol="0" anchor="t">
            <a:spAutoFit/>
          </a:bodyPr>
          <a:lstStyle/>
          <a:p>
            <a:pPr algn="l" indent="0" marL="0">
              <a:lnSpc>
                <a:spcPts val="2300"/>
              </a:lnSpc>
              <a:buNone/>
            </a:pPr>
            <a:r>
              <a:rPr lang="en-US" sz="1705" b="1" spc="1" kern="0" dirty="0">
                <a:solidFill>
                  <a:srgbClr val="F2C94C"/>
                </a:solidFill>
                <a:latin typeface="Montserrat" pitchFamily="34" charset="0"/>
                <a:ea typeface="Montserrat" pitchFamily="34" charset="-122"/>
                <a:cs typeface="Montserrat" pitchFamily="34" charset="-120"/>
              </a:rPr>
              <a:t>ARQUITETURA DETALHADA DO TFT</a:t>
            </a:r>
            <a:endParaRPr lang="en-US" sz="1705" dirty="0"/>
          </a:p>
        </p:txBody>
      </p:sp>
      <p:sp>
        <p:nvSpPr>
          <p:cNvPr id="5" name="Text 1"/>
          <p:cNvSpPr/>
          <p:nvPr/>
        </p:nvSpPr>
        <p:spPr>
          <a:xfrm>
            <a:off x="428625" y="717947"/>
            <a:ext cx="8286750" cy="137517"/>
          </a:xfrm>
          <a:prstGeom prst="rect">
            <a:avLst/>
          </a:prstGeom>
          <a:noFill/>
          <a:ln/>
        </p:spPr>
        <p:txBody>
          <a:bodyPr wrap="none" lIns="0" tIns="0" rIns="0" bIns="0" rtlCol="0" anchor="t">
            <a:spAutoFit/>
          </a:bodyPr>
          <a:lstStyle/>
          <a:p>
            <a:pPr algn="l" indent="0" marL="0">
              <a:lnSpc>
                <a:spcPts val="1100"/>
              </a:lnSpc>
              <a:buNone/>
            </a:pPr>
            <a:r>
              <a:rPr lang="en-US" sz="834" dirty="0">
                <a:solidFill>
                  <a:srgbClr val="E8EDF2">
                    <a:alpha val="60000"/>
                  </a:srgbClr>
                </a:solidFill>
                <a:latin typeface="Inter" pitchFamily="34" charset="0"/>
                <a:ea typeface="Inter" pitchFamily="34" charset="-122"/>
                <a:cs typeface="Inter" pitchFamily="34" charset="-120"/>
              </a:rPr>
              <a:t>Componentes internos do Temporal Fusion Transformer (Lim et al., 2021)</a:t>
            </a:r>
            <a:endParaRPr lang="en-US" sz="834" dirty="0"/>
          </a:p>
        </p:txBody>
      </p:sp>
      <p:sp>
        <p:nvSpPr>
          <p:cNvPr id="6" name="Shape 2"/>
          <p:cNvSpPr/>
          <p:nvPr/>
        </p:nvSpPr>
        <p:spPr>
          <a:xfrm>
            <a:off x="428625" y="1191220"/>
            <a:ext cx="4667241" cy="3429000"/>
          </a:xfrm>
          <a:prstGeom prst="rect">
            <a:avLst/>
          </a:prstGeom>
          <a:solidFill>
            <a:srgbClr val="F2C94C">
              <a:alpha val="3000"/>
            </a:srgbClr>
          </a:solidFill>
          <a:ln w="18288">
            <a:solidFill>
              <a:srgbClr val="F2C94C">
                <a:alpha val="50000"/>
              </a:srgbClr>
            </a:solidFill>
            <a:prstDash val="dash"/>
          </a:ln>
        </p:spPr>
      </p:sp>
      <p:pic>
        <p:nvPicPr>
          <p:cNvPr id="7" name="Image 1" descr="preencoded.png">    </p:cNvPr>
          <p:cNvPicPr>
            <a:picLocks noChangeAspect="1"/>
          </p:cNvPicPr>
          <p:nvPr/>
        </p:nvPicPr>
        <p:blipFill>
          <a:blip r:embed="rId2">
            <a:alphaModFix amt="70000"/>
          </a:blip>
          <a:stretch>
            <a:fillRect/>
          </a:stretch>
        </p:blipFill>
        <p:spPr>
          <a:xfrm>
            <a:off x="2537203" y="2390477"/>
            <a:ext cx="450056" cy="400050"/>
          </a:xfrm>
          <a:prstGeom prst="rect">
            <a:avLst/>
          </a:prstGeom>
        </p:spPr>
      </p:pic>
      <p:sp>
        <p:nvSpPr>
          <p:cNvPr id="8" name="Text 3"/>
          <p:cNvSpPr/>
          <p:nvPr/>
        </p:nvSpPr>
        <p:spPr>
          <a:xfrm>
            <a:off x="1580834" y="2933402"/>
            <a:ext cx="2362795"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5.8 da Dissertação</a:t>
            </a:r>
            <a:endParaRPr lang="en-US" sz="987" dirty="0"/>
          </a:p>
        </p:txBody>
      </p:sp>
      <p:sp>
        <p:nvSpPr>
          <p:cNvPr id="9" name="Text 4"/>
          <p:cNvSpPr/>
          <p:nvPr/>
        </p:nvSpPr>
        <p:spPr>
          <a:xfrm>
            <a:off x="895341" y="3178076"/>
            <a:ext cx="3733781" cy="242888"/>
          </a:xfrm>
          <a:prstGeom prst="rect">
            <a:avLst/>
          </a:prstGeom>
          <a:noFill/>
          <a:ln/>
        </p:spPr>
        <p:txBody>
          <a:bodyPr wrap="square" lIns="0" tIns="0" rIns="0" bIns="0" rtlCol="0" anchor="t">
            <a:spAutoFit/>
          </a:bodyPr>
          <a:lstStyle/>
          <a:p>
            <a:pPr algn="ctr" indent="0" marL="0">
              <a:lnSpc>
                <a:spcPts val="900"/>
              </a:lnSpc>
              <a:buNone/>
            </a:pPr>
            <a:r>
              <a:rPr lang="en-US" sz="727" dirty="0">
                <a:solidFill>
                  <a:srgbClr val="E8EDF2">
                    <a:alpha val="50000"/>
                  </a:srgbClr>
                </a:solidFill>
                <a:latin typeface="Inter" pitchFamily="34" charset="0"/>
                <a:ea typeface="Inter" pitchFamily="34" charset="-122"/>
                <a:cs typeface="Inter" pitchFamily="34" charset="-120"/>
              </a:rPr>
              <a:t>Diagrama esquemático completo da arquitetura Temporal Fusion Transformer com fluxo de dados</a:t>
            </a:r>
            <a:endParaRPr lang="en-US" sz="727" dirty="0"/>
          </a:p>
        </p:txBody>
      </p:sp>
      <p:sp>
        <p:nvSpPr>
          <p:cNvPr id="10" name="Text 5"/>
          <p:cNvSpPr/>
          <p:nvPr/>
        </p:nvSpPr>
        <p:spPr>
          <a:xfrm>
            <a:off x="428625" y="4677370"/>
            <a:ext cx="4667241"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Adaptado de Lim et al. (2021) — Dissertação, Figura 5.8</a:t>
            </a:r>
            <a:endParaRPr lang="en-US" sz="621" dirty="0"/>
          </a:p>
        </p:txBody>
      </p:sp>
      <p:sp>
        <p:nvSpPr>
          <p:cNvPr id="11" name="Shape 6"/>
          <p:cNvSpPr/>
          <p:nvPr/>
        </p:nvSpPr>
        <p:spPr>
          <a:xfrm>
            <a:off x="5381616" y="1218902"/>
            <a:ext cx="3333731" cy="825103"/>
          </a:xfrm>
          <a:prstGeom prst="rect">
            <a:avLst/>
          </a:prstGeom>
          <a:solidFill>
            <a:srgbClr val="001D33">
              <a:alpha val="40000"/>
            </a:srgbClr>
          </a:solidFill>
          <a:ln/>
        </p:spPr>
      </p:sp>
      <p:sp>
        <p:nvSpPr>
          <p:cNvPr id="12" name="Shape 7"/>
          <p:cNvSpPr/>
          <p:nvPr/>
        </p:nvSpPr>
        <p:spPr>
          <a:xfrm>
            <a:off x="5381616" y="1218902"/>
            <a:ext cx="28575" cy="825103"/>
          </a:xfrm>
          <a:prstGeom prst="rect">
            <a:avLst/>
          </a:prstGeom>
          <a:solidFill>
            <a:srgbClr val="27AE60"/>
          </a:solidFill>
          <a:ln/>
        </p:spPr>
      </p:sp>
      <p:pic>
        <p:nvPicPr>
          <p:cNvPr id="13" name="Image 2" descr="preencoded.png">    </p:cNvPr>
          <p:cNvPicPr>
            <a:picLocks noChangeAspect="1"/>
          </p:cNvPicPr>
          <p:nvPr/>
        </p:nvPicPr>
        <p:blipFill>
          <a:blip r:embed="rId3"/>
          <a:stretch>
            <a:fillRect/>
          </a:stretch>
        </p:blipFill>
        <p:spPr>
          <a:xfrm>
            <a:off x="5510203" y="1329630"/>
            <a:ext cx="128588" cy="114300"/>
          </a:xfrm>
          <a:prstGeom prst="rect">
            <a:avLst/>
          </a:prstGeom>
        </p:spPr>
      </p:pic>
      <p:sp>
        <p:nvSpPr>
          <p:cNvPr id="14" name="Text 8"/>
          <p:cNvSpPr/>
          <p:nvPr/>
        </p:nvSpPr>
        <p:spPr>
          <a:xfrm>
            <a:off x="5695941" y="1318915"/>
            <a:ext cx="1560909"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Gating Mechanisms (GRN)</a:t>
            </a:r>
            <a:endParaRPr lang="en-US" sz="784" dirty="0"/>
          </a:p>
        </p:txBody>
      </p:sp>
      <p:sp>
        <p:nvSpPr>
          <p:cNvPr id="15" name="Text 9"/>
          <p:cNvSpPr/>
          <p:nvPr/>
        </p:nvSpPr>
        <p:spPr>
          <a:xfrm>
            <a:off x="5510203" y="1493937"/>
            <a:ext cx="3076556"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Redes Residuais com Gating que permitem ao modelo suprimir inputs irrelevantes, essencial para datasets ruidosos como SCADA.</a:t>
            </a:r>
            <a:endParaRPr lang="en-US" sz="727" dirty="0"/>
          </a:p>
        </p:txBody>
      </p:sp>
      <p:sp>
        <p:nvSpPr>
          <p:cNvPr id="16" name="Shape 10"/>
          <p:cNvSpPr/>
          <p:nvPr/>
        </p:nvSpPr>
        <p:spPr>
          <a:xfrm>
            <a:off x="5381616" y="2172593"/>
            <a:ext cx="3333731" cy="675084"/>
          </a:xfrm>
          <a:prstGeom prst="rect">
            <a:avLst/>
          </a:prstGeom>
          <a:solidFill>
            <a:srgbClr val="001D33">
              <a:alpha val="40000"/>
            </a:srgbClr>
          </a:solidFill>
          <a:ln/>
        </p:spPr>
      </p:sp>
      <p:sp>
        <p:nvSpPr>
          <p:cNvPr id="17" name="Shape 11"/>
          <p:cNvSpPr/>
          <p:nvPr/>
        </p:nvSpPr>
        <p:spPr>
          <a:xfrm>
            <a:off x="5381616" y="2172593"/>
            <a:ext cx="28575" cy="675084"/>
          </a:xfrm>
          <a:prstGeom prst="rect">
            <a:avLst/>
          </a:prstGeom>
          <a:solidFill>
            <a:srgbClr val="27AE60"/>
          </a:solidFill>
          <a:ln/>
        </p:spPr>
      </p:sp>
      <p:pic>
        <p:nvPicPr>
          <p:cNvPr id="18" name="Image 3" descr="preencoded.png">    </p:cNvPr>
          <p:cNvPicPr>
            <a:picLocks noChangeAspect="1"/>
          </p:cNvPicPr>
          <p:nvPr/>
        </p:nvPicPr>
        <p:blipFill>
          <a:blip r:embed="rId4"/>
          <a:stretch>
            <a:fillRect/>
          </a:stretch>
        </p:blipFill>
        <p:spPr>
          <a:xfrm>
            <a:off x="5510203" y="2283321"/>
            <a:ext cx="114300" cy="114300"/>
          </a:xfrm>
          <a:prstGeom prst="rect">
            <a:avLst/>
          </a:prstGeom>
        </p:spPr>
      </p:pic>
      <p:sp>
        <p:nvSpPr>
          <p:cNvPr id="19" name="Text 12"/>
          <p:cNvSpPr/>
          <p:nvPr/>
        </p:nvSpPr>
        <p:spPr>
          <a:xfrm>
            <a:off x="5681653" y="2272605"/>
            <a:ext cx="1684139"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Variable Selection Networks</a:t>
            </a:r>
            <a:endParaRPr lang="en-US" sz="784" dirty="0"/>
          </a:p>
        </p:txBody>
      </p:sp>
      <p:sp>
        <p:nvSpPr>
          <p:cNvPr id="20" name="Text 13"/>
          <p:cNvSpPr/>
          <p:nvPr/>
        </p:nvSpPr>
        <p:spPr>
          <a:xfrm>
            <a:off x="5510203" y="2447627"/>
            <a:ext cx="3076556" cy="300038"/>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Seleciona automaticamente quais variáveis de entrada (IMFs, lags) são mais relevantes a cada passo de tempo.</a:t>
            </a:r>
            <a:endParaRPr lang="en-US" sz="727" dirty="0"/>
          </a:p>
        </p:txBody>
      </p:sp>
      <p:sp>
        <p:nvSpPr>
          <p:cNvPr id="21" name="Shape 14"/>
          <p:cNvSpPr/>
          <p:nvPr/>
        </p:nvSpPr>
        <p:spPr>
          <a:xfrm>
            <a:off x="5381616" y="2976265"/>
            <a:ext cx="3333731" cy="825103"/>
          </a:xfrm>
          <a:prstGeom prst="rect">
            <a:avLst/>
          </a:prstGeom>
          <a:solidFill>
            <a:srgbClr val="001D33">
              <a:alpha val="40000"/>
            </a:srgbClr>
          </a:solidFill>
          <a:ln/>
        </p:spPr>
      </p:sp>
      <p:sp>
        <p:nvSpPr>
          <p:cNvPr id="22" name="Shape 15"/>
          <p:cNvSpPr/>
          <p:nvPr/>
        </p:nvSpPr>
        <p:spPr>
          <a:xfrm>
            <a:off x="5381616" y="2976265"/>
            <a:ext cx="28575" cy="825103"/>
          </a:xfrm>
          <a:prstGeom prst="rect">
            <a:avLst/>
          </a:prstGeom>
          <a:solidFill>
            <a:srgbClr val="27AE60"/>
          </a:solidFill>
          <a:ln/>
        </p:spPr>
      </p:sp>
      <p:pic>
        <p:nvPicPr>
          <p:cNvPr id="23" name="Image 4" descr="preencoded.png">    </p:cNvPr>
          <p:cNvPicPr>
            <a:picLocks noChangeAspect="1"/>
          </p:cNvPicPr>
          <p:nvPr/>
        </p:nvPicPr>
        <p:blipFill>
          <a:blip r:embed="rId5"/>
          <a:stretch>
            <a:fillRect/>
          </a:stretch>
        </p:blipFill>
        <p:spPr>
          <a:xfrm>
            <a:off x="5510203" y="3086993"/>
            <a:ext cx="128588" cy="114300"/>
          </a:xfrm>
          <a:prstGeom prst="rect">
            <a:avLst/>
          </a:prstGeom>
        </p:spPr>
      </p:pic>
      <p:sp>
        <p:nvSpPr>
          <p:cNvPr id="24" name="Text 16"/>
          <p:cNvSpPr/>
          <p:nvPr/>
        </p:nvSpPr>
        <p:spPr>
          <a:xfrm>
            <a:off x="5695941" y="3076277"/>
            <a:ext cx="1426964"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Temporal Self-Attention</a:t>
            </a:r>
            <a:endParaRPr lang="en-US" sz="784" dirty="0"/>
          </a:p>
        </p:txBody>
      </p:sp>
      <p:sp>
        <p:nvSpPr>
          <p:cNvPr id="25" name="Text 17"/>
          <p:cNvSpPr/>
          <p:nvPr/>
        </p:nvSpPr>
        <p:spPr>
          <a:xfrm>
            <a:off x="5510203" y="3251299"/>
            <a:ext cx="3076556"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Captura dependências de longo prazo e fornece interpretabilidade: quais passos passados influenciam mais a previsão.</a:t>
            </a:r>
            <a:endParaRPr lang="en-US" sz="727" dirty="0"/>
          </a:p>
        </p:txBody>
      </p:sp>
      <p:sp>
        <p:nvSpPr>
          <p:cNvPr id="26" name="Shape 18"/>
          <p:cNvSpPr/>
          <p:nvPr/>
        </p:nvSpPr>
        <p:spPr>
          <a:xfrm>
            <a:off x="5381616" y="3929955"/>
            <a:ext cx="3333731" cy="825103"/>
          </a:xfrm>
          <a:prstGeom prst="rect">
            <a:avLst/>
          </a:prstGeom>
          <a:solidFill>
            <a:srgbClr val="F2C94C">
              <a:alpha val="6000"/>
            </a:srgbClr>
          </a:solidFill>
          <a:ln/>
        </p:spPr>
      </p:sp>
      <p:sp>
        <p:nvSpPr>
          <p:cNvPr id="27" name="Shape 19"/>
          <p:cNvSpPr/>
          <p:nvPr/>
        </p:nvSpPr>
        <p:spPr>
          <a:xfrm>
            <a:off x="5381616" y="3929955"/>
            <a:ext cx="28575" cy="825103"/>
          </a:xfrm>
          <a:prstGeom prst="rect">
            <a:avLst/>
          </a:prstGeom>
          <a:solidFill>
            <a:srgbClr val="F2C94C"/>
          </a:solidFill>
          <a:ln/>
        </p:spPr>
      </p:sp>
      <p:pic>
        <p:nvPicPr>
          <p:cNvPr id="28" name="Image 5" descr="preencoded.png">    </p:cNvPr>
          <p:cNvPicPr>
            <a:picLocks noChangeAspect="1"/>
          </p:cNvPicPr>
          <p:nvPr/>
        </p:nvPicPr>
        <p:blipFill>
          <a:blip r:embed="rId6"/>
          <a:stretch>
            <a:fillRect/>
          </a:stretch>
        </p:blipFill>
        <p:spPr>
          <a:xfrm>
            <a:off x="5510203" y="4040684"/>
            <a:ext cx="114300" cy="114300"/>
          </a:xfrm>
          <a:prstGeom prst="rect">
            <a:avLst/>
          </a:prstGeom>
        </p:spPr>
      </p:pic>
      <p:sp>
        <p:nvSpPr>
          <p:cNvPr id="29" name="Text 20"/>
          <p:cNvSpPr/>
          <p:nvPr/>
        </p:nvSpPr>
        <p:spPr>
          <a:xfrm>
            <a:off x="5681653" y="4029968"/>
            <a:ext cx="1878806"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Quantile Output (P10, P50, P90)</a:t>
            </a:r>
            <a:endParaRPr lang="en-US" sz="784" dirty="0"/>
          </a:p>
        </p:txBody>
      </p:sp>
      <p:sp>
        <p:nvSpPr>
          <p:cNvPr id="30" name="Text 21"/>
          <p:cNvSpPr/>
          <p:nvPr/>
        </p:nvSpPr>
        <p:spPr>
          <a:xfrm>
            <a:off x="5510203" y="4204990"/>
            <a:ext cx="3076556"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Camada final que projeta simultaneamente os três quantis, habilitando previsão probabilística nativa em uma única passagem.</a:t>
            </a:r>
            <a:endParaRPr lang="en-US" sz="727"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CEEMDAN: DECOMPOSIÇÃO ADAPTATIVA</a:t>
            </a:r>
            <a:endParaRPr lang="en-US" sz="1808" dirty="0"/>
          </a:p>
        </p:txBody>
      </p:sp>
      <p:sp>
        <p:nvSpPr>
          <p:cNvPr id="7" name="Shape 3"/>
          <p:cNvSpPr/>
          <p:nvPr/>
        </p:nvSpPr>
        <p:spPr>
          <a:xfrm>
            <a:off x="428625" y="1098352"/>
            <a:ext cx="3604329" cy="982266"/>
          </a:xfrm>
          <a:prstGeom prst="rect">
            <a:avLst/>
          </a:prstGeom>
          <a:solidFill>
            <a:srgbClr val="1A4B6E">
              <a:alpha val="30000"/>
            </a:srgbClr>
          </a:solidFill>
          <a:ln/>
        </p:spPr>
      </p:sp>
      <p:sp>
        <p:nvSpPr>
          <p:cNvPr id="8" name="Shape 4"/>
          <p:cNvSpPr/>
          <p:nvPr/>
        </p:nvSpPr>
        <p:spPr>
          <a:xfrm>
            <a:off x="428625" y="1098352"/>
            <a:ext cx="28575" cy="982266"/>
          </a:xfrm>
          <a:prstGeom prst="rect">
            <a:avLst/>
          </a:prstGeom>
          <a:solidFill>
            <a:srgbClr val="F2C94C"/>
          </a:solidFill>
          <a:ln/>
        </p:spPr>
      </p:sp>
      <p:sp>
        <p:nvSpPr>
          <p:cNvPr id="9" name="Text 5"/>
          <p:cNvSpPr/>
          <p:nvPr/>
        </p:nvSpPr>
        <p:spPr>
          <a:xfrm>
            <a:off x="571500" y="1241227"/>
            <a:ext cx="3318579"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Complete Ensemble EMD with Adaptive Noise</a:t>
            </a:r>
            <a:endParaRPr lang="en-US" sz="885" dirty="0"/>
          </a:p>
        </p:txBody>
      </p:sp>
      <p:sp>
        <p:nvSpPr>
          <p:cNvPr id="10" name="Text 6"/>
          <p:cNvSpPr/>
          <p:nvPr/>
        </p:nvSpPr>
        <p:spPr>
          <a:xfrm>
            <a:off x="571500" y="1455539"/>
            <a:ext cx="3318579" cy="48220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Uma evolução do EMD projetada para decompor sinais não-</a:t>
            </a:r>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lineares e não-estacionários, resolvendo o problema crítico de </a:t>
            </a:r>
            <a:pPr algn="l" indent="0" marL="0">
              <a:lnSpc>
                <a:spcPts val="1300"/>
              </a:lnSpc>
              <a:buNone/>
            </a:pPr>
            <a:r>
              <a:rPr lang="en-US" sz="734" b="1" dirty="0">
                <a:solidFill>
                  <a:srgbClr val="E8EDF2">
                    <a:alpha val="90000"/>
                  </a:srgbClr>
                </a:solidFill>
                <a:latin typeface="Inter" pitchFamily="34" charset="0"/>
                <a:ea typeface="Inter" pitchFamily="34" charset="-122"/>
                <a:cs typeface="Inter" pitchFamily="34" charset="-120"/>
              </a:rPr>
              <a:t>Mode Mixing</a:t>
            </a:r>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a:t>
            </a:r>
            <a:endParaRPr lang="en-US" sz="780" dirty="0"/>
          </a:p>
        </p:txBody>
      </p:sp>
      <p:sp>
        <p:nvSpPr>
          <p:cNvPr id="11" name="Text 7"/>
          <p:cNvSpPr/>
          <p:nvPr/>
        </p:nvSpPr>
        <p:spPr>
          <a:xfrm>
            <a:off x="428625" y="2259211"/>
            <a:ext cx="256896" cy="208955"/>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F2C94C">
                    <a:alpha val="20000"/>
                  </a:srgbClr>
                </a:solidFill>
                <a:latin typeface="Montserrat" pitchFamily="34" charset="0"/>
                <a:ea typeface="Montserrat" pitchFamily="34" charset="-122"/>
                <a:cs typeface="Montserrat" pitchFamily="34" charset="-120"/>
              </a:rPr>
              <a:t>01</a:t>
            </a:r>
            <a:endParaRPr lang="en-US" sz="1193" dirty="0"/>
          </a:p>
        </p:txBody>
      </p:sp>
      <p:sp>
        <p:nvSpPr>
          <p:cNvPr id="12" name="Text 8"/>
          <p:cNvSpPr/>
          <p:nvPr/>
        </p:nvSpPr>
        <p:spPr>
          <a:xfrm>
            <a:off x="792677" y="2267248"/>
            <a:ext cx="3240277" cy="192881"/>
          </a:xfrm>
          <a:prstGeom prst="rect">
            <a:avLst/>
          </a:prstGeom>
          <a:noFill/>
          <a:ln/>
        </p:spPr>
        <p:txBody>
          <a:bodyPr wrap="square" lIns="0" tIns="0" rIns="0" bIns="68072"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Adição de </a:t>
            </a:r>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Ruído Branco</a:t>
            </a:r>
            <a:pPr algn="l" indent="0" marL="0">
              <a:lnSpc>
                <a:spcPts val="1000"/>
              </a:lnSpc>
              <a:buNone/>
            </a:pPr>
            <a:r>
              <a:rPr lang="en-US" sz="780" dirty="0">
                <a:solidFill>
                  <a:srgbClr val="E8EDF2"/>
                </a:solidFill>
                <a:latin typeface="Inter" pitchFamily="34" charset="0"/>
                <a:ea typeface="Inter" pitchFamily="34" charset="-122"/>
                <a:cs typeface="Inter" pitchFamily="34" charset="-120"/>
              </a:rPr>
              <a:t> adaptativo ao sinal original.</a:t>
            </a:r>
            <a:endParaRPr lang="en-US" sz="780" dirty="0"/>
          </a:p>
        </p:txBody>
      </p:sp>
      <p:sp>
        <p:nvSpPr>
          <p:cNvPr id="13" name="Text 9"/>
          <p:cNvSpPr/>
          <p:nvPr/>
        </p:nvSpPr>
        <p:spPr>
          <a:xfrm>
            <a:off x="428625" y="2575322"/>
            <a:ext cx="256896" cy="208955"/>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F2C94C">
                    <a:alpha val="20000"/>
                  </a:srgbClr>
                </a:solidFill>
                <a:latin typeface="Montserrat" pitchFamily="34" charset="0"/>
                <a:ea typeface="Montserrat" pitchFamily="34" charset="-122"/>
                <a:cs typeface="Montserrat" pitchFamily="34" charset="-120"/>
              </a:rPr>
              <a:t>02</a:t>
            </a:r>
            <a:endParaRPr lang="en-US" sz="1193" dirty="0"/>
          </a:p>
        </p:txBody>
      </p:sp>
      <p:sp>
        <p:nvSpPr>
          <p:cNvPr id="14" name="Text 10"/>
          <p:cNvSpPr/>
          <p:nvPr/>
        </p:nvSpPr>
        <p:spPr>
          <a:xfrm>
            <a:off x="792677" y="2583359"/>
            <a:ext cx="3240277" cy="192881"/>
          </a:xfrm>
          <a:prstGeom prst="rect">
            <a:avLst/>
          </a:prstGeom>
          <a:noFill/>
          <a:ln/>
        </p:spPr>
        <p:txBody>
          <a:bodyPr wrap="square" lIns="0" tIns="0" rIns="0" bIns="68072"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Decomposição via EMD para extrair a primeira </a:t>
            </a:r>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IMF</a:t>
            </a:r>
            <a:pPr algn="l" indent="0" marL="0">
              <a:lnSpc>
                <a:spcPts val="1000"/>
              </a:lnSpc>
              <a:buNone/>
            </a:pPr>
            <a:r>
              <a:rPr lang="en-US" sz="780" dirty="0">
                <a:solidFill>
                  <a:srgbClr val="E8EDF2"/>
                </a:solidFill>
                <a:latin typeface="Inter" pitchFamily="34" charset="0"/>
                <a:ea typeface="Inter" pitchFamily="34" charset="-122"/>
                <a:cs typeface="Inter" pitchFamily="34" charset="-120"/>
              </a:rPr>
              <a:t>.</a:t>
            </a:r>
            <a:endParaRPr lang="en-US" sz="780" dirty="0"/>
          </a:p>
        </p:txBody>
      </p:sp>
      <p:sp>
        <p:nvSpPr>
          <p:cNvPr id="15" name="Text 11"/>
          <p:cNvSpPr/>
          <p:nvPr/>
        </p:nvSpPr>
        <p:spPr>
          <a:xfrm>
            <a:off x="428625" y="2891433"/>
            <a:ext cx="256896" cy="208955"/>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F2C94C">
                    <a:alpha val="20000"/>
                  </a:srgbClr>
                </a:solidFill>
                <a:latin typeface="Montserrat" pitchFamily="34" charset="0"/>
                <a:ea typeface="Montserrat" pitchFamily="34" charset="-122"/>
                <a:cs typeface="Montserrat" pitchFamily="34" charset="-120"/>
              </a:rPr>
              <a:t>03</a:t>
            </a:r>
            <a:endParaRPr lang="en-US" sz="1193" dirty="0"/>
          </a:p>
        </p:txBody>
      </p:sp>
      <p:sp>
        <p:nvSpPr>
          <p:cNvPr id="16" name="Text 12"/>
          <p:cNvSpPr/>
          <p:nvPr/>
        </p:nvSpPr>
        <p:spPr>
          <a:xfrm>
            <a:off x="792677" y="2899470"/>
            <a:ext cx="3240277" cy="192881"/>
          </a:xfrm>
          <a:prstGeom prst="rect">
            <a:avLst/>
          </a:prstGeom>
          <a:noFill/>
          <a:ln/>
        </p:spPr>
        <p:txBody>
          <a:bodyPr wrap="square" lIns="0" tIns="0" rIns="0" bIns="68072"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Cálculo da </a:t>
            </a:r>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Média do Ensemble</a:t>
            </a:r>
            <a:pPr algn="l" indent="0" marL="0">
              <a:lnSpc>
                <a:spcPts val="1000"/>
              </a:lnSpc>
              <a:buNone/>
            </a:pPr>
            <a:r>
              <a:rPr lang="en-US" sz="780" dirty="0">
                <a:solidFill>
                  <a:srgbClr val="E8EDF2"/>
                </a:solidFill>
                <a:latin typeface="Inter" pitchFamily="34" charset="0"/>
                <a:ea typeface="Inter" pitchFamily="34" charset="-122"/>
                <a:cs typeface="Inter" pitchFamily="34" charset="-120"/>
              </a:rPr>
              <a:t> para cancelar o ruído.</a:t>
            </a:r>
            <a:endParaRPr lang="en-US" sz="780" dirty="0"/>
          </a:p>
        </p:txBody>
      </p:sp>
      <p:sp>
        <p:nvSpPr>
          <p:cNvPr id="17" name="Text 13"/>
          <p:cNvSpPr/>
          <p:nvPr/>
        </p:nvSpPr>
        <p:spPr>
          <a:xfrm>
            <a:off x="428625" y="3207544"/>
            <a:ext cx="256896" cy="208955"/>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F2C94C">
                    <a:alpha val="20000"/>
                  </a:srgbClr>
                </a:solidFill>
                <a:latin typeface="Montserrat" pitchFamily="34" charset="0"/>
                <a:ea typeface="Montserrat" pitchFamily="34" charset="-122"/>
                <a:cs typeface="Montserrat" pitchFamily="34" charset="-120"/>
              </a:rPr>
              <a:t>04</a:t>
            </a:r>
            <a:endParaRPr lang="en-US" sz="1193" dirty="0"/>
          </a:p>
        </p:txBody>
      </p:sp>
      <p:sp>
        <p:nvSpPr>
          <p:cNvPr id="18" name="Text 14"/>
          <p:cNvSpPr/>
          <p:nvPr/>
        </p:nvSpPr>
        <p:spPr>
          <a:xfrm>
            <a:off x="792677" y="3215580"/>
            <a:ext cx="3240277" cy="192881"/>
          </a:xfrm>
          <a:prstGeom prst="rect">
            <a:avLst/>
          </a:prstGeom>
          <a:noFill/>
          <a:ln/>
        </p:spPr>
        <p:txBody>
          <a:bodyPr wrap="square" lIns="0" tIns="0" rIns="0" bIns="68072"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Subtração da IMF média do resíduo e </a:t>
            </a:r>
            <a:pPr algn="l" indent="0" marL="0">
              <a:lnSpc>
                <a:spcPts val="1000"/>
              </a:lnSpc>
              <a:buNone/>
            </a:pPr>
            <a:r>
              <a:rPr lang="en-US" sz="734" b="1" dirty="0">
                <a:solidFill>
                  <a:srgbClr val="F2C94C"/>
                </a:solidFill>
                <a:latin typeface="Inter" pitchFamily="34" charset="0"/>
                <a:ea typeface="Inter" pitchFamily="34" charset="-122"/>
                <a:cs typeface="Inter" pitchFamily="34" charset="-120"/>
              </a:rPr>
              <a:t>Iteração</a:t>
            </a:r>
            <a:pPr algn="l" indent="0" marL="0">
              <a:lnSpc>
                <a:spcPts val="1000"/>
              </a:lnSpc>
              <a:buNone/>
            </a:pPr>
            <a:r>
              <a:rPr lang="en-US" sz="780" dirty="0">
                <a:solidFill>
                  <a:srgbClr val="E8EDF2"/>
                </a:solidFill>
                <a:latin typeface="Inter" pitchFamily="34" charset="0"/>
                <a:ea typeface="Inter" pitchFamily="34" charset="-122"/>
                <a:cs typeface="Inter" pitchFamily="34" charset="-120"/>
              </a:rPr>
              <a:t>.</a:t>
            </a:r>
            <a:endParaRPr lang="en-US" sz="780" dirty="0"/>
          </a:p>
        </p:txBody>
      </p:sp>
      <p:sp>
        <p:nvSpPr>
          <p:cNvPr id="19" name="Shape 15"/>
          <p:cNvSpPr/>
          <p:nvPr/>
        </p:nvSpPr>
        <p:spPr>
          <a:xfrm>
            <a:off x="4390141" y="1098352"/>
            <a:ext cx="4325234" cy="3571875"/>
          </a:xfrm>
          <a:prstGeom prst="rect">
            <a:avLst/>
          </a:prstGeom>
          <a:solidFill>
            <a:srgbClr val="F2C94C">
              <a:alpha val="5000"/>
            </a:srgbClr>
          </a:solidFill>
          <a:ln w="18288">
            <a:solidFill>
              <a:srgbClr val="F2C94C">
                <a:alpha val="50000"/>
              </a:srgbClr>
            </a:solidFill>
            <a:prstDash val="dash"/>
          </a:ln>
        </p:spPr>
      </p:sp>
      <p:pic>
        <p:nvPicPr>
          <p:cNvPr id="20" name="Image 1" descr="preencoded.png">    </p:cNvPr>
          <p:cNvPicPr>
            <a:picLocks noChangeAspect="1"/>
          </p:cNvPicPr>
          <p:nvPr/>
        </p:nvPicPr>
        <p:blipFill>
          <a:blip r:embed="rId2">
            <a:alphaModFix amt="80000"/>
          </a:blip>
          <a:stretch>
            <a:fillRect/>
          </a:stretch>
        </p:blipFill>
        <p:spPr>
          <a:xfrm>
            <a:off x="6327716" y="2361902"/>
            <a:ext cx="450056" cy="400050"/>
          </a:xfrm>
          <a:prstGeom prst="rect">
            <a:avLst/>
          </a:prstGeom>
        </p:spPr>
      </p:pic>
      <p:sp>
        <p:nvSpPr>
          <p:cNvPr id="21" name="Text 16"/>
          <p:cNvSpPr/>
          <p:nvPr/>
        </p:nvSpPr>
        <p:spPr>
          <a:xfrm>
            <a:off x="5365989" y="2904827"/>
            <a:ext cx="2373511"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4.9 da Dissertação</a:t>
            </a:r>
            <a:endParaRPr lang="en-US" sz="987" dirty="0"/>
          </a:p>
        </p:txBody>
      </p:sp>
      <p:sp>
        <p:nvSpPr>
          <p:cNvPr id="22" name="Text 17"/>
          <p:cNvSpPr/>
          <p:nvPr/>
        </p:nvSpPr>
        <p:spPr>
          <a:xfrm>
            <a:off x="4994123" y="3149501"/>
            <a:ext cx="3117270"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Fluxograma do algoritmo CEEMDAN detalhando o processo iterativo</a:t>
            </a:r>
            <a:endParaRPr lang="en-US" sz="780" dirty="0"/>
          </a:p>
        </p:txBody>
      </p:sp>
      <p:sp>
        <p:nvSpPr>
          <p:cNvPr id="23" name="Text 18"/>
          <p:cNvSpPr/>
          <p:nvPr/>
        </p:nvSpPr>
        <p:spPr>
          <a:xfrm>
            <a:off x="4390141" y="4755952"/>
            <a:ext cx="4325234"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Colominas et al. (2014) / Dissertação</a:t>
            </a:r>
            <a:endParaRPr lang="en-US" sz="62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56002"/>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DECOMPOSIÇÃO HÍBRIDA CEEMDAN-EWT</a:t>
            </a:r>
            <a:endParaRPr lang="en-US" sz="1808" dirty="0"/>
          </a:p>
        </p:txBody>
      </p:sp>
      <p:sp>
        <p:nvSpPr>
          <p:cNvPr id="7" name="Shape 3"/>
          <p:cNvSpPr/>
          <p:nvPr/>
        </p:nvSpPr>
        <p:spPr>
          <a:xfrm>
            <a:off x="342900" y="1441252"/>
            <a:ext cx="171450" cy="171450"/>
          </a:xfrm>
          <a:prstGeom prst="ellipse">
            <a:avLst/>
          </a:prstGeom>
          <a:solidFill>
            <a:srgbClr val="002B49"/>
          </a:solidFill>
          <a:ln w="18288">
            <a:solidFill>
              <a:srgbClr val="F2C94C"/>
            </a:solidFill>
            <a:prstDash val="solid"/>
          </a:ln>
        </p:spPr>
      </p:sp>
      <p:sp>
        <p:nvSpPr>
          <p:cNvPr id="8" name="Text 4"/>
          <p:cNvSpPr/>
          <p:nvPr/>
        </p:nvSpPr>
        <p:spPr>
          <a:xfrm>
            <a:off x="342900" y="1441252"/>
            <a:ext cx="171450" cy="1714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F2C94C"/>
                </a:solidFill>
                <a:latin typeface="Inter" pitchFamily="34" charset="0"/>
                <a:ea typeface="Inter" pitchFamily="34" charset="-122"/>
                <a:cs typeface="Inter" pitchFamily="34" charset="-120"/>
              </a:rPr>
              <a:t>1</a:t>
            </a:r>
            <a:endParaRPr lang="en-US" sz="584" dirty="0"/>
          </a:p>
        </p:txBody>
      </p:sp>
      <p:sp>
        <p:nvSpPr>
          <p:cNvPr id="9" name="Text 5"/>
          <p:cNvSpPr/>
          <p:nvPr/>
        </p:nvSpPr>
        <p:spPr>
          <a:xfrm>
            <a:off x="585788" y="1441252"/>
            <a:ext cx="34147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Decomposição Primária (CEEMDAN)</a:t>
            </a:r>
            <a:endParaRPr lang="en-US" sz="885" dirty="0"/>
          </a:p>
        </p:txBody>
      </p:sp>
      <p:sp>
        <p:nvSpPr>
          <p:cNvPr id="10" name="Text 6"/>
          <p:cNvSpPr/>
          <p:nvPr/>
        </p:nvSpPr>
        <p:spPr>
          <a:xfrm>
            <a:off x="585788" y="1655564"/>
            <a:ext cx="3414713"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O sinal original de vento é decomposto em múltiplos Modos Intrínsecos (IMFs).</a:t>
            </a:r>
            <a:endParaRPr lang="en-US" sz="780" dirty="0"/>
          </a:p>
        </p:txBody>
      </p:sp>
      <p:pic>
        <p:nvPicPr>
          <p:cNvPr id="11" name="Image 1" descr="preencoded.png">    </p:cNvPr>
          <p:cNvPicPr>
            <a:picLocks noChangeAspect="1"/>
          </p:cNvPicPr>
          <p:nvPr/>
        </p:nvPicPr>
        <p:blipFill>
          <a:blip r:embed="rId2"/>
          <a:stretch>
            <a:fillRect/>
          </a:stretch>
        </p:blipFill>
        <p:spPr>
          <a:xfrm>
            <a:off x="500063" y="2200275"/>
            <a:ext cx="75009" cy="100013"/>
          </a:xfrm>
          <a:prstGeom prst="rect">
            <a:avLst/>
          </a:prstGeom>
        </p:spPr>
      </p:pic>
      <p:sp>
        <p:nvSpPr>
          <p:cNvPr id="12" name="Shape 7"/>
          <p:cNvSpPr/>
          <p:nvPr/>
        </p:nvSpPr>
        <p:spPr>
          <a:xfrm>
            <a:off x="342900" y="2527102"/>
            <a:ext cx="171450" cy="171450"/>
          </a:xfrm>
          <a:prstGeom prst="ellipse">
            <a:avLst/>
          </a:prstGeom>
          <a:solidFill>
            <a:srgbClr val="002B49"/>
          </a:solidFill>
          <a:ln w="18288">
            <a:solidFill>
              <a:srgbClr val="F2C94C"/>
            </a:solidFill>
            <a:prstDash val="solid"/>
          </a:ln>
        </p:spPr>
      </p:sp>
      <p:sp>
        <p:nvSpPr>
          <p:cNvPr id="13" name="Text 8"/>
          <p:cNvSpPr/>
          <p:nvPr/>
        </p:nvSpPr>
        <p:spPr>
          <a:xfrm>
            <a:off x="342900" y="2527102"/>
            <a:ext cx="171450" cy="1714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F2C94C"/>
                </a:solidFill>
                <a:latin typeface="Inter" pitchFamily="34" charset="0"/>
                <a:ea typeface="Inter" pitchFamily="34" charset="-122"/>
                <a:cs typeface="Inter" pitchFamily="34" charset="-120"/>
              </a:rPr>
              <a:t>2</a:t>
            </a:r>
            <a:endParaRPr lang="en-US" sz="584" dirty="0"/>
          </a:p>
        </p:txBody>
      </p:sp>
      <p:sp>
        <p:nvSpPr>
          <p:cNvPr id="14" name="Text 9"/>
          <p:cNvSpPr/>
          <p:nvPr/>
        </p:nvSpPr>
        <p:spPr>
          <a:xfrm>
            <a:off x="585788" y="2527102"/>
            <a:ext cx="34147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Critério de Entropia</a:t>
            </a:r>
            <a:endParaRPr lang="en-US" sz="885" dirty="0"/>
          </a:p>
        </p:txBody>
      </p:sp>
      <p:sp>
        <p:nvSpPr>
          <p:cNvPr id="15" name="Text 10"/>
          <p:cNvSpPr/>
          <p:nvPr/>
        </p:nvSpPr>
        <p:spPr>
          <a:xfrm>
            <a:off x="585788" y="2741414"/>
            <a:ext cx="3414713" cy="48220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A </a:t>
            </a:r>
            <a:pPr algn="l" indent="0" marL="0">
              <a:lnSpc>
                <a:spcPts val="1300"/>
              </a:lnSpc>
              <a:buNone/>
            </a:pPr>
            <a:r>
              <a:rPr lang="en-US" sz="734" b="1" dirty="0">
                <a:solidFill>
                  <a:srgbClr val="E8EDF2">
                    <a:alpha val="80000"/>
                  </a:srgbClr>
                </a:solidFill>
                <a:latin typeface="Inter" pitchFamily="34" charset="0"/>
                <a:ea typeface="Inter" pitchFamily="34" charset="-122"/>
                <a:cs typeface="Inter" pitchFamily="34" charset="-120"/>
              </a:rPr>
              <a:t>Permutation Entropy (PE)</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 é calculada para cada IMF. </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Componentes com PE alto (caóticos) são classificados como Alta </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Frequência (geralmente IMF1).</a:t>
            </a:r>
            <a:endParaRPr lang="en-US" sz="780" dirty="0"/>
          </a:p>
        </p:txBody>
      </p:sp>
      <p:pic>
        <p:nvPicPr>
          <p:cNvPr id="16" name="Image 2" descr="preencoded.png">    </p:cNvPr>
          <p:cNvPicPr>
            <a:picLocks noChangeAspect="1"/>
          </p:cNvPicPr>
          <p:nvPr/>
        </p:nvPicPr>
        <p:blipFill>
          <a:blip r:embed="rId3"/>
          <a:stretch>
            <a:fillRect/>
          </a:stretch>
        </p:blipFill>
        <p:spPr>
          <a:xfrm>
            <a:off x="500063" y="3446859"/>
            <a:ext cx="75009" cy="100013"/>
          </a:xfrm>
          <a:prstGeom prst="rect">
            <a:avLst/>
          </a:prstGeom>
        </p:spPr>
      </p:pic>
      <p:sp>
        <p:nvSpPr>
          <p:cNvPr id="17" name="Shape 11"/>
          <p:cNvSpPr/>
          <p:nvPr/>
        </p:nvSpPr>
        <p:spPr>
          <a:xfrm>
            <a:off x="357188" y="3773686"/>
            <a:ext cx="171450" cy="171450"/>
          </a:xfrm>
          <a:prstGeom prst="ellipse">
            <a:avLst/>
          </a:prstGeom>
          <a:solidFill>
            <a:srgbClr val="002B49"/>
          </a:solidFill>
          <a:ln w="18288">
            <a:solidFill>
              <a:srgbClr val="F2C94C"/>
            </a:solidFill>
            <a:prstDash val="solid"/>
          </a:ln>
        </p:spPr>
      </p:sp>
      <p:sp>
        <p:nvSpPr>
          <p:cNvPr id="18" name="Text 12"/>
          <p:cNvSpPr/>
          <p:nvPr/>
        </p:nvSpPr>
        <p:spPr>
          <a:xfrm>
            <a:off x="357188" y="3773686"/>
            <a:ext cx="171450" cy="171450"/>
          </a:xfrm>
          <a:prstGeom prst="rect">
            <a:avLst/>
          </a:prstGeom>
          <a:noFill/>
          <a:ln/>
        </p:spPr>
        <p:txBody>
          <a:bodyPr wrap="square" lIns="0" tIns="0" rIns="0" bIns="0" rtlCol="0" anchor="ctr">
            <a:spAutoFit/>
          </a:bodyPr>
          <a:lstStyle/>
          <a:p>
            <a:pPr algn="ctr" indent="0" marL="0">
              <a:lnSpc>
                <a:spcPts val="800"/>
              </a:lnSpc>
              <a:buNone/>
            </a:pPr>
            <a:r>
              <a:rPr lang="en-US" sz="584" b="1" dirty="0">
                <a:solidFill>
                  <a:srgbClr val="F2C94C"/>
                </a:solidFill>
                <a:latin typeface="Inter" pitchFamily="34" charset="0"/>
                <a:ea typeface="Inter" pitchFamily="34" charset="-122"/>
                <a:cs typeface="Inter" pitchFamily="34" charset="-120"/>
              </a:rPr>
              <a:t>3</a:t>
            </a:r>
            <a:endParaRPr lang="en-US" sz="584" dirty="0"/>
          </a:p>
        </p:txBody>
      </p:sp>
      <p:sp>
        <p:nvSpPr>
          <p:cNvPr id="19" name="Text 13"/>
          <p:cNvSpPr/>
          <p:nvPr/>
        </p:nvSpPr>
        <p:spPr>
          <a:xfrm>
            <a:off x="600075" y="3773686"/>
            <a:ext cx="3400425"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Refinamento Secundário (EWT)</a:t>
            </a:r>
            <a:endParaRPr lang="en-US" sz="885" dirty="0"/>
          </a:p>
        </p:txBody>
      </p:sp>
      <p:sp>
        <p:nvSpPr>
          <p:cNvPr id="20" name="Text 14"/>
          <p:cNvSpPr/>
          <p:nvPr/>
        </p:nvSpPr>
        <p:spPr>
          <a:xfrm>
            <a:off x="600075" y="3987998"/>
            <a:ext cx="3400425" cy="48220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A </a:t>
            </a:r>
            <a:pPr algn="l" indent="0" marL="0">
              <a:lnSpc>
                <a:spcPts val="1300"/>
              </a:lnSpc>
              <a:buNone/>
            </a:pPr>
            <a:r>
              <a:rPr lang="en-US" sz="734" b="1" dirty="0">
                <a:solidFill>
                  <a:srgbClr val="E8EDF2">
                    <a:alpha val="80000"/>
                  </a:srgbClr>
                </a:solidFill>
                <a:latin typeface="Inter" pitchFamily="34" charset="0"/>
                <a:ea typeface="Inter" pitchFamily="34" charset="-122"/>
                <a:cs typeface="Inter" pitchFamily="34" charset="-120"/>
              </a:rPr>
              <a:t>Empirical Wavelet Transform</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 é aplicada exclusivamente à IMF1 </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para separar o ruído estocástico dos padrões de alta frequência </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úteis.</a:t>
            </a:r>
            <a:endParaRPr lang="en-US" sz="780" dirty="0"/>
          </a:p>
        </p:txBody>
      </p:sp>
      <p:sp>
        <p:nvSpPr>
          <p:cNvPr id="21" name="Shape 15"/>
          <p:cNvSpPr/>
          <p:nvPr/>
        </p:nvSpPr>
        <p:spPr>
          <a:xfrm>
            <a:off x="4429125" y="1169789"/>
            <a:ext cx="4286250" cy="3571875"/>
          </a:xfrm>
          <a:prstGeom prst="rect">
            <a:avLst/>
          </a:prstGeom>
          <a:solidFill>
            <a:srgbClr val="F2C94C">
              <a:alpha val="5000"/>
            </a:srgbClr>
          </a:solidFill>
          <a:ln w="18288">
            <a:solidFill>
              <a:srgbClr val="F2C94C">
                <a:alpha val="50000"/>
              </a:srgbClr>
            </a:solidFill>
            <a:prstDash val="dash"/>
          </a:ln>
        </p:spPr>
      </p:sp>
      <p:pic>
        <p:nvPicPr>
          <p:cNvPr id="22" name="Image 3" descr="preencoded.png">    </p:cNvPr>
          <p:cNvPicPr>
            <a:picLocks noChangeAspect="1"/>
          </p:cNvPicPr>
          <p:nvPr/>
        </p:nvPicPr>
        <p:blipFill>
          <a:blip r:embed="rId4">
            <a:alphaModFix amt="80000"/>
          </a:blip>
          <a:stretch>
            <a:fillRect/>
          </a:stretch>
        </p:blipFill>
        <p:spPr>
          <a:xfrm>
            <a:off x="6347222" y="2433340"/>
            <a:ext cx="450056" cy="400050"/>
          </a:xfrm>
          <a:prstGeom prst="rect">
            <a:avLst/>
          </a:prstGeom>
        </p:spPr>
      </p:pic>
      <p:sp>
        <p:nvSpPr>
          <p:cNvPr id="23" name="Text 16"/>
          <p:cNvSpPr/>
          <p:nvPr/>
        </p:nvSpPr>
        <p:spPr>
          <a:xfrm>
            <a:off x="5356027" y="2976265"/>
            <a:ext cx="2432447"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4.10 da Dissertação</a:t>
            </a:r>
            <a:endParaRPr lang="en-US" sz="987" dirty="0"/>
          </a:p>
        </p:txBody>
      </p:sp>
      <p:sp>
        <p:nvSpPr>
          <p:cNvPr id="24" name="Text 17"/>
          <p:cNvSpPr/>
          <p:nvPr/>
        </p:nvSpPr>
        <p:spPr>
          <a:xfrm>
            <a:off x="5086350" y="3220938"/>
            <a:ext cx="2971800"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Fluxograma da estratégia híbrida de decomposição em dois estágios</a:t>
            </a:r>
            <a:endParaRPr lang="en-US" sz="780" dirty="0"/>
          </a:p>
        </p:txBody>
      </p:sp>
      <p:sp>
        <p:nvSpPr>
          <p:cNvPr id="25" name="Text 18"/>
          <p:cNvSpPr/>
          <p:nvPr/>
        </p:nvSpPr>
        <p:spPr>
          <a:xfrm>
            <a:off x="4429125" y="4827389"/>
            <a:ext cx="428625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4 (Fundamentação Teórica)</a:t>
            </a:r>
            <a:endParaRPr lang="en-US" sz="62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ESTRATÉGIA DE TREINAMENTO E VALIDAÇÃO</a:t>
            </a:r>
            <a:endParaRPr lang="en-US" sz="1808" dirty="0"/>
          </a:p>
        </p:txBody>
      </p:sp>
      <p:sp>
        <p:nvSpPr>
          <p:cNvPr id="7" name="Shape 3"/>
          <p:cNvSpPr/>
          <p:nvPr/>
        </p:nvSpPr>
        <p:spPr>
          <a:xfrm>
            <a:off x="428625" y="1241227"/>
            <a:ext cx="2571750" cy="3429000"/>
          </a:xfrm>
          <a:prstGeom prst="rect">
            <a:avLst/>
          </a:prstGeom>
          <a:solidFill>
            <a:srgbClr val="001D33">
              <a:alpha val="30000"/>
            </a:srgbClr>
          </a:solidFill>
          <a:ln w="9144">
            <a:solidFill>
              <a:srgbClr val="F2C94C">
                <a:alpha val="20000"/>
              </a:srgbClr>
            </a:solidFill>
            <a:prstDash val="solid"/>
          </a:ln>
        </p:spPr>
      </p:sp>
      <p:pic>
        <p:nvPicPr>
          <p:cNvPr id="8" name="Image 1" descr="preencoded.png">    </p:cNvPr>
          <p:cNvPicPr>
            <a:picLocks noChangeAspect="1"/>
          </p:cNvPicPr>
          <p:nvPr/>
        </p:nvPicPr>
        <p:blipFill>
          <a:blip r:embed="rId2"/>
          <a:stretch>
            <a:fillRect/>
          </a:stretch>
        </p:blipFill>
        <p:spPr>
          <a:xfrm>
            <a:off x="642938" y="1456432"/>
            <a:ext cx="171450" cy="171450"/>
          </a:xfrm>
          <a:prstGeom prst="rect">
            <a:avLst/>
          </a:prstGeom>
        </p:spPr>
      </p:pic>
      <p:sp>
        <p:nvSpPr>
          <p:cNvPr id="9" name="Text 4"/>
          <p:cNvSpPr/>
          <p:nvPr/>
        </p:nvSpPr>
        <p:spPr>
          <a:xfrm>
            <a:off x="921544" y="1455539"/>
            <a:ext cx="158234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Regressão Quantílica</a:t>
            </a:r>
            <a:endParaRPr lang="en-US" sz="987" dirty="0"/>
          </a:p>
        </p:txBody>
      </p:sp>
      <p:sp>
        <p:nvSpPr>
          <p:cNvPr id="10" name="Text 5"/>
          <p:cNvSpPr/>
          <p:nvPr/>
        </p:nvSpPr>
        <p:spPr>
          <a:xfrm>
            <a:off x="642938" y="1885950"/>
            <a:ext cx="2143125" cy="48220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Para capturar a incerteza, o modelo não prevê apenas a média, mas três quantis específicos:</a:t>
            </a:r>
            <a:endParaRPr lang="en-US" sz="780" dirty="0"/>
          </a:p>
        </p:txBody>
      </p:sp>
      <p:sp>
        <p:nvSpPr>
          <p:cNvPr id="11" name="Text 6"/>
          <p:cNvSpPr/>
          <p:nvPr/>
        </p:nvSpPr>
        <p:spPr>
          <a:xfrm>
            <a:off x="642938" y="2546747"/>
            <a:ext cx="50006"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2C94C"/>
                </a:solidFill>
                <a:latin typeface="Inter" pitchFamily="34" charset="0"/>
                <a:ea typeface="Inter" pitchFamily="34" charset="-122"/>
                <a:cs typeface="Inter" pitchFamily="34" charset="-120"/>
              </a:rPr>
              <a:t>•</a:t>
            </a:r>
            <a:endParaRPr lang="en-US" sz="683" dirty="0"/>
          </a:p>
        </p:txBody>
      </p:sp>
      <p:sp>
        <p:nvSpPr>
          <p:cNvPr id="12" name="Text 7"/>
          <p:cNvSpPr/>
          <p:nvPr/>
        </p:nvSpPr>
        <p:spPr>
          <a:xfrm>
            <a:off x="750094" y="2546747"/>
            <a:ext cx="205383"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8EDF2">
                    <a:alpha val="90000"/>
                  </a:srgbClr>
                </a:solidFill>
                <a:latin typeface="Inter" pitchFamily="34" charset="0"/>
                <a:ea typeface="Inter" pitchFamily="34" charset="-122"/>
                <a:cs typeface="Inter" pitchFamily="34" charset="-120"/>
              </a:rPr>
              <a:t>P10:</a:t>
            </a:r>
            <a:endParaRPr lang="en-US" sz="683" dirty="0"/>
          </a:p>
        </p:txBody>
      </p:sp>
      <p:sp>
        <p:nvSpPr>
          <p:cNvPr id="13" name="Text 8"/>
          <p:cNvSpPr/>
          <p:nvPr/>
        </p:nvSpPr>
        <p:spPr>
          <a:xfrm>
            <a:off x="955477" y="2546747"/>
            <a:ext cx="126801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90000"/>
                  </a:srgbClr>
                </a:solidFill>
                <a:latin typeface="Inter" pitchFamily="34" charset="0"/>
                <a:ea typeface="Inter" pitchFamily="34" charset="-122"/>
                <a:cs typeface="Inter" pitchFamily="34" charset="-120"/>
              </a:rPr>
              <a:t>Cenário pessimista (risco)</a:t>
            </a:r>
            <a:endParaRPr lang="en-US" sz="727" dirty="0"/>
          </a:p>
        </p:txBody>
      </p:sp>
      <p:sp>
        <p:nvSpPr>
          <p:cNvPr id="14" name="Text 9"/>
          <p:cNvSpPr/>
          <p:nvPr/>
        </p:nvSpPr>
        <p:spPr>
          <a:xfrm>
            <a:off x="642938" y="2725341"/>
            <a:ext cx="50006"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2C94C"/>
                </a:solidFill>
                <a:latin typeface="Inter" pitchFamily="34" charset="0"/>
                <a:ea typeface="Inter" pitchFamily="34" charset="-122"/>
                <a:cs typeface="Inter" pitchFamily="34" charset="-120"/>
              </a:rPr>
              <a:t>•</a:t>
            </a:r>
            <a:endParaRPr lang="en-US" sz="683" dirty="0"/>
          </a:p>
        </p:txBody>
      </p:sp>
      <p:sp>
        <p:nvSpPr>
          <p:cNvPr id="15" name="Text 10"/>
          <p:cNvSpPr/>
          <p:nvPr/>
        </p:nvSpPr>
        <p:spPr>
          <a:xfrm>
            <a:off x="750094" y="2725341"/>
            <a:ext cx="223242"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8EDF2">
                    <a:alpha val="90000"/>
                  </a:srgbClr>
                </a:solidFill>
                <a:latin typeface="Inter" pitchFamily="34" charset="0"/>
                <a:ea typeface="Inter" pitchFamily="34" charset="-122"/>
                <a:cs typeface="Inter" pitchFamily="34" charset="-120"/>
              </a:rPr>
              <a:t>P50:</a:t>
            </a:r>
            <a:endParaRPr lang="en-US" sz="683" dirty="0"/>
          </a:p>
        </p:txBody>
      </p:sp>
      <p:sp>
        <p:nvSpPr>
          <p:cNvPr id="16" name="Text 11"/>
          <p:cNvSpPr/>
          <p:nvPr/>
        </p:nvSpPr>
        <p:spPr>
          <a:xfrm>
            <a:off x="973336" y="2725341"/>
            <a:ext cx="1291233"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90000"/>
                  </a:srgbClr>
                </a:solidFill>
                <a:latin typeface="Inter" pitchFamily="34" charset="0"/>
                <a:ea typeface="Inter" pitchFamily="34" charset="-122"/>
                <a:cs typeface="Inter" pitchFamily="34" charset="-120"/>
              </a:rPr>
              <a:t>Mediana (previsão central)</a:t>
            </a:r>
            <a:endParaRPr lang="en-US" sz="727" dirty="0"/>
          </a:p>
        </p:txBody>
      </p:sp>
      <p:sp>
        <p:nvSpPr>
          <p:cNvPr id="17" name="Text 12"/>
          <p:cNvSpPr/>
          <p:nvPr/>
        </p:nvSpPr>
        <p:spPr>
          <a:xfrm>
            <a:off x="642938" y="2903934"/>
            <a:ext cx="50006"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2C94C"/>
                </a:solidFill>
                <a:latin typeface="Inter" pitchFamily="34" charset="0"/>
                <a:ea typeface="Inter" pitchFamily="34" charset="-122"/>
                <a:cs typeface="Inter" pitchFamily="34" charset="-120"/>
              </a:rPr>
              <a:t>•</a:t>
            </a:r>
            <a:endParaRPr lang="en-US" sz="683" dirty="0"/>
          </a:p>
        </p:txBody>
      </p:sp>
      <p:sp>
        <p:nvSpPr>
          <p:cNvPr id="18" name="Text 13"/>
          <p:cNvSpPr/>
          <p:nvPr/>
        </p:nvSpPr>
        <p:spPr>
          <a:xfrm>
            <a:off x="750094" y="2903934"/>
            <a:ext cx="226814"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8EDF2">
                    <a:alpha val="90000"/>
                  </a:srgbClr>
                </a:solidFill>
                <a:latin typeface="Inter" pitchFamily="34" charset="0"/>
                <a:ea typeface="Inter" pitchFamily="34" charset="-122"/>
                <a:cs typeface="Inter" pitchFamily="34" charset="-120"/>
              </a:rPr>
              <a:t>P90:</a:t>
            </a:r>
            <a:endParaRPr lang="en-US" sz="683" dirty="0"/>
          </a:p>
        </p:txBody>
      </p:sp>
      <p:sp>
        <p:nvSpPr>
          <p:cNvPr id="19" name="Text 14"/>
          <p:cNvSpPr/>
          <p:nvPr/>
        </p:nvSpPr>
        <p:spPr>
          <a:xfrm>
            <a:off x="976908" y="2903934"/>
            <a:ext cx="800100"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90000"/>
                  </a:srgbClr>
                </a:solidFill>
                <a:latin typeface="Inter" pitchFamily="34" charset="0"/>
                <a:ea typeface="Inter" pitchFamily="34" charset="-122"/>
                <a:cs typeface="Inter" pitchFamily="34" charset="-120"/>
              </a:rPr>
              <a:t>Cenário otimista</a:t>
            </a:r>
            <a:endParaRPr lang="en-US" sz="727" dirty="0"/>
          </a:p>
        </p:txBody>
      </p:sp>
      <p:sp>
        <p:nvSpPr>
          <p:cNvPr id="20" name="Shape 15"/>
          <p:cNvSpPr/>
          <p:nvPr/>
        </p:nvSpPr>
        <p:spPr>
          <a:xfrm>
            <a:off x="642938" y="3261122"/>
            <a:ext cx="2143125" cy="475059"/>
          </a:xfrm>
          <a:prstGeom prst="rect">
            <a:avLst/>
          </a:prstGeom>
          <a:solidFill>
            <a:srgbClr val="F2C94C">
              <a:alpha val="10000"/>
            </a:srgbClr>
          </a:solidFill>
          <a:ln w="9144">
            <a:solidFill>
              <a:srgbClr val="F2C94C">
                <a:alpha val="30000"/>
              </a:srgbClr>
            </a:solidFill>
            <a:prstDash val="dash"/>
          </a:ln>
        </p:spPr>
      </p:sp>
      <p:sp>
        <p:nvSpPr>
          <p:cNvPr id="21" name="Text 16"/>
          <p:cNvSpPr/>
          <p:nvPr/>
        </p:nvSpPr>
        <p:spPr>
          <a:xfrm>
            <a:off x="642938" y="3261122"/>
            <a:ext cx="2143125" cy="475059"/>
          </a:xfrm>
          <a:prstGeom prst="rect">
            <a:avLst/>
          </a:prstGeom>
          <a:noFill/>
          <a:ln/>
        </p:spPr>
        <p:txBody>
          <a:bodyPr wrap="square" lIns="127508" tIns="127508" rIns="127508" bIns="127508" rtlCol="0" anchor="t">
            <a:spAutoFit/>
          </a:bodyPr>
          <a:lstStyle/>
          <a:p>
            <a:pPr algn="ctr" indent="0" marL="0">
              <a:lnSpc>
                <a:spcPts val="900"/>
              </a:lnSpc>
              <a:buNone/>
            </a:pPr>
            <a:r>
              <a:rPr lang="en-US" sz="674" dirty="0">
                <a:solidFill>
                  <a:srgbClr val="FFFFFF"/>
                </a:solidFill>
                <a:latin typeface="JetBrains Mono" pitchFamily="34" charset="0"/>
                <a:ea typeface="JetBrains Mono" pitchFamily="34" charset="-122"/>
                <a:cs typeface="JetBrains Mono" pitchFamily="34" charset="-120"/>
              </a:rPr>
              <a:t>Loss = Σ max((q-1)e, qe)</a:t>
            </a:r>
            <a:pPr algn="ctr" indent="0" marL="0">
              <a:lnSpc>
                <a:spcPts val="900"/>
              </a:lnSpc>
              <a:buNone/>
            </a:pPr>
            <a:r>
              <a:rPr lang="en-US" sz="674" dirty="0">
                <a:solidFill>
                  <a:srgbClr val="FFFFFF"/>
                </a:solidFill>
                <a:latin typeface="JetBrains Mono" pitchFamily="34" charset="0"/>
                <a:ea typeface="JetBrains Mono" pitchFamily="34" charset="-122"/>
                <a:cs typeface="JetBrains Mono" pitchFamily="34" charset="-120"/>
              </a:rPr>
              <a:t>
</a:t>
            </a:r>
            <a:pPr algn="ctr" indent="0" marL="0">
              <a:lnSpc>
                <a:spcPts val="900"/>
              </a:lnSpc>
              <a:buNone/>
            </a:pPr>
            <a:r>
              <a:rPr lang="en-US" sz="674" dirty="0">
                <a:solidFill>
                  <a:srgbClr val="FFFFFF"/>
                </a:solidFill>
                <a:latin typeface="JetBrains Mono" pitchFamily="34" charset="0"/>
                <a:ea typeface="JetBrains Mono" pitchFamily="34" charset="-122"/>
                <a:cs typeface="JetBrains Mono" pitchFamily="34" charset="-120"/>
              </a:rPr>
              <a:t> </a:t>
            </a:r>
            <a:pPr algn="ctr" indent="0" marL="0">
              <a:lnSpc>
                <a:spcPts val="900"/>
              </a:lnSpc>
              <a:buNone/>
            </a:pPr>
            <a:r>
              <a:rPr lang="en-US" sz="568" dirty="0">
                <a:solidFill>
                  <a:srgbClr val="FFFFFF"/>
                </a:solidFill>
                <a:latin typeface="JetBrains Mono" pitchFamily="34" charset="0"/>
                <a:ea typeface="JetBrains Mono" pitchFamily="34" charset="-122"/>
                <a:cs typeface="JetBrains Mono" pitchFamily="34" charset="-120"/>
              </a:rPr>
              <a:t>(Pinball Loss Function)</a:t>
            </a:r>
            <a:pPr algn="ctr" indent="0" marL="0">
              <a:lnSpc>
                <a:spcPts val="900"/>
              </a:lnSpc>
              <a:buNone/>
            </a:pPr>
            <a:endParaRPr lang="en-US" sz="674" dirty="0"/>
          </a:p>
        </p:txBody>
      </p:sp>
      <p:sp>
        <p:nvSpPr>
          <p:cNvPr id="22" name="Shape 17"/>
          <p:cNvSpPr/>
          <p:nvPr/>
        </p:nvSpPr>
        <p:spPr>
          <a:xfrm>
            <a:off x="3286125" y="1241227"/>
            <a:ext cx="2571750" cy="3429000"/>
          </a:xfrm>
          <a:prstGeom prst="rect">
            <a:avLst/>
          </a:prstGeom>
          <a:solidFill>
            <a:srgbClr val="001D33">
              <a:alpha val="30000"/>
            </a:srgbClr>
          </a:solidFill>
          <a:ln w="9144">
            <a:solidFill>
              <a:srgbClr val="F2C94C">
                <a:alpha val="20000"/>
              </a:srgbClr>
            </a:solidFill>
            <a:prstDash val="solid"/>
          </a:ln>
        </p:spPr>
      </p:sp>
      <p:pic>
        <p:nvPicPr>
          <p:cNvPr id="23" name="Image 2" descr="preencoded.png">    </p:cNvPr>
          <p:cNvPicPr>
            <a:picLocks noChangeAspect="1"/>
          </p:cNvPicPr>
          <p:nvPr/>
        </p:nvPicPr>
        <p:blipFill>
          <a:blip r:embed="rId3"/>
          <a:stretch>
            <a:fillRect/>
          </a:stretch>
        </p:blipFill>
        <p:spPr>
          <a:xfrm>
            <a:off x="3500438" y="1456432"/>
            <a:ext cx="214313" cy="171450"/>
          </a:xfrm>
          <a:prstGeom prst="rect">
            <a:avLst/>
          </a:prstGeom>
        </p:spPr>
      </p:pic>
      <p:sp>
        <p:nvSpPr>
          <p:cNvPr id="24" name="Text 18"/>
          <p:cNvSpPr/>
          <p:nvPr/>
        </p:nvSpPr>
        <p:spPr>
          <a:xfrm>
            <a:off x="3821906" y="1455539"/>
            <a:ext cx="164842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Otimização Bayesiana</a:t>
            </a:r>
            <a:endParaRPr lang="en-US" sz="987" dirty="0"/>
          </a:p>
        </p:txBody>
      </p:sp>
      <p:sp>
        <p:nvSpPr>
          <p:cNvPr id="25" name="Text 19"/>
          <p:cNvSpPr/>
          <p:nvPr/>
        </p:nvSpPr>
        <p:spPr>
          <a:xfrm>
            <a:off x="3500438" y="1885950"/>
            <a:ext cx="2143125"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Utilização do framework </a:t>
            </a:r>
            <a:pPr algn="l" indent="0" marL="0">
              <a:lnSpc>
                <a:spcPts val="1300"/>
              </a:lnSpc>
              <a:buNone/>
            </a:pPr>
            <a:r>
              <a:rPr lang="en-US" sz="734" b="1" dirty="0">
                <a:solidFill>
                  <a:srgbClr val="E8EDF2">
                    <a:alpha val="80000"/>
                  </a:srgbClr>
                </a:solidFill>
                <a:latin typeface="Inter" pitchFamily="34" charset="0"/>
                <a:ea typeface="Inter" pitchFamily="34" charset="-122"/>
                <a:cs typeface="Inter" pitchFamily="34" charset="-120"/>
              </a:rPr>
              <a:t>Optuna</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 para </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busca eficiente de hiperparâmetros.</a:t>
            </a:r>
            <a:endParaRPr lang="en-US" sz="780" dirty="0"/>
          </a:p>
        </p:txBody>
      </p:sp>
      <p:sp>
        <p:nvSpPr>
          <p:cNvPr id="26" name="Text 20"/>
          <p:cNvSpPr/>
          <p:nvPr/>
        </p:nvSpPr>
        <p:spPr>
          <a:xfrm>
            <a:off x="3500438" y="2386013"/>
            <a:ext cx="50006"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2C94C"/>
                </a:solidFill>
                <a:latin typeface="Inter" pitchFamily="34" charset="0"/>
                <a:ea typeface="Inter" pitchFamily="34" charset="-122"/>
                <a:cs typeface="Inter" pitchFamily="34" charset="-120"/>
              </a:rPr>
              <a:t>•</a:t>
            </a:r>
            <a:endParaRPr lang="en-US" sz="683" dirty="0"/>
          </a:p>
        </p:txBody>
      </p:sp>
      <p:sp>
        <p:nvSpPr>
          <p:cNvPr id="27" name="Text 21"/>
          <p:cNvSpPr/>
          <p:nvPr/>
        </p:nvSpPr>
        <p:spPr>
          <a:xfrm>
            <a:off x="3607594" y="2386013"/>
            <a:ext cx="723305"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8EDF2">
                    <a:alpha val="90000"/>
                  </a:srgbClr>
                </a:solidFill>
                <a:latin typeface="Inter" pitchFamily="34" charset="0"/>
                <a:ea typeface="Inter" pitchFamily="34" charset="-122"/>
                <a:cs typeface="Inter" pitchFamily="34" charset="-120"/>
              </a:rPr>
              <a:t>Algoritmo TPE:</a:t>
            </a:r>
            <a:endParaRPr lang="en-US" sz="683" dirty="0"/>
          </a:p>
        </p:txBody>
      </p:sp>
      <p:sp>
        <p:nvSpPr>
          <p:cNvPr id="28" name="Text 22"/>
          <p:cNvSpPr/>
          <p:nvPr/>
        </p:nvSpPr>
        <p:spPr>
          <a:xfrm>
            <a:off x="3607594" y="2386013"/>
            <a:ext cx="1853803"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E8EDF2">
                    <a:alpha val="90000"/>
                  </a:srgbClr>
                </a:solidFill>
                <a:latin typeface="Inter" pitchFamily="34" charset="0"/>
                <a:ea typeface="Inter" pitchFamily="34" charset="-122"/>
                <a:cs typeface="Inter" pitchFamily="34" charset="-120"/>
              </a:rPr>
              <a:t>Tree-structured Parzen Estimator.</a:t>
            </a:r>
            <a:endParaRPr lang="en-US" sz="727" dirty="0"/>
          </a:p>
        </p:txBody>
      </p:sp>
      <p:sp>
        <p:nvSpPr>
          <p:cNvPr id="29" name="Text 23"/>
          <p:cNvSpPr/>
          <p:nvPr/>
        </p:nvSpPr>
        <p:spPr>
          <a:xfrm>
            <a:off x="3500438" y="2686050"/>
            <a:ext cx="50006"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2C94C"/>
                </a:solidFill>
                <a:latin typeface="Inter" pitchFamily="34" charset="0"/>
                <a:ea typeface="Inter" pitchFamily="34" charset="-122"/>
                <a:cs typeface="Inter" pitchFamily="34" charset="-120"/>
              </a:rPr>
              <a:t>•</a:t>
            </a:r>
            <a:endParaRPr lang="en-US" sz="683" dirty="0"/>
          </a:p>
        </p:txBody>
      </p:sp>
      <p:sp>
        <p:nvSpPr>
          <p:cNvPr id="30" name="Text 24"/>
          <p:cNvSpPr/>
          <p:nvPr/>
        </p:nvSpPr>
        <p:spPr>
          <a:xfrm>
            <a:off x="3607594" y="2686050"/>
            <a:ext cx="521494"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8EDF2">
                    <a:alpha val="90000"/>
                  </a:srgbClr>
                </a:solidFill>
                <a:latin typeface="Inter" pitchFamily="34" charset="0"/>
                <a:ea typeface="Inter" pitchFamily="34" charset="-122"/>
                <a:cs typeface="Inter" pitchFamily="34" charset="-120"/>
              </a:rPr>
              <a:t>Vantagem:</a:t>
            </a:r>
            <a:endParaRPr lang="en-US" sz="683" dirty="0"/>
          </a:p>
        </p:txBody>
      </p:sp>
      <p:sp>
        <p:nvSpPr>
          <p:cNvPr id="31" name="Text 25"/>
          <p:cNvSpPr/>
          <p:nvPr/>
        </p:nvSpPr>
        <p:spPr>
          <a:xfrm>
            <a:off x="3607594" y="2686050"/>
            <a:ext cx="2023467" cy="364331"/>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E8EDF2">
                    <a:alpha val="90000"/>
                  </a:srgbClr>
                </a:solidFill>
                <a:latin typeface="Inter" pitchFamily="34" charset="0"/>
                <a:ea typeface="Inter" pitchFamily="34" charset="-122"/>
                <a:cs typeface="Inter" pitchFamily="34" charset="-120"/>
              </a:rPr>
              <a:t>Converge mais rápido que Grid Search ou Random Search ao aprender com tentativas anteriores.</a:t>
            </a:r>
            <a:endParaRPr lang="en-US" sz="727" dirty="0"/>
          </a:p>
        </p:txBody>
      </p:sp>
      <p:sp>
        <p:nvSpPr>
          <p:cNvPr id="32" name="Text 26"/>
          <p:cNvSpPr/>
          <p:nvPr/>
        </p:nvSpPr>
        <p:spPr>
          <a:xfrm>
            <a:off x="3500438" y="3107531"/>
            <a:ext cx="50006"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F2C94C"/>
                </a:solidFill>
                <a:latin typeface="Inter" pitchFamily="34" charset="0"/>
                <a:ea typeface="Inter" pitchFamily="34" charset="-122"/>
                <a:cs typeface="Inter" pitchFamily="34" charset="-120"/>
              </a:rPr>
              <a:t>•</a:t>
            </a:r>
            <a:endParaRPr lang="en-US" sz="683" dirty="0"/>
          </a:p>
        </p:txBody>
      </p:sp>
      <p:sp>
        <p:nvSpPr>
          <p:cNvPr id="33" name="Text 27"/>
          <p:cNvSpPr/>
          <p:nvPr/>
        </p:nvSpPr>
        <p:spPr>
          <a:xfrm>
            <a:off x="3607594" y="3107531"/>
            <a:ext cx="585788"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8EDF2">
                    <a:alpha val="90000"/>
                  </a:srgbClr>
                </a:solidFill>
                <a:latin typeface="Inter" pitchFamily="34" charset="0"/>
                <a:ea typeface="Inter" pitchFamily="34" charset="-122"/>
                <a:cs typeface="Inter" pitchFamily="34" charset="-120"/>
              </a:rPr>
              <a:t>Parâmetros:</a:t>
            </a:r>
            <a:endParaRPr lang="en-US" sz="683" dirty="0"/>
          </a:p>
        </p:txBody>
      </p:sp>
      <p:sp>
        <p:nvSpPr>
          <p:cNvPr id="34" name="Text 28"/>
          <p:cNvSpPr/>
          <p:nvPr/>
        </p:nvSpPr>
        <p:spPr>
          <a:xfrm>
            <a:off x="3607594" y="3107531"/>
            <a:ext cx="1869877"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E8EDF2">
                    <a:alpha val="90000"/>
                  </a:srgbClr>
                </a:solidFill>
                <a:latin typeface="Inter" pitchFamily="34" charset="0"/>
                <a:ea typeface="Inter" pitchFamily="34" charset="-122"/>
                <a:cs typeface="Inter" pitchFamily="34" charset="-120"/>
              </a:rPr>
              <a:t>Learning rate, hidden size, dropout, attention heads.</a:t>
            </a:r>
            <a:endParaRPr lang="en-US" sz="727" dirty="0"/>
          </a:p>
        </p:txBody>
      </p:sp>
      <p:sp>
        <p:nvSpPr>
          <p:cNvPr id="35" name="Shape 29"/>
          <p:cNvSpPr/>
          <p:nvPr/>
        </p:nvSpPr>
        <p:spPr>
          <a:xfrm>
            <a:off x="6143625" y="1241227"/>
            <a:ext cx="2571750" cy="3429000"/>
          </a:xfrm>
          <a:prstGeom prst="rect">
            <a:avLst/>
          </a:prstGeom>
          <a:solidFill>
            <a:srgbClr val="001D33">
              <a:alpha val="30000"/>
            </a:srgbClr>
          </a:solidFill>
          <a:ln w="9144">
            <a:solidFill>
              <a:srgbClr val="F2C94C">
                <a:alpha val="20000"/>
              </a:srgbClr>
            </a:solidFill>
            <a:prstDash val="solid"/>
          </a:ln>
        </p:spPr>
      </p:sp>
      <p:pic>
        <p:nvPicPr>
          <p:cNvPr id="36" name="Image 3" descr="preencoded.png">    </p:cNvPr>
          <p:cNvPicPr>
            <a:picLocks noChangeAspect="1"/>
          </p:cNvPicPr>
          <p:nvPr/>
        </p:nvPicPr>
        <p:blipFill>
          <a:blip r:embed="rId4"/>
          <a:stretch>
            <a:fillRect/>
          </a:stretch>
        </p:blipFill>
        <p:spPr>
          <a:xfrm>
            <a:off x="6357938" y="1456432"/>
            <a:ext cx="171450" cy="171450"/>
          </a:xfrm>
          <a:prstGeom prst="rect">
            <a:avLst/>
          </a:prstGeom>
        </p:spPr>
      </p:pic>
      <p:sp>
        <p:nvSpPr>
          <p:cNvPr id="37" name="Text 30"/>
          <p:cNvSpPr/>
          <p:nvPr/>
        </p:nvSpPr>
        <p:spPr>
          <a:xfrm>
            <a:off x="6636544" y="1455539"/>
            <a:ext cx="1460897"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Validação Temporal</a:t>
            </a:r>
            <a:endParaRPr lang="en-US" sz="987" dirty="0"/>
          </a:p>
        </p:txBody>
      </p:sp>
      <p:sp>
        <p:nvSpPr>
          <p:cNvPr id="38" name="Text 31"/>
          <p:cNvSpPr/>
          <p:nvPr/>
        </p:nvSpPr>
        <p:spPr>
          <a:xfrm>
            <a:off x="6357938" y="1885950"/>
            <a:ext cx="2143125" cy="321469"/>
          </a:xfrm>
          <a:prstGeom prst="rect">
            <a:avLst/>
          </a:prstGeom>
          <a:noFill/>
          <a:ln/>
        </p:spPr>
        <p:txBody>
          <a:bodyPr wrap="square" lIns="0" tIns="0" rIns="0" bIns="0" rtlCol="0" anchor="t">
            <a:spAutoFit/>
          </a:bodyPr>
          <a:lstStyle/>
          <a:p>
            <a:pPr algn="l" indent="0" marL="0">
              <a:lnSpc>
                <a:spcPts val="1300"/>
              </a:lnSpc>
              <a:buNone/>
            </a:pPr>
            <a:pPr algn="l" indent="0" marL="0">
              <a:lnSpc>
                <a:spcPts val="1300"/>
              </a:lnSpc>
              <a:buNone/>
            </a:pPr>
            <a:r>
              <a:rPr lang="en-US" sz="734" b="1" dirty="0">
                <a:solidFill>
                  <a:srgbClr val="E8EDF2">
                    <a:alpha val="80000"/>
                  </a:srgbClr>
                </a:solidFill>
                <a:latin typeface="Inter" pitchFamily="34" charset="0"/>
                <a:ea typeface="Inter" pitchFamily="34" charset="-122"/>
                <a:cs typeface="Inter" pitchFamily="34" charset="-120"/>
              </a:rPr>
              <a:t>Time Series Cross-Validation</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 (Expanding </a:t>
            </a:r>
            <a:pPr algn="l" indent="0" marL="0">
              <a:lnSpc>
                <a:spcPts val="1300"/>
              </a:lnSpc>
              <a:buNone/>
            </a:pPr>
            <a:r>
              <a:rPr lang="en-US" sz="780" dirty="0">
                <a:solidFill>
                  <a:srgbClr val="E8EDF2">
                    <a:alpha val="80000"/>
                  </a:srgbClr>
                </a:solidFill>
                <a:latin typeface="Inter" pitchFamily="34" charset="0"/>
                <a:ea typeface="Inter" pitchFamily="34" charset="-122"/>
                <a:cs typeface="Inter" pitchFamily="34" charset="-120"/>
              </a:rPr>
              <a:t>Window) para evitar data leakage.</a:t>
            </a:r>
            <a:endParaRPr lang="en-US" sz="780" dirty="0"/>
          </a:p>
        </p:txBody>
      </p:sp>
      <p:sp>
        <p:nvSpPr>
          <p:cNvPr id="39" name="Text 32"/>
          <p:cNvSpPr/>
          <p:nvPr/>
        </p:nvSpPr>
        <p:spPr>
          <a:xfrm>
            <a:off x="6357938" y="3150394"/>
            <a:ext cx="2143125" cy="128588"/>
          </a:xfrm>
          <a:prstGeom prst="rect">
            <a:avLst/>
          </a:prstGeom>
          <a:noFill/>
          <a:ln/>
        </p:spPr>
        <p:txBody>
          <a:bodyPr wrap="none" lIns="0" tIns="0" rIns="0" bIns="0" rtlCol="0" anchor="t">
            <a:spAutoFit/>
          </a:bodyPr>
          <a:lstStyle/>
          <a:p>
            <a:pPr algn="l" indent="0" marL="0">
              <a:lnSpc>
                <a:spcPts val="1000"/>
              </a:lnSpc>
              <a:buNone/>
            </a:pPr>
            <a:pPr algn="l" indent="0" marL="0">
              <a:lnSpc>
                <a:spcPts val="1000"/>
              </a:lnSpc>
              <a:buNone/>
            </a:pPr>
            <a:r>
              <a:rPr lang="en-US" sz="621" dirty="0">
                <a:solidFill>
                  <a:srgbClr val="005A9E">
                    <a:alpha val="70000"/>
                  </a:srgbClr>
                </a:solidFill>
                <a:latin typeface="Inter" pitchFamily="34" charset="0"/>
                <a:ea typeface="Inter" pitchFamily="34" charset="-122"/>
                <a:cs typeface="Inter" pitchFamily="34" charset="-120"/>
              </a:rPr>
              <a:t>■</a:t>
            </a:r>
            <a:pPr algn="l" indent="0" marL="0">
              <a:lnSpc>
                <a:spcPts val="1000"/>
              </a:lnSpc>
              <a:buNone/>
            </a:pPr>
            <a:r>
              <a:rPr lang="en-US" sz="621" dirty="0">
                <a:solidFill>
                  <a:srgbClr val="E8EDF2">
                    <a:alpha val="56000"/>
                  </a:srgbClr>
                </a:solidFill>
                <a:latin typeface="Inter" pitchFamily="34" charset="0"/>
                <a:ea typeface="Inter" pitchFamily="34" charset="-122"/>
                <a:cs typeface="Inter" pitchFamily="34" charset="-120"/>
              </a:rPr>
              <a:t> Treino </a:t>
            </a:r>
            <a:pPr algn="l" indent="0" marL="0">
              <a:lnSpc>
                <a:spcPts val="1000"/>
              </a:lnSpc>
              <a:buNone/>
            </a:pPr>
            <a:r>
              <a:rPr lang="en-US" sz="621" dirty="0">
                <a:solidFill>
                  <a:srgbClr val="F2C94C">
                    <a:alpha val="70000"/>
                  </a:srgbClr>
                </a:solidFill>
                <a:latin typeface="Inter" pitchFamily="34" charset="0"/>
                <a:ea typeface="Inter" pitchFamily="34" charset="-122"/>
                <a:cs typeface="Inter" pitchFamily="34" charset="-120"/>
              </a:rPr>
              <a:t>■</a:t>
            </a:r>
            <a:pPr algn="l" indent="0" marL="0">
              <a:lnSpc>
                <a:spcPts val="1000"/>
              </a:lnSpc>
              <a:buNone/>
            </a:pPr>
            <a:r>
              <a:rPr lang="en-US" sz="621" dirty="0">
                <a:solidFill>
                  <a:srgbClr val="E8EDF2">
                    <a:alpha val="56000"/>
                  </a:srgbClr>
                </a:solidFill>
                <a:latin typeface="Inter" pitchFamily="34" charset="0"/>
                <a:ea typeface="Inter" pitchFamily="34" charset="-122"/>
                <a:cs typeface="Inter" pitchFamily="34" charset="-120"/>
              </a:rPr>
              <a:t> Teste</a:t>
            </a:r>
            <a:endParaRPr lang="en-US" sz="62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870895" y="1945779"/>
            <a:ext cx="3402211" cy="857250"/>
          </a:xfrm>
          <a:prstGeom prst="rect">
            <a:avLst/>
          </a:prstGeom>
          <a:noFill/>
          <a:ln/>
        </p:spPr>
        <p:txBody>
          <a:bodyPr wrap="none" lIns="0" tIns="0" rIns="0" bIns="0" rtlCol="0" anchor="t">
            <a:spAutoFit/>
          </a:bodyPr>
          <a:lstStyle/>
          <a:p>
            <a:pPr algn="ctr" indent="0" marL="0">
              <a:lnSpc>
                <a:spcPts val="6800"/>
              </a:lnSpc>
              <a:buNone/>
            </a:pPr>
            <a:r>
              <a:rPr lang="en-US" sz="6218" b="1" dirty="0">
                <a:solidFill>
                  <a:srgbClr val="F2C94C">
                    <a:alpha val="12000"/>
                  </a:srgbClr>
                </a:solidFill>
                <a:latin typeface="Montserrat" pitchFamily="34" charset="0"/>
                <a:ea typeface="Montserrat" pitchFamily="34" charset="-122"/>
                <a:cs typeface="Montserrat" pitchFamily="34" charset="-120"/>
              </a:rPr>
              <a:t>04</a:t>
            </a:r>
            <a:endParaRPr lang="en-US" sz="6218" dirty="0"/>
          </a:p>
        </p:txBody>
      </p:sp>
      <p:sp>
        <p:nvSpPr>
          <p:cNvPr id="5" name="Text 1"/>
          <p:cNvSpPr/>
          <p:nvPr/>
        </p:nvSpPr>
        <p:spPr>
          <a:xfrm>
            <a:off x="2870895" y="2660154"/>
            <a:ext cx="3402211" cy="366117"/>
          </a:xfrm>
          <a:prstGeom prst="rect">
            <a:avLst/>
          </a:prstGeom>
          <a:noFill/>
          <a:ln/>
        </p:spPr>
        <p:txBody>
          <a:bodyPr wrap="none" lIns="0" tIns="0" rIns="0" bIns="0" rtlCol="0" anchor="t">
            <a:spAutoFit/>
          </a:bodyPr>
          <a:lstStyle/>
          <a:p>
            <a:pPr algn="ctr" indent="0" marL="0">
              <a:lnSpc>
                <a:spcPts val="2800"/>
              </a:lnSpc>
              <a:buNone/>
            </a:pPr>
            <a:r>
              <a:rPr lang="en-US" sz="2121" b="1" dirty="0">
                <a:solidFill>
                  <a:srgbClr val="F2C94C"/>
                </a:solidFill>
                <a:latin typeface="Montserrat" pitchFamily="34" charset="0"/>
                <a:ea typeface="Montserrat" pitchFamily="34" charset="-122"/>
                <a:cs typeface="Montserrat" pitchFamily="34" charset="-120"/>
              </a:rPr>
              <a:t>Metodologia Proposta</a:t>
            </a:r>
            <a:endParaRPr lang="en-US" sz="212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DATASET: CARE TO COMPARE</a:t>
            </a:r>
            <a:endParaRPr lang="en-US" sz="1808" dirty="0"/>
          </a:p>
        </p:txBody>
      </p:sp>
      <p:sp>
        <p:nvSpPr>
          <p:cNvPr id="7" name="Shape 3"/>
          <p:cNvSpPr/>
          <p:nvPr/>
        </p:nvSpPr>
        <p:spPr>
          <a:xfrm>
            <a:off x="428625" y="1686818"/>
            <a:ext cx="285750" cy="285750"/>
          </a:xfrm>
          <a:prstGeom prst="rect">
            <a:avLst/>
          </a:prstGeom>
          <a:solidFill>
            <a:srgbClr val="F2C94C">
              <a:alpha val="10000"/>
            </a:srgbClr>
          </a:solidFill>
          <a:ln/>
        </p:spPr>
      </p:sp>
      <p:pic>
        <p:nvPicPr>
          <p:cNvPr id="8" name="Image 1" descr="preencoded.png">    </p:cNvPr>
          <p:cNvPicPr>
            <a:picLocks noChangeAspect="1"/>
          </p:cNvPicPr>
          <p:nvPr/>
        </p:nvPicPr>
        <p:blipFill>
          <a:blip r:embed="rId2"/>
          <a:stretch>
            <a:fillRect/>
          </a:stretch>
        </p:blipFill>
        <p:spPr>
          <a:xfrm>
            <a:off x="515243" y="1765399"/>
            <a:ext cx="112514" cy="128588"/>
          </a:xfrm>
          <a:prstGeom prst="rect">
            <a:avLst/>
          </a:prstGeom>
        </p:spPr>
      </p:pic>
      <p:sp>
        <p:nvSpPr>
          <p:cNvPr id="9" name="Text 4"/>
          <p:cNvSpPr/>
          <p:nvPr/>
        </p:nvSpPr>
        <p:spPr>
          <a:xfrm>
            <a:off x="857250" y="1686818"/>
            <a:ext cx="31432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E8EDF2">
                    <a:alpha val="60000"/>
                  </a:srgbClr>
                </a:solidFill>
                <a:latin typeface="Montserrat" pitchFamily="34" charset="0"/>
                <a:ea typeface="Montserrat" pitchFamily="34" charset="-122"/>
                <a:cs typeface="Montserrat" pitchFamily="34" charset="-120"/>
              </a:rPr>
              <a:t>FONTE</a:t>
            </a:r>
            <a:endParaRPr lang="en-US" sz="683" dirty="0"/>
          </a:p>
        </p:txBody>
      </p:sp>
      <p:sp>
        <p:nvSpPr>
          <p:cNvPr id="10" name="Text 5"/>
          <p:cNvSpPr/>
          <p:nvPr/>
        </p:nvSpPr>
        <p:spPr>
          <a:xfrm>
            <a:off x="857250" y="1836837"/>
            <a:ext cx="3143250"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Fraunhofer IEE (Gück et al., 2024)</a:t>
            </a:r>
            <a:endParaRPr lang="en-US" sz="885" dirty="0"/>
          </a:p>
        </p:txBody>
      </p:sp>
      <p:sp>
        <p:nvSpPr>
          <p:cNvPr id="11" name="Shape 6"/>
          <p:cNvSpPr/>
          <p:nvPr/>
        </p:nvSpPr>
        <p:spPr>
          <a:xfrm>
            <a:off x="428625" y="2285107"/>
            <a:ext cx="285750" cy="285750"/>
          </a:xfrm>
          <a:prstGeom prst="rect">
            <a:avLst/>
          </a:prstGeom>
          <a:solidFill>
            <a:srgbClr val="F2C94C">
              <a:alpha val="10000"/>
            </a:srgbClr>
          </a:solidFill>
          <a:ln/>
        </p:spPr>
      </p:sp>
      <p:pic>
        <p:nvPicPr>
          <p:cNvPr id="12" name="Image 2" descr="preencoded.png">    </p:cNvPr>
          <p:cNvPicPr>
            <a:picLocks noChangeAspect="1"/>
          </p:cNvPicPr>
          <p:nvPr/>
        </p:nvPicPr>
        <p:blipFill>
          <a:blip r:embed="rId3"/>
          <a:stretch>
            <a:fillRect/>
          </a:stretch>
        </p:blipFill>
        <p:spPr>
          <a:xfrm>
            <a:off x="507206" y="2363688"/>
            <a:ext cx="128588" cy="128588"/>
          </a:xfrm>
          <a:prstGeom prst="rect">
            <a:avLst/>
          </a:prstGeom>
        </p:spPr>
      </p:pic>
      <p:sp>
        <p:nvSpPr>
          <p:cNvPr id="13" name="Text 7"/>
          <p:cNvSpPr/>
          <p:nvPr/>
        </p:nvSpPr>
        <p:spPr>
          <a:xfrm>
            <a:off x="857250" y="2285107"/>
            <a:ext cx="31432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E8EDF2">
                    <a:alpha val="60000"/>
                  </a:srgbClr>
                </a:solidFill>
                <a:latin typeface="Montserrat" pitchFamily="34" charset="0"/>
                <a:ea typeface="Montserrat" pitchFamily="34" charset="-122"/>
                <a:cs typeface="Montserrat" pitchFamily="34" charset="-120"/>
              </a:rPr>
              <a:t>COMPOSIÇÃO GLOBAL</a:t>
            </a:r>
            <a:endParaRPr lang="en-US" sz="683" dirty="0"/>
          </a:p>
        </p:txBody>
      </p:sp>
      <p:sp>
        <p:nvSpPr>
          <p:cNvPr id="14" name="Text 8"/>
          <p:cNvSpPr/>
          <p:nvPr/>
        </p:nvSpPr>
        <p:spPr>
          <a:xfrm>
            <a:off x="857250" y="2435126"/>
            <a:ext cx="3143250" cy="310753"/>
          </a:xfrm>
          <a:prstGeom prst="rect">
            <a:avLst/>
          </a:prstGeom>
          <a:noFill/>
          <a:ln/>
        </p:spPr>
        <p:txBody>
          <a:bodyPr wrap="squar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95 datasets de 36 turbinas distribuídas em 3 parques eólicos (A, B, C).</a:t>
            </a:r>
            <a:endParaRPr lang="en-US" sz="885" dirty="0"/>
          </a:p>
        </p:txBody>
      </p:sp>
      <p:sp>
        <p:nvSpPr>
          <p:cNvPr id="15" name="Shape 9"/>
          <p:cNvSpPr/>
          <p:nvPr/>
        </p:nvSpPr>
        <p:spPr>
          <a:xfrm>
            <a:off x="428625" y="3038773"/>
            <a:ext cx="285750" cy="285750"/>
          </a:xfrm>
          <a:prstGeom prst="rect">
            <a:avLst/>
          </a:prstGeom>
          <a:solidFill>
            <a:srgbClr val="F2C94C">
              <a:alpha val="10000"/>
            </a:srgbClr>
          </a:solidFill>
          <a:ln/>
        </p:spPr>
      </p:sp>
      <p:pic>
        <p:nvPicPr>
          <p:cNvPr id="16" name="Image 3" descr="preencoded.png">    </p:cNvPr>
          <p:cNvPicPr>
            <a:picLocks noChangeAspect="1"/>
          </p:cNvPicPr>
          <p:nvPr/>
        </p:nvPicPr>
        <p:blipFill>
          <a:blip r:embed="rId4"/>
          <a:stretch>
            <a:fillRect/>
          </a:stretch>
        </p:blipFill>
        <p:spPr>
          <a:xfrm>
            <a:off x="507206" y="3117354"/>
            <a:ext cx="128588" cy="128588"/>
          </a:xfrm>
          <a:prstGeom prst="rect">
            <a:avLst/>
          </a:prstGeom>
        </p:spPr>
      </p:pic>
      <p:sp>
        <p:nvSpPr>
          <p:cNvPr id="17" name="Text 10"/>
          <p:cNvSpPr/>
          <p:nvPr/>
        </p:nvSpPr>
        <p:spPr>
          <a:xfrm>
            <a:off x="857250" y="3038773"/>
            <a:ext cx="31432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E8EDF2">
                    <a:alpha val="60000"/>
                  </a:srgbClr>
                </a:solidFill>
                <a:latin typeface="Montserrat" pitchFamily="34" charset="0"/>
                <a:ea typeface="Montserrat" pitchFamily="34" charset="-122"/>
                <a:cs typeface="Montserrat" pitchFamily="34" charset="-120"/>
              </a:rPr>
              <a:t>SELEÇÃO PARA ESTUDO</a:t>
            </a:r>
            <a:endParaRPr lang="en-US" sz="683" dirty="0"/>
          </a:p>
        </p:txBody>
      </p:sp>
      <p:sp>
        <p:nvSpPr>
          <p:cNvPr id="18" name="Text 11"/>
          <p:cNvSpPr/>
          <p:nvPr/>
        </p:nvSpPr>
        <p:spPr>
          <a:xfrm>
            <a:off x="857250" y="3188791"/>
            <a:ext cx="1469827"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Inter" pitchFamily="34" charset="0"/>
                <a:ea typeface="Inter" pitchFamily="34" charset="-122"/>
                <a:cs typeface="Inter" pitchFamily="34" charset="-120"/>
              </a:rPr>
              <a:t>Wind Farm C (Offshore)</a:t>
            </a:r>
            <a:endParaRPr lang="en-US" sz="885" dirty="0"/>
          </a:p>
        </p:txBody>
      </p:sp>
      <p:sp>
        <p:nvSpPr>
          <p:cNvPr id="19" name="Text 12"/>
          <p:cNvSpPr/>
          <p:nvPr/>
        </p:nvSpPr>
        <p:spPr>
          <a:xfrm>
            <a:off x="857250" y="3354884"/>
            <a:ext cx="1382316"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Turbina #44 (Arquivo:</a:t>
            </a:r>
            <a:endParaRPr lang="en-US" sz="885" dirty="0"/>
          </a:p>
        </p:txBody>
      </p:sp>
      <p:sp>
        <p:nvSpPr>
          <p:cNvPr id="20" name="Text 13"/>
          <p:cNvSpPr/>
          <p:nvPr/>
        </p:nvSpPr>
        <p:spPr>
          <a:xfrm>
            <a:off x="2239566" y="3344168"/>
            <a:ext cx="462921"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ospace" pitchFamily="34" charset="0"/>
                <a:ea typeface="monospace" pitchFamily="34" charset="-122"/>
                <a:cs typeface="monospace" pitchFamily="34" charset="-120"/>
              </a:rPr>
              <a:t>44.csv</a:t>
            </a:r>
            <a:endParaRPr lang="en-US" sz="885" dirty="0"/>
          </a:p>
        </p:txBody>
      </p:sp>
      <p:sp>
        <p:nvSpPr>
          <p:cNvPr id="21" name="Text 14"/>
          <p:cNvSpPr/>
          <p:nvPr/>
        </p:nvSpPr>
        <p:spPr>
          <a:xfrm>
            <a:off x="2702486" y="3354884"/>
            <a:ext cx="48220"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a:t>
            </a:r>
            <a:endParaRPr lang="en-US" sz="885" dirty="0"/>
          </a:p>
        </p:txBody>
      </p:sp>
      <p:sp>
        <p:nvSpPr>
          <p:cNvPr id="22" name="Shape 15"/>
          <p:cNvSpPr/>
          <p:nvPr/>
        </p:nvSpPr>
        <p:spPr>
          <a:xfrm>
            <a:off x="428625" y="3812084"/>
            <a:ext cx="285750" cy="285750"/>
          </a:xfrm>
          <a:prstGeom prst="rect">
            <a:avLst/>
          </a:prstGeom>
          <a:solidFill>
            <a:srgbClr val="F2C94C">
              <a:alpha val="10000"/>
            </a:srgbClr>
          </a:solidFill>
          <a:ln/>
        </p:spPr>
      </p:sp>
      <p:pic>
        <p:nvPicPr>
          <p:cNvPr id="23" name="Image 4" descr="preencoded.png">    </p:cNvPr>
          <p:cNvPicPr>
            <a:picLocks noChangeAspect="1"/>
          </p:cNvPicPr>
          <p:nvPr/>
        </p:nvPicPr>
        <p:blipFill>
          <a:blip r:embed="rId5"/>
          <a:stretch>
            <a:fillRect/>
          </a:stretch>
        </p:blipFill>
        <p:spPr>
          <a:xfrm>
            <a:off x="507206" y="3890665"/>
            <a:ext cx="128588" cy="128588"/>
          </a:xfrm>
          <a:prstGeom prst="rect">
            <a:avLst/>
          </a:prstGeom>
        </p:spPr>
      </p:pic>
      <p:sp>
        <p:nvSpPr>
          <p:cNvPr id="24" name="Text 16"/>
          <p:cNvSpPr/>
          <p:nvPr/>
        </p:nvSpPr>
        <p:spPr>
          <a:xfrm>
            <a:off x="857250" y="3812084"/>
            <a:ext cx="3143250" cy="121444"/>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E8EDF2">
                    <a:alpha val="60000"/>
                  </a:srgbClr>
                </a:solidFill>
                <a:latin typeface="Montserrat" pitchFamily="34" charset="0"/>
                <a:ea typeface="Montserrat" pitchFamily="34" charset="-122"/>
                <a:cs typeface="Montserrat" pitchFamily="34" charset="-120"/>
              </a:rPr>
              <a:t>RESOLUÇÃO TEMPORAL</a:t>
            </a:r>
            <a:endParaRPr lang="en-US" sz="683" dirty="0"/>
          </a:p>
        </p:txBody>
      </p:sp>
      <p:sp>
        <p:nvSpPr>
          <p:cNvPr id="25" name="Text 17"/>
          <p:cNvSpPr/>
          <p:nvPr/>
        </p:nvSpPr>
        <p:spPr>
          <a:xfrm>
            <a:off x="857250" y="3962102"/>
            <a:ext cx="3143250"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Dados SCADA com amostragem de </a:t>
            </a:r>
            <a:pPr algn="l" indent="0" marL="0">
              <a:lnSpc>
                <a:spcPts val="1200"/>
              </a:lnSpc>
              <a:buNone/>
            </a:pPr>
            <a:r>
              <a:rPr lang="en-US" sz="885" b="1" dirty="0">
                <a:solidFill>
                  <a:srgbClr val="F2C94C"/>
                </a:solidFill>
                <a:latin typeface="Inter" pitchFamily="34" charset="0"/>
                <a:ea typeface="Inter" pitchFamily="34" charset="-122"/>
                <a:cs typeface="Inter" pitchFamily="34" charset="-120"/>
              </a:rPr>
              <a:t>10 minutos</a:t>
            </a:r>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a:t>
            </a:r>
            <a:endParaRPr lang="en-US" sz="885" dirty="0"/>
          </a:p>
        </p:txBody>
      </p:sp>
      <p:sp>
        <p:nvSpPr>
          <p:cNvPr id="26" name="Shape 18"/>
          <p:cNvSpPr/>
          <p:nvPr/>
        </p:nvSpPr>
        <p:spPr>
          <a:xfrm>
            <a:off x="4429125" y="1169789"/>
            <a:ext cx="4286250" cy="3571875"/>
          </a:xfrm>
          <a:prstGeom prst="rect">
            <a:avLst/>
          </a:prstGeom>
          <a:solidFill>
            <a:srgbClr val="F2C94C">
              <a:alpha val="5000"/>
            </a:srgbClr>
          </a:solidFill>
          <a:ln w="18288">
            <a:solidFill>
              <a:srgbClr val="F2C94C">
                <a:alpha val="50000"/>
              </a:srgbClr>
            </a:solidFill>
            <a:prstDash val="dash"/>
          </a:ln>
        </p:spPr>
      </p:sp>
      <p:pic>
        <p:nvPicPr>
          <p:cNvPr id="27" name="Image 5" descr="preencoded.png">    </p:cNvPr>
          <p:cNvPicPr>
            <a:picLocks noChangeAspect="1"/>
          </p:cNvPicPr>
          <p:nvPr/>
        </p:nvPicPr>
        <p:blipFill>
          <a:blip r:embed="rId6">
            <a:alphaModFix amt="80000"/>
          </a:blip>
          <a:stretch>
            <a:fillRect/>
          </a:stretch>
        </p:blipFill>
        <p:spPr>
          <a:xfrm>
            <a:off x="6347222" y="2433340"/>
            <a:ext cx="450056" cy="400050"/>
          </a:xfrm>
          <a:prstGeom prst="rect">
            <a:avLst/>
          </a:prstGeom>
        </p:spPr>
      </p:pic>
      <p:sp>
        <p:nvSpPr>
          <p:cNvPr id="28" name="Text 19"/>
          <p:cNvSpPr/>
          <p:nvPr/>
        </p:nvSpPr>
        <p:spPr>
          <a:xfrm>
            <a:off x="5412284" y="2976265"/>
            <a:ext cx="2319933"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5.1 da Dissertação</a:t>
            </a:r>
            <a:endParaRPr lang="en-US" sz="987" dirty="0"/>
          </a:p>
        </p:txBody>
      </p:sp>
      <p:sp>
        <p:nvSpPr>
          <p:cNvPr id="29" name="Text 20"/>
          <p:cNvSpPr/>
          <p:nvPr/>
        </p:nvSpPr>
        <p:spPr>
          <a:xfrm>
            <a:off x="5086350" y="3220938"/>
            <a:ext cx="2971800"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Visão geral ou estatística descritiva do dataset selecionado</a:t>
            </a:r>
            <a:endParaRPr lang="en-US" sz="780" dirty="0"/>
          </a:p>
        </p:txBody>
      </p:sp>
      <p:sp>
        <p:nvSpPr>
          <p:cNvPr id="30" name="Text 21"/>
          <p:cNvSpPr/>
          <p:nvPr/>
        </p:nvSpPr>
        <p:spPr>
          <a:xfrm>
            <a:off x="4429125" y="4827389"/>
            <a:ext cx="428625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PIPELINE DE PRÉ-PROCESSAMENTO</a:t>
            </a:r>
            <a:endParaRPr lang="en-US" sz="1808" dirty="0"/>
          </a:p>
        </p:txBody>
      </p:sp>
      <p:sp>
        <p:nvSpPr>
          <p:cNvPr id="7" name="Shape 3"/>
          <p:cNvSpPr/>
          <p:nvPr/>
        </p:nvSpPr>
        <p:spPr>
          <a:xfrm>
            <a:off x="428625" y="1574304"/>
            <a:ext cx="357188" cy="357188"/>
          </a:xfrm>
          <a:prstGeom prst="rect">
            <a:avLst/>
          </a:prstGeom>
          <a:solidFill>
            <a:srgbClr val="002B49"/>
          </a:solidFill>
          <a:ln w="18288">
            <a:solidFill>
              <a:srgbClr val="F2C94C"/>
            </a:solidFill>
            <a:prstDash val="solid"/>
          </a:ln>
        </p:spPr>
      </p:sp>
      <p:pic>
        <p:nvPicPr>
          <p:cNvPr id="8" name="Image 1" descr="preencoded.png">    </p:cNvPr>
          <p:cNvPicPr>
            <a:picLocks noChangeAspect="1"/>
          </p:cNvPicPr>
          <p:nvPr/>
        </p:nvPicPr>
        <p:blipFill>
          <a:blip r:embed="rId2"/>
          <a:stretch>
            <a:fillRect/>
          </a:stretch>
        </p:blipFill>
        <p:spPr>
          <a:xfrm>
            <a:off x="517922" y="1681460"/>
            <a:ext cx="178594" cy="142875"/>
          </a:xfrm>
          <a:prstGeom prst="rect">
            <a:avLst/>
          </a:prstGeom>
        </p:spPr>
      </p:pic>
      <p:sp>
        <p:nvSpPr>
          <p:cNvPr id="9" name="Text 4"/>
          <p:cNvSpPr/>
          <p:nvPr/>
        </p:nvSpPr>
        <p:spPr>
          <a:xfrm>
            <a:off x="928688" y="1588591"/>
            <a:ext cx="30718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Limpeza de Dados</a:t>
            </a:r>
            <a:endParaRPr lang="en-US" sz="885" dirty="0"/>
          </a:p>
        </p:txBody>
      </p:sp>
      <p:sp>
        <p:nvSpPr>
          <p:cNvPr id="10" name="Text 5"/>
          <p:cNvSpPr/>
          <p:nvPr/>
        </p:nvSpPr>
        <p:spPr>
          <a:xfrm>
            <a:off x="928688" y="1788616"/>
            <a:ext cx="307181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Conversão de timestamps e remoção de valores nulos (NaN) para garantir integridade.</a:t>
            </a:r>
            <a:endParaRPr lang="en-US" sz="780" dirty="0"/>
          </a:p>
        </p:txBody>
      </p:sp>
      <p:sp>
        <p:nvSpPr>
          <p:cNvPr id="11" name="Shape 6"/>
          <p:cNvSpPr/>
          <p:nvPr/>
        </p:nvSpPr>
        <p:spPr>
          <a:xfrm>
            <a:off x="428625" y="2302966"/>
            <a:ext cx="357188" cy="357188"/>
          </a:xfrm>
          <a:prstGeom prst="rect">
            <a:avLst/>
          </a:prstGeom>
          <a:solidFill>
            <a:srgbClr val="002B49"/>
          </a:solidFill>
          <a:ln w="18288">
            <a:solidFill>
              <a:srgbClr val="F2C94C"/>
            </a:solidFill>
            <a:prstDash val="solid"/>
          </a:ln>
        </p:spPr>
      </p:sp>
      <p:pic>
        <p:nvPicPr>
          <p:cNvPr id="12" name="Image 2" descr="preencoded.png">    </p:cNvPr>
          <p:cNvPicPr>
            <a:picLocks noChangeAspect="1"/>
          </p:cNvPicPr>
          <p:nvPr/>
        </p:nvPicPr>
        <p:blipFill>
          <a:blip r:embed="rId3"/>
          <a:stretch>
            <a:fillRect/>
          </a:stretch>
        </p:blipFill>
        <p:spPr>
          <a:xfrm>
            <a:off x="544711" y="2410123"/>
            <a:ext cx="125016" cy="142875"/>
          </a:xfrm>
          <a:prstGeom prst="rect">
            <a:avLst/>
          </a:prstGeom>
        </p:spPr>
      </p:pic>
      <p:sp>
        <p:nvSpPr>
          <p:cNvPr id="13" name="Text 7"/>
          <p:cNvSpPr/>
          <p:nvPr/>
        </p:nvSpPr>
        <p:spPr>
          <a:xfrm>
            <a:off x="928688" y="2317254"/>
            <a:ext cx="30718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Feature Engineering</a:t>
            </a:r>
            <a:endParaRPr lang="en-US" sz="885" dirty="0"/>
          </a:p>
        </p:txBody>
      </p:sp>
      <p:sp>
        <p:nvSpPr>
          <p:cNvPr id="14" name="Text 8"/>
          <p:cNvSpPr/>
          <p:nvPr/>
        </p:nvSpPr>
        <p:spPr>
          <a:xfrm>
            <a:off x="928688" y="2517279"/>
            <a:ext cx="307181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Extração da variável </a:t>
            </a:r>
            <a:pPr algn="l" indent="0" marL="0">
              <a:lnSpc>
                <a:spcPts val="1200"/>
              </a:lnSpc>
              <a:buNone/>
            </a:pPr>
            <a:r>
              <a:rPr lang="en-US" sz="734" b="1" dirty="0">
                <a:solidFill>
                  <a:srgbClr val="E8EDF2">
                    <a:alpha val="80000"/>
                  </a:srgbClr>
                </a:solidFill>
                <a:latin typeface="Inter" pitchFamily="34" charset="0"/>
                <a:ea typeface="Inter" pitchFamily="34" charset="-122"/>
                <a:cs typeface="Inter" pitchFamily="34" charset="-120"/>
              </a:rPr>
              <a:t>Mês</a:t>
            </a:r>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 para capturar a sazonalidade </a:t>
            </a:r>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anual do vento.</a:t>
            </a:r>
            <a:endParaRPr lang="en-US" sz="780" dirty="0"/>
          </a:p>
        </p:txBody>
      </p:sp>
      <p:sp>
        <p:nvSpPr>
          <p:cNvPr id="15" name="Shape 9"/>
          <p:cNvSpPr/>
          <p:nvPr/>
        </p:nvSpPr>
        <p:spPr>
          <a:xfrm>
            <a:off x="428625" y="3031629"/>
            <a:ext cx="357188" cy="357188"/>
          </a:xfrm>
          <a:prstGeom prst="rect">
            <a:avLst/>
          </a:prstGeom>
          <a:solidFill>
            <a:srgbClr val="002B49"/>
          </a:solidFill>
          <a:ln w="18288">
            <a:solidFill>
              <a:srgbClr val="F2C94C"/>
            </a:solidFill>
            <a:prstDash val="solid"/>
          </a:ln>
        </p:spPr>
      </p:sp>
      <p:pic>
        <p:nvPicPr>
          <p:cNvPr id="16" name="Image 3" descr="preencoded.png">    </p:cNvPr>
          <p:cNvPicPr>
            <a:picLocks noChangeAspect="1"/>
          </p:cNvPicPr>
          <p:nvPr/>
        </p:nvPicPr>
        <p:blipFill>
          <a:blip r:embed="rId4"/>
          <a:stretch>
            <a:fillRect/>
          </a:stretch>
        </p:blipFill>
        <p:spPr>
          <a:xfrm>
            <a:off x="535781" y="3138785"/>
            <a:ext cx="142875" cy="142875"/>
          </a:xfrm>
          <a:prstGeom prst="rect">
            <a:avLst/>
          </a:prstGeom>
        </p:spPr>
      </p:pic>
      <p:sp>
        <p:nvSpPr>
          <p:cNvPr id="17" name="Text 10"/>
          <p:cNvSpPr/>
          <p:nvPr/>
        </p:nvSpPr>
        <p:spPr>
          <a:xfrm>
            <a:off x="928688" y="3045916"/>
            <a:ext cx="30718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Sliding Window</a:t>
            </a:r>
            <a:endParaRPr lang="en-US" sz="885" dirty="0"/>
          </a:p>
        </p:txBody>
      </p:sp>
      <p:sp>
        <p:nvSpPr>
          <p:cNvPr id="18" name="Text 11"/>
          <p:cNvSpPr/>
          <p:nvPr/>
        </p:nvSpPr>
        <p:spPr>
          <a:xfrm>
            <a:off x="928688" y="3245941"/>
            <a:ext cx="3071813" cy="150019"/>
          </a:xfrm>
          <a:prstGeom prst="rect">
            <a:avLst/>
          </a:prstGeom>
          <a:noFill/>
          <a:ln/>
        </p:spPr>
        <p:txBody>
          <a:bodyPr wrap="non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Transformação em pares supervisionados (X, y).</a:t>
            </a:r>
            <a:endParaRPr lang="en-US" sz="780" dirty="0"/>
          </a:p>
        </p:txBody>
      </p:sp>
      <p:sp>
        <p:nvSpPr>
          <p:cNvPr id="19" name="Shape 12"/>
          <p:cNvSpPr/>
          <p:nvPr/>
        </p:nvSpPr>
        <p:spPr>
          <a:xfrm>
            <a:off x="928688" y="3424535"/>
            <a:ext cx="655439" cy="141089"/>
          </a:xfrm>
          <a:prstGeom prst="rect">
            <a:avLst/>
          </a:prstGeom>
          <a:solidFill>
            <a:srgbClr val="F2C94C">
              <a:alpha val="10000"/>
            </a:srgbClr>
          </a:solidFill>
          <a:ln/>
        </p:spPr>
      </p:sp>
      <p:sp>
        <p:nvSpPr>
          <p:cNvPr id="20" name="Text 13"/>
          <p:cNvSpPr/>
          <p:nvPr/>
        </p:nvSpPr>
        <p:spPr>
          <a:xfrm>
            <a:off x="928688" y="3424535"/>
            <a:ext cx="655439" cy="141089"/>
          </a:xfrm>
          <a:prstGeom prst="rect">
            <a:avLst/>
          </a:prstGeom>
          <a:noFill/>
          <a:ln/>
        </p:spPr>
        <p:txBody>
          <a:bodyPr wrap="none" lIns="51054" tIns="17018" rIns="51054" bIns="17018" rtlCol="0" anchor="t">
            <a:spAutoFit/>
          </a:bodyPr>
          <a:lstStyle/>
          <a:p>
            <a:pPr algn="l" indent="0" marL="0">
              <a:lnSpc>
                <a:spcPts val="800"/>
              </a:lnSpc>
              <a:buNone/>
            </a:pPr>
            <a:r>
              <a:rPr lang="en-US" sz="621" dirty="0">
                <a:solidFill>
                  <a:srgbClr val="F2C94C"/>
                </a:solidFill>
                <a:latin typeface="JetBrains Mono" pitchFamily="34" charset="0"/>
                <a:ea typeface="JetBrains Mono" pitchFamily="34" charset="-122"/>
                <a:cs typeface="JetBrains Mono" pitchFamily="34" charset="-120"/>
              </a:rPr>
              <a:t>L=6 (60min)</a:t>
            </a:r>
            <a:endParaRPr lang="en-US" sz="621" dirty="0"/>
          </a:p>
        </p:txBody>
      </p:sp>
      <p:sp>
        <p:nvSpPr>
          <p:cNvPr id="21" name="Shape 14"/>
          <p:cNvSpPr/>
          <p:nvPr/>
        </p:nvSpPr>
        <p:spPr>
          <a:xfrm>
            <a:off x="1616273" y="3424535"/>
            <a:ext cx="655439" cy="141089"/>
          </a:xfrm>
          <a:prstGeom prst="rect">
            <a:avLst/>
          </a:prstGeom>
          <a:solidFill>
            <a:srgbClr val="F2C94C">
              <a:alpha val="10000"/>
            </a:srgbClr>
          </a:solidFill>
          <a:ln/>
        </p:spPr>
      </p:sp>
      <p:sp>
        <p:nvSpPr>
          <p:cNvPr id="22" name="Text 15"/>
          <p:cNvSpPr/>
          <p:nvPr/>
        </p:nvSpPr>
        <p:spPr>
          <a:xfrm>
            <a:off x="1616273" y="3424535"/>
            <a:ext cx="655439" cy="141089"/>
          </a:xfrm>
          <a:prstGeom prst="rect">
            <a:avLst/>
          </a:prstGeom>
          <a:noFill/>
          <a:ln/>
        </p:spPr>
        <p:txBody>
          <a:bodyPr wrap="none" lIns="51054" tIns="17018" rIns="51054" bIns="17018" rtlCol="0" anchor="t">
            <a:spAutoFit/>
          </a:bodyPr>
          <a:lstStyle/>
          <a:p>
            <a:pPr algn="l" indent="0" marL="0">
              <a:lnSpc>
                <a:spcPts val="800"/>
              </a:lnSpc>
              <a:buNone/>
            </a:pPr>
            <a:r>
              <a:rPr lang="en-US" sz="621" dirty="0">
                <a:solidFill>
                  <a:srgbClr val="F2C94C"/>
                </a:solidFill>
                <a:latin typeface="JetBrains Mono" pitchFamily="34" charset="0"/>
                <a:ea typeface="JetBrains Mono" pitchFamily="34" charset="-122"/>
                <a:cs typeface="JetBrains Mono" pitchFamily="34" charset="-120"/>
              </a:rPr>
              <a:t>H=3 (30min)</a:t>
            </a:r>
            <a:endParaRPr lang="en-US" sz="621" dirty="0"/>
          </a:p>
        </p:txBody>
      </p:sp>
      <p:sp>
        <p:nvSpPr>
          <p:cNvPr id="23" name="Shape 16"/>
          <p:cNvSpPr/>
          <p:nvPr/>
        </p:nvSpPr>
        <p:spPr>
          <a:xfrm>
            <a:off x="428625" y="3779937"/>
            <a:ext cx="357188" cy="357188"/>
          </a:xfrm>
          <a:prstGeom prst="rect">
            <a:avLst/>
          </a:prstGeom>
          <a:solidFill>
            <a:srgbClr val="002B49"/>
          </a:solidFill>
          <a:ln w="18288">
            <a:solidFill>
              <a:srgbClr val="F2C94C"/>
            </a:solidFill>
            <a:prstDash val="solid"/>
          </a:ln>
        </p:spPr>
      </p:sp>
      <p:pic>
        <p:nvPicPr>
          <p:cNvPr id="24" name="Image 4" descr="preencoded.png">    </p:cNvPr>
          <p:cNvPicPr>
            <a:picLocks noChangeAspect="1"/>
          </p:cNvPicPr>
          <p:nvPr/>
        </p:nvPicPr>
        <p:blipFill>
          <a:blip r:embed="rId5"/>
          <a:stretch>
            <a:fillRect/>
          </a:stretch>
        </p:blipFill>
        <p:spPr>
          <a:xfrm>
            <a:off x="535781" y="3887093"/>
            <a:ext cx="142875" cy="142875"/>
          </a:xfrm>
          <a:prstGeom prst="rect">
            <a:avLst/>
          </a:prstGeom>
        </p:spPr>
      </p:pic>
      <p:sp>
        <p:nvSpPr>
          <p:cNvPr id="25" name="Text 17"/>
          <p:cNvSpPr/>
          <p:nvPr/>
        </p:nvSpPr>
        <p:spPr>
          <a:xfrm>
            <a:off x="928688" y="3794224"/>
            <a:ext cx="307181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Partição Cronológica</a:t>
            </a:r>
            <a:endParaRPr lang="en-US" sz="885" dirty="0"/>
          </a:p>
        </p:txBody>
      </p:sp>
      <p:sp>
        <p:nvSpPr>
          <p:cNvPr id="26" name="Text 18"/>
          <p:cNvSpPr/>
          <p:nvPr/>
        </p:nvSpPr>
        <p:spPr>
          <a:xfrm>
            <a:off x="928688" y="3994249"/>
            <a:ext cx="3071813"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Divisão 80/20 respeitando a ordem temporal (sem shuffle) para evitar data leakage.</a:t>
            </a:r>
            <a:endParaRPr lang="en-US" sz="780" dirty="0"/>
          </a:p>
        </p:txBody>
      </p:sp>
      <p:sp>
        <p:nvSpPr>
          <p:cNvPr id="27" name="Shape 19"/>
          <p:cNvSpPr/>
          <p:nvPr/>
        </p:nvSpPr>
        <p:spPr>
          <a:xfrm>
            <a:off x="4429125" y="1169789"/>
            <a:ext cx="4286250" cy="3529013"/>
          </a:xfrm>
          <a:prstGeom prst="rect">
            <a:avLst/>
          </a:prstGeom>
          <a:solidFill>
            <a:srgbClr val="F2C94C">
              <a:alpha val="5000"/>
            </a:srgbClr>
          </a:solidFill>
          <a:ln w="18288">
            <a:solidFill>
              <a:srgbClr val="F2C94C">
                <a:alpha val="50000"/>
              </a:srgbClr>
            </a:solidFill>
            <a:prstDash val="dash"/>
          </a:ln>
        </p:spPr>
      </p:sp>
      <p:pic>
        <p:nvPicPr>
          <p:cNvPr id="28" name="Image 5" descr="preencoded.png">    </p:cNvPr>
          <p:cNvPicPr>
            <a:picLocks noChangeAspect="1"/>
          </p:cNvPicPr>
          <p:nvPr/>
        </p:nvPicPr>
        <p:blipFill>
          <a:blip r:embed="rId6">
            <a:alphaModFix amt="80000"/>
          </a:blip>
          <a:stretch>
            <a:fillRect/>
          </a:stretch>
        </p:blipFill>
        <p:spPr>
          <a:xfrm>
            <a:off x="6347222" y="2476202"/>
            <a:ext cx="450056" cy="400050"/>
          </a:xfrm>
          <a:prstGeom prst="rect">
            <a:avLst/>
          </a:prstGeom>
        </p:spPr>
      </p:pic>
      <p:sp>
        <p:nvSpPr>
          <p:cNvPr id="29" name="Text 20"/>
          <p:cNvSpPr/>
          <p:nvPr/>
        </p:nvSpPr>
        <p:spPr>
          <a:xfrm>
            <a:off x="5395317" y="3019127"/>
            <a:ext cx="2353866"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5.2 da Dissertação</a:t>
            </a:r>
            <a:endParaRPr lang="en-US" sz="987" dirty="0"/>
          </a:p>
        </p:txBody>
      </p:sp>
      <p:sp>
        <p:nvSpPr>
          <p:cNvPr id="30" name="Text 21"/>
          <p:cNvSpPr/>
          <p:nvPr/>
        </p:nvSpPr>
        <p:spPr>
          <a:xfrm>
            <a:off x="5104209" y="3263801"/>
            <a:ext cx="2936081" cy="128588"/>
          </a:xfrm>
          <a:prstGeom prst="rect">
            <a:avLst/>
          </a:prstGeom>
          <a:noFill/>
          <a:ln/>
        </p:spPr>
        <p:txBody>
          <a:bodyPr wrap="non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Fluxograma completo do pipeline de tratamento de dados</a:t>
            </a:r>
            <a:endParaRPr lang="en-US" sz="780" dirty="0"/>
          </a:p>
        </p:txBody>
      </p:sp>
      <p:sp>
        <p:nvSpPr>
          <p:cNvPr id="31" name="Text 22"/>
          <p:cNvSpPr/>
          <p:nvPr/>
        </p:nvSpPr>
        <p:spPr>
          <a:xfrm>
            <a:off x="4429125" y="4784527"/>
            <a:ext cx="428625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ESTRATÉGIA DE DECOMPOSIÇÃO CEEMDAN-EWT</a:t>
            </a:r>
            <a:endParaRPr lang="en-US" sz="1808" dirty="0"/>
          </a:p>
        </p:txBody>
      </p:sp>
      <p:sp>
        <p:nvSpPr>
          <p:cNvPr id="7" name="Shape 3"/>
          <p:cNvSpPr/>
          <p:nvPr/>
        </p:nvSpPr>
        <p:spPr>
          <a:xfrm>
            <a:off x="428625" y="1484114"/>
            <a:ext cx="3416554" cy="814388"/>
          </a:xfrm>
          <a:prstGeom prst="rect">
            <a:avLst/>
          </a:prstGeom>
          <a:solidFill>
            <a:srgbClr val="001D33">
              <a:alpha val="30000"/>
            </a:srgbClr>
          </a:solidFill>
          <a:ln w="9144">
            <a:solidFill>
              <a:srgbClr val="F2C94C">
                <a:alpha val="20000"/>
              </a:srgbClr>
            </a:solidFill>
            <a:prstDash val="solid"/>
          </a:ln>
        </p:spPr>
      </p:sp>
      <p:pic>
        <p:nvPicPr>
          <p:cNvPr id="8" name="Image 1" descr="preencoded.png">    </p:cNvPr>
          <p:cNvPicPr>
            <a:picLocks noChangeAspect="1"/>
          </p:cNvPicPr>
          <p:nvPr/>
        </p:nvPicPr>
        <p:blipFill>
          <a:blip r:embed="rId2"/>
          <a:stretch>
            <a:fillRect/>
          </a:stretch>
        </p:blipFill>
        <p:spPr>
          <a:xfrm>
            <a:off x="571500" y="1648420"/>
            <a:ext cx="160734" cy="128588"/>
          </a:xfrm>
          <a:prstGeom prst="rect">
            <a:avLst/>
          </a:prstGeom>
        </p:spPr>
      </p:pic>
      <p:sp>
        <p:nvSpPr>
          <p:cNvPr id="9" name="Text 4"/>
          <p:cNvSpPr/>
          <p:nvPr/>
        </p:nvSpPr>
        <p:spPr>
          <a:xfrm>
            <a:off x="803672" y="1634133"/>
            <a:ext cx="1346597"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Input: Série Original</a:t>
            </a:r>
            <a:endParaRPr lang="en-US" sz="885" dirty="0"/>
          </a:p>
        </p:txBody>
      </p:sp>
      <p:sp>
        <p:nvSpPr>
          <p:cNvPr id="10" name="Text 5"/>
          <p:cNvSpPr/>
          <p:nvPr/>
        </p:nvSpPr>
        <p:spPr>
          <a:xfrm>
            <a:off x="571500" y="1848445"/>
            <a:ext cx="313080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Série temporal de potência eólica bruta (não-estacionária e ruidosa).</a:t>
            </a:r>
            <a:endParaRPr lang="en-US" sz="780" dirty="0"/>
          </a:p>
        </p:txBody>
      </p:sp>
      <p:sp>
        <p:nvSpPr>
          <p:cNvPr id="11" name="Text 6"/>
          <p:cNvSpPr/>
          <p:nvPr/>
        </p:nvSpPr>
        <p:spPr>
          <a:xfrm>
            <a:off x="2080254" y="2348508"/>
            <a:ext cx="99008"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F2C94C"/>
                </a:solidFill>
                <a:latin typeface="Inter" pitchFamily="34" charset="0"/>
                <a:ea typeface="Inter" pitchFamily="34" charset="-122"/>
                <a:cs typeface="Inter" pitchFamily="34" charset="-120"/>
              </a:rPr>
              <a:t>▼</a:t>
            </a:r>
            <a:endParaRPr lang="en-US" sz="727" dirty="0"/>
          </a:p>
        </p:txBody>
      </p:sp>
      <p:sp>
        <p:nvSpPr>
          <p:cNvPr id="12" name="Shape 7"/>
          <p:cNvSpPr/>
          <p:nvPr/>
        </p:nvSpPr>
        <p:spPr>
          <a:xfrm>
            <a:off x="428625" y="2505670"/>
            <a:ext cx="3416554" cy="814388"/>
          </a:xfrm>
          <a:prstGeom prst="rect">
            <a:avLst/>
          </a:prstGeom>
          <a:solidFill>
            <a:srgbClr val="001D33">
              <a:alpha val="30000"/>
            </a:srgbClr>
          </a:solidFill>
          <a:ln w="9144">
            <a:solidFill>
              <a:srgbClr val="F2C94C">
                <a:alpha val="20000"/>
              </a:srgbClr>
            </a:solidFill>
            <a:prstDash val="solid"/>
          </a:ln>
        </p:spPr>
      </p:sp>
      <p:pic>
        <p:nvPicPr>
          <p:cNvPr id="13" name="Image 2" descr="preencoded.png">    </p:cNvPr>
          <p:cNvPicPr>
            <a:picLocks noChangeAspect="1"/>
          </p:cNvPicPr>
          <p:nvPr/>
        </p:nvPicPr>
        <p:blipFill>
          <a:blip r:embed="rId3"/>
          <a:stretch>
            <a:fillRect/>
          </a:stretch>
        </p:blipFill>
        <p:spPr>
          <a:xfrm>
            <a:off x="571500" y="2669977"/>
            <a:ext cx="128588" cy="128588"/>
          </a:xfrm>
          <a:prstGeom prst="rect">
            <a:avLst/>
          </a:prstGeom>
        </p:spPr>
      </p:pic>
      <p:sp>
        <p:nvSpPr>
          <p:cNvPr id="14" name="Text 8"/>
          <p:cNvSpPr/>
          <p:nvPr/>
        </p:nvSpPr>
        <p:spPr>
          <a:xfrm>
            <a:off x="771525" y="2655689"/>
            <a:ext cx="1346597"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Estágio 1: CEEMDAN</a:t>
            </a:r>
            <a:endParaRPr lang="en-US" sz="885" dirty="0"/>
          </a:p>
        </p:txBody>
      </p:sp>
      <p:sp>
        <p:nvSpPr>
          <p:cNvPr id="15" name="Text 9"/>
          <p:cNvSpPr/>
          <p:nvPr/>
        </p:nvSpPr>
        <p:spPr>
          <a:xfrm>
            <a:off x="571500" y="2870002"/>
            <a:ext cx="313080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Decomposição em IMFs. A </a:t>
            </a:r>
            <a:pPr algn="l" indent="0" marL="0">
              <a:lnSpc>
                <a:spcPts val="1200"/>
              </a:lnSpc>
              <a:buNone/>
            </a:pPr>
            <a:r>
              <a:rPr lang="en-US" sz="734" b="1" dirty="0">
                <a:solidFill>
                  <a:srgbClr val="E8EDF2">
                    <a:alpha val="80000"/>
                  </a:srgbClr>
                </a:solidFill>
                <a:latin typeface="Inter" pitchFamily="34" charset="0"/>
                <a:ea typeface="Inter" pitchFamily="34" charset="-122"/>
                <a:cs typeface="Inter" pitchFamily="34" charset="-120"/>
              </a:rPr>
              <a:t>IMF1</a:t>
            </a:r>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 captura a maior parte da </a:t>
            </a:r>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volatilidade de alta frequência.</a:t>
            </a:r>
            <a:endParaRPr lang="en-US" sz="780" dirty="0"/>
          </a:p>
        </p:txBody>
      </p:sp>
      <p:sp>
        <p:nvSpPr>
          <p:cNvPr id="16" name="Text 10"/>
          <p:cNvSpPr/>
          <p:nvPr/>
        </p:nvSpPr>
        <p:spPr>
          <a:xfrm>
            <a:off x="2080254" y="3370064"/>
            <a:ext cx="99008"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F2C94C"/>
                </a:solidFill>
                <a:latin typeface="Inter" pitchFamily="34" charset="0"/>
                <a:ea typeface="Inter" pitchFamily="34" charset="-122"/>
                <a:cs typeface="Inter" pitchFamily="34" charset="-120"/>
              </a:rPr>
              <a:t>▼</a:t>
            </a:r>
            <a:endParaRPr lang="en-US" sz="727" dirty="0"/>
          </a:p>
        </p:txBody>
      </p:sp>
      <p:sp>
        <p:nvSpPr>
          <p:cNvPr id="17" name="Shape 11"/>
          <p:cNvSpPr/>
          <p:nvPr/>
        </p:nvSpPr>
        <p:spPr>
          <a:xfrm>
            <a:off x="428625" y="3527227"/>
            <a:ext cx="3416554" cy="814388"/>
          </a:xfrm>
          <a:prstGeom prst="rect">
            <a:avLst/>
          </a:prstGeom>
          <a:solidFill>
            <a:srgbClr val="001D33">
              <a:alpha val="30000"/>
            </a:srgbClr>
          </a:solidFill>
          <a:ln w="9144">
            <a:solidFill>
              <a:srgbClr val="F2C94C">
                <a:alpha val="20000"/>
              </a:srgbClr>
            </a:solidFill>
            <a:prstDash val="solid"/>
          </a:ln>
        </p:spPr>
      </p:sp>
      <p:pic>
        <p:nvPicPr>
          <p:cNvPr id="18" name="Image 3" descr="preencoded.png">    </p:cNvPr>
          <p:cNvPicPr>
            <a:picLocks noChangeAspect="1"/>
          </p:cNvPicPr>
          <p:nvPr/>
        </p:nvPicPr>
        <p:blipFill>
          <a:blip r:embed="rId4"/>
          <a:stretch>
            <a:fillRect/>
          </a:stretch>
        </p:blipFill>
        <p:spPr>
          <a:xfrm>
            <a:off x="571500" y="3691533"/>
            <a:ext cx="128588" cy="128588"/>
          </a:xfrm>
          <a:prstGeom prst="rect">
            <a:avLst/>
          </a:prstGeom>
        </p:spPr>
      </p:pic>
      <p:sp>
        <p:nvSpPr>
          <p:cNvPr id="19" name="Text 12"/>
          <p:cNvSpPr/>
          <p:nvPr/>
        </p:nvSpPr>
        <p:spPr>
          <a:xfrm>
            <a:off x="771525" y="3677245"/>
            <a:ext cx="1530548"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Estágio 2: EWT na IMF1</a:t>
            </a:r>
            <a:endParaRPr lang="en-US" sz="885" dirty="0"/>
          </a:p>
        </p:txBody>
      </p:sp>
      <p:sp>
        <p:nvSpPr>
          <p:cNvPr id="20" name="Text 13"/>
          <p:cNvSpPr/>
          <p:nvPr/>
        </p:nvSpPr>
        <p:spPr>
          <a:xfrm>
            <a:off x="571500" y="3891558"/>
            <a:ext cx="313080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Refinamento exclusivo da IMF1 para separar ruído estocástico de padrões rápidos significativos.</a:t>
            </a:r>
            <a:endParaRPr lang="en-US" sz="780" dirty="0"/>
          </a:p>
        </p:txBody>
      </p:sp>
      <p:sp>
        <p:nvSpPr>
          <p:cNvPr id="21" name="Shape 14"/>
          <p:cNvSpPr/>
          <p:nvPr/>
        </p:nvSpPr>
        <p:spPr>
          <a:xfrm>
            <a:off x="4273804" y="1169789"/>
            <a:ext cx="4441543" cy="3500438"/>
          </a:xfrm>
          <a:prstGeom prst="rect">
            <a:avLst/>
          </a:prstGeom>
          <a:solidFill>
            <a:srgbClr val="F2C94C">
              <a:alpha val="5000"/>
            </a:srgbClr>
          </a:solidFill>
          <a:ln w="18288">
            <a:solidFill>
              <a:srgbClr val="F2C94C">
                <a:alpha val="50000"/>
              </a:srgbClr>
            </a:solidFill>
            <a:prstDash val="dash"/>
          </a:ln>
        </p:spPr>
      </p:sp>
      <p:pic>
        <p:nvPicPr>
          <p:cNvPr id="22" name="Image 4" descr="preencoded.png">    </p:cNvPr>
          <p:cNvPicPr>
            <a:picLocks noChangeAspect="1"/>
          </p:cNvPicPr>
          <p:nvPr/>
        </p:nvPicPr>
        <p:blipFill>
          <a:blip r:embed="rId5">
            <a:alphaModFix amt="80000"/>
          </a:blip>
          <a:stretch>
            <a:fillRect/>
          </a:stretch>
        </p:blipFill>
        <p:spPr>
          <a:xfrm>
            <a:off x="6269534" y="2397621"/>
            <a:ext cx="450056" cy="400050"/>
          </a:xfrm>
          <a:prstGeom prst="rect">
            <a:avLst/>
          </a:prstGeom>
        </p:spPr>
      </p:pic>
      <p:sp>
        <p:nvSpPr>
          <p:cNvPr id="23" name="Text 15"/>
          <p:cNvSpPr/>
          <p:nvPr/>
        </p:nvSpPr>
        <p:spPr>
          <a:xfrm>
            <a:off x="5317629" y="2940546"/>
            <a:ext cx="2353866"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5.3 da Dissertação</a:t>
            </a:r>
            <a:endParaRPr lang="en-US" sz="987" dirty="0"/>
          </a:p>
        </p:txBody>
      </p:sp>
      <p:sp>
        <p:nvSpPr>
          <p:cNvPr id="24" name="Text 16"/>
          <p:cNvSpPr/>
          <p:nvPr/>
        </p:nvSpPr>
        <p:spPr>
          <a:xfrm>
            <a:off x="4946545" y="3185220"/>
            <a:ext cx="3096034"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Fluxo completo da estratégia de decomposição aplicada aos dados</a:t>
            </a:r>
            <a:endParaRPr lang="en-US" sz="780" dirty="0"/>
          </a:p>
        </p:txBody>
      </p:sp>
      <p:sp>
        <p:nvSpPr>
          <p:cNvPr id="25" name="Text 17"/>
          <p:cNvSpPr/>
          <p:nvPr/>
        </p:nvSpPr>
        <p:spPr>
          <a:xfrm>
            <a:off x="4273804" y="4755952"/>
            <a:ext cx="4441543"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O FUNIL METODOLÓGICO</a:t>
            </a:r>
            <a:endParaRPr lang="en-US" sz="1808" dirty="0"/>
          </a:p>
        </p:txBody>
      </p:sp>
      <p:sp>
        <p:nvSpPr>
          <p:cNvPr id="7" name="Shape 3"/>
          <p:cNvSpPr/>
          <p:nvPr/>
        </p:nvSpPr>
        <p:spPr>
          <a:xfrm>
            <a:off x="428625" y="1782952"/>
            <a:ext cx="3571875" cy="819745"/>
          </a:xfrm>
          <a:prstGeom prst="rect">
            <a:avLst/>
          </a:prstGeom>
          <a:solidFill>
            <a:srgbClr val="F2C94C">
              <a:alpha val="10000"/>
            </a:srgbClr>
          </a:solidFill>
          <a:ln/>
        </p:spPr>
      </p:sp>
      <p:sp>
        <p:nvSpPr>
          <p:cNvPr id="8" name="Shape 4"/>
          <p:cNvSpPr/>
          <p:nvPr/>
        </p:nvSpPr>
        <p:spPr>
          <a:xfrm>
            <a:off x="428625" y="1782952"/>
            <a:ext cx="28575" cy="819745"/>
          </a:xfrm>
          <a:prstGeom prst="rect">
            <a:avLst/>
          </a:prstGeom>
          <a:solidFill>
            <a:srgbClr val="F2C94C"/>
          </a:solidFill>
          <a:ln/>
        </p:spPr>
      </p:sp>
      <p:sp>
        <p:nvSpPr>
          <p:cNvPr id="9" name="Text 5"/>
          <p:cNvSpPr/>
          <p:nvPr/>
        </p:nvSpPr>
        <p:spPr>
          <a:xfrm>
            <a:off x="571500" y="1925827"/>
            <a:ext cx="3286125" cy="342900"/>
          </a:xfrm>
          <a:prstGeom prst="rect">
            <a:avLst/>
          </a:prstGeom>
          <a:noFill/>
          <a:ln/>
        </p:spPr>
        <p:txBody>
          <a:bodyPr wrap="none" lIns="0" tIns="0" rIns="0" bIns="0" rtlCol="0" anchor="t">
            <a:spAutoFit/>
          </a:bodyPr>
          <a:lstStyle/>
          <a:p>
            <a:pPr algn="l" indent="0" marL="0">
              <a:lnSpc>
                <a:spcPts val="2700"/>
              </a:lnSpc>
              <a:buNone/>
            </a:pPr>
            <a:r>
              <a:rPr lang="en-US" sz="2436" b="1" dirty="0">
                <a:solidFill>
                  <a:srgbClr val="F2C94C"/>
                </a:solidFill>
                <a:latin typeface="Montserrat" pitchFamily="34" charset="0"/>
                <a:ea typeface="Montserrat" pitchFamily="34" charset="-122"/>
                <a:cs typeface="Montserrat" pitchFamily="34" charset="-120"/>
              </a:rPr>
              <a:t>17</a:t>
            </a:r>
            <a:endParaRPr lang="en-US" sz="2436" dirty="0"/>
          </a:p>
        </p:txBody>
      </p:sp>
      <p:sp>
        <p:nvSpPr>
          <p:cNvPr id="10" name="Text 6"/>
          <p:cNvSpPr/>
          <p:nvPr/>
        </p:nvSpPr>
        <p:spPr>
          <a:xfrm>
            <a:off x="571500" y="2304445"/>
            <a:ext cx="3286125"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Modelos Avaliados</a:t>
            </a:r>
            <a:endParaRPr lang="en-US" sz="885" dirty="0"/>
          </a:p>
        </p:txBody>
      </p:sp>
      <p:sp>
        <p:nvSpPr>
          <p:cNvPr id="11" name="Text 7"/>
          <p:cNvSpPr/>
          <p:nvPr/>
        </p:nvSpPr>
        <p:spPr>
          <a:xfrm>
            <a:off x="428625" y="2817009"/>
            <a:ext cx="3571875"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Uma progressão sistemática foi adotada para isolar a melhor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arquitetura. O objetivo não foi apenas minimizar o erro (MAPE),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mas encontrar o equilíbrio ideal entre </a:t>
            </a:r>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precisão</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a:t>
            </a:r>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custo computacional</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e </a:t>
            </a:r>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interpretabilidade</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a:t>
            </a:r>
            <a:endParaRPr lang="en-US" sz="834" dirty="0"/>
          </a:p>
        </p:txBody>
      </p:sp>
      <p:sp>
        <p:nvSpPr>
          <p:cNvPr id="12" name="Text 8"/>
          <p:cNvSpPr/>
          <p:nvPr/>
        </p:nvSpPr>
        <p:spPr>
          <a:xfrm>
            <a:off x="428625" y="3762775"/>
            <a:ext cx="3571875"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A estratégia evoluiu de modelos estatísticos simples até arquiteturas híbridas complexas, culminando no modelo proposto.</a:t>
            </a:r>
            <a:endParaRPr lang="en-US" sz="834" dirty="0"/>
          </a:p>
        </p:txBody>
      </p:sp>
      <p:sp>
        <p:nvSpPr>
          <p:cNvPr id="13" name="Shape 9"/>
          <p:cNvSpPr/>
          <p:nvPr/>
        </p:nvSpPr>
        <p:spPr>
          <a:xfrm>
            <a:off x="4429125" y="1312664"/>
            <a:ext cx="4286250" cy="508992"/>
          </a:xfrm>
          <a:prstGeom prst="rect">
            <a:avLst/>
          </a:prstGeom>
          <a:solidFill>
            <a:srgbClr val="001D33">
              <a:alpha val="40000"/>
            </a:srgbClr>
          </a:solidFill>
          <a:ln w="9144">
            <a:solidFill>
              <a:srgbClr val="E8EDF2">
                <a:alpha val="20000"/>
              </a:srgbClr>
            </a:solidFill>
            <a:prstDash val="solid"/>
          </a:ln>
        </p:spPr>
      </p:sp>
      <p:sp>
        <p:nvSpPr>
          <p:cNvPr id="14" name="Text 10"/>
          <p:cNvSpPr/>
          <p:nvPr/>
        </p:nvSpPr>
        <p:spPr>
          <a:xfrm>
            <a:off x="5724823" y="1419820"/>
            <a:ext cx="1694855"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1. Machine Learning Clássico</a:t>
            </a:r>
            <a:endParaRPr lang="en-US" sz="784" dirty="0"/>
          </a:p>
        </p:txBody>
      </p:sp>
      <p:sp>
        <p:nvSpPr>
          <p:cNvPr id="15" name="Text 11"/>
          <p:cNvSpPr/>
          <p:nvPr/>
        </p:nvSpPr>
        <p:spPr>
          <a:xfrm>
            <a:off x="5489972" y="1587698"/>
            <a:ext cx="2164556"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70000"/>
                  </a:srgbClr>
                </a:solidFill>
                <a:latin typeface="Inter" pitchFamily="34" charset="0"/>
                <a:ea typeface="Inter" pitchFamily="34" charset="-122"/>
                <a:cs typeface="Inter" pitchFamily="34" charset="-120"/>
              </a:rPr>
              <a:t>ARIMA, SVR, XGBoost, LightGBM, Random Forest</a:t>
            </a:r>
            <a:endParaRPr lang="en-US" sz="674" dirty="0"/>
          </a:p>
        </p:txBody>
      </p:sp>
      <p:pic>
        <p:nvPicPr>
          <p:cNvPr id="16" name="Image 1" descr="preencoded.png">    </p:cNvPr>
          <p:cNvPicPr>
            <a:picLocks noChangeAspect="1"/>
          </p:cNvPicPr>
          <p:nvPr/>
        </p:nvPicPr>
        <p:blipFill>
          <a:blip r:embed="rId2"/>
          <a:stretch>
            <a:fillRect/>
          </a:stretch>
        </p:blipFill>
        <p:spPr>
          <a:xfrm>
            <a:off x="6534745" y="1923455"/>
            <a:ext cx="75009" cy="100013"/>
          </a:xfrm>
          <a:prstGeom prst="rect">
            <a:avLst/>
          </a:prstGeom>
        </p:spPr>
      </p:pic>
      <p:sp>
        <p:nvSpPr>
          <p:cNvPr id="17" name="Shape 12"/>
          <p:cNvSpPr/>
          <p:nvPr/>
        </p:nvSpPr>
        <p:spPr>
          <a:xfrm>
            <a:off x="4750594" y="2143125"/>
            <a:ext cx="3643313" cy="508992"/>
          </a:xfrm>
          <a:prstGeom prst="rect">
            <a:avLst/>
          </a:prstGeom>
          <a:solidFill>
            <a:srgbClr val="001D33">
              <a:alpha val="40000"/>
            </a:srgbClr>
          </a:solidFill>
          <a:ln w="9144">
            <a:solidFill>
              <a:srgbClr val="E8EDF2">
                <a:alpha val="20000"/>
              </a:srgbClr>
            </a:solidFill>
            <a:prstDash val="solid"/>
          </a:ln>
        </p:spPr>
      </p:sp>
      <p:sp>
        <p:nvSpPr>
          <p:cNvPr id="18" name="Text 13"/>
          <p:cNvSpPr/>
          <p:nvPr/>
        </p:nvSpPr>
        <p:spPr>
          <a:xfrm>
            <a:off x="5823942" y="2250281"/>
            <a:ext cx="1496616"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2. Deep Learning (Single)</a:t>
            </a:r>
            <a:endParaRPr lang="en-US" sz="784" dirty="0"/>
          </a:p>
        </p:txBody>
      </p:sp>
      <p:sp>
        <p:nvSpPr>
          <p:cNvPr id="19" name="Text 14"/>
          <p:cNvSpPr/>
          <p:nvPr/>
        </p:nvSpPr>
        <p:spPr>
          <a:xfrm>
            <a:off x="5424785" y="2418159"/>
            <a:ext cx="2294930"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70000"/>
                  </a:srgbClr>
                </a:solidFill>
                <a:latin typeface="Inter" pitchFamily="34" charset="0"/>
                <a:ea typeface="Inter" pitchFamily="34" charset="-122"/>
                <a:cs typeface="Inter" pitchFamily="34" charset="-120"/>
              </a:rPr>
              <a:t>RNN, LSTM, GRU, Bi-LSTM, CNN, TCN, Transformer</a:t>
            </a:r>
            <a:endParaRPr lang="en-US" sz="674" dirty="0"/>
          </a:p>
        </p:txBody>
      </p:sp>
      <p:pic>
        <p:nvPicPr>
          <p:cNvPr id="20" name="Image 2" descr="preencoded.png">    </p:cNvPr>
          <p:cNvPicPr>
            <a:picLocks noChangeAspect="1"/>
          </p:cNvPicPr>
          <p:nvPr/>
        </p:nvPicPr>
        <p:blipFill>
          <a:blip r:embed="rId3"/>
          <a:stretch>
            <a:fillRect/>
          </a:stretch>
        </p:blipFill>
        <p:spPr>
          <a:xfrm>
            <a:off x="6534745" y="2753916"/>
            <a:ext cx="75009" cy="100013"/>
          </a:xfrm>
          <a:prstGeom prst="rect">
            <a:avLst/>
          </a:prstGeom>
        </p:spPr>
      </p:pic>
      <p:sp>
        <p:nvSpPr>
          <p:cNvPr id="21" name="Shape 15"/>
          <p:cNvSpPr/>
          <p:nvPr/>
        </p:nvSpPr>
        <p:spPr>
          <a:xfrm>
            <a:off x="5072063" y="2973586"/>
            <a:ext cx="3000375" cy="508992"/>
          </a:xfrm>
          <a:prstGeom prst="rect">
            <a:avLst/>
          </a:prstGeom>
          <a:solidFill>
            <a:srgbClr val="001D33">
              <a:alpha val="40000"/>
            </a:srgbClr>
          </a:solidFill>
          <a:ln w="9144">
            <a:solidFill>
              <a:srgbClr val="E8EDF2">
                <a:alpha val="20000"/>
              </a:srgbClr>
            </a:solidFill>
            <a:prstDash val="solid"/>
          </a:ln>
        </p:spPr>
      </p:sp>
      <p:sp>
        <p:nvSpPr>
          <p:cNvPr id="22" name="Text 16"/>
          <p:cNvSpPr/>
          <p:nvPr/>
        </p:nvSpPr>
        <p:spPr>
          <a:xfrm>
            <a:off x="5668566" y="3080742"/>
            <a:ext cx="1807369"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3. Híbridos "Divide &amp; Conquer"</a:t>
            </a:r>
            <a:endParaRPr lang="en-US" sz="784" dirty="0"/>
          </a:p>
        </p:txBody>
      </p:sp>
      <p:sp>
        <p:nvSpPr>
          <p:cNvPr id="23" name="Text 17"/>
          <p:cNvSpPr/>
          <p:nvPr/>
        </p:nvSpPr>
        <p:spPr>
          <a:xfrm>
            <a:off x="5399782" y="3248620"/>
            <a:ext cx="2344936"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70000"/>
                  </a:srgbClr>
                </a:solidFill>
                <a:latin typeface="Inter" pitchFamily="34" charset="0"/>
                <a:ea typeface="Inter" pitchFamily="34" charset="-122"/>
                <a:cs typeface="Inter" pitchFamily="34" charset="-120"/>
              </a:rPr>
              <a:t>CEEMDAN-EWT + [LSTM / GRU / TCN / Transformer]</a:t>
            </a:r>
            <a:endParaRPr lang="en-US" sz="674" dirty="0"/>
          </a:p>
        </p:txBody>
      </p:sp>
      <p:pic>
        <p:nvPicPr>
          <p:cNvPr id="24" name="Image 3" descr="preencoded.png">    </p:cNvPr>
          <p:cNvPicPr>
            <a:picLocks noChangeAspect="1"/>
          </p:cNvPicPr>
          <p:nvPr/>
        </p:nvPicPr>
        <p:blipFill>
          <a:blip r:embed="rId4"/>
          <a:stretch>
            <a:fillRect/>
          </a:stretch>
        </p:blipFill>
        <p:spPr>
          <a:xfrm>
            <a:off x="6534745" y="3584377"/>
            <a:ext cx="75009" cy="100013"/>
          </a:xfrm>
          <a:prstGeom prst="rect">
            <a:avLst/>
          </a:prstGeom>
        </p:spPr>
      </p:pic>
      <p:sp>
        <p:nvSpPr>
          <p:cNvPr id="25" name="Shape 18"/>
          <p:cNvSpPr/>
          <p:nvPr/>
        </p:nvSpPr>
        <p:spPr>
          <a:xfrm>
            <a:off x="5393531" y="3804047"/>
            <a:ext cx="2357438" cy="523280"/>
          </a:xfrm>
          <a:prstGeom prst="rect">
            <a:avLst/>
          </a:prstGeom>
          <a:solidFill>
            <a:srgbClr val="F2C94C">
              <a:alpha val="20000"/>
            </a:srgbClr>
          </a:solidFill>
          <a:ln w="18288">
            <a:solidFill>
              <a:srgbClr val="F2C94C"/>
            </a:solidFill>
            <a:prstDash val="solid"/>
          </a:ln>
        </p:spPr>
      </p:sp>
      <p:pic>
        <p:nvPicPr>
          <p:cNvPr id="26" name="Image 4" descr="preencoded.png">    </p:cNvPr>
          <p:cNvPicPr>
            <a:picLocks noChangeAspect="1"/>
          </p:cNvPicPr>
          <p:nvPr/>
        </p:nvPicPr>
        <p:blipFill>
          <a:blip r:embed="rId5"/>
          <a:stretch>
            <a:fillRect/>
          </a:stretch>
        </p:blipFill>
        <p:spPr>
          <a:xfrm>
            <a:off x="5970389" y="3921919"/>
            <a:ext cx="128588" cy="114300"/>
          </a:xfrm>
          <a:prstGeom prst="rect">
            <a:avLst/>
          </a:prstGeom>
        </p:spPr>
      </p:pic>
      <p:sp>
        <p:nvSpPr>
          <p:cNvPr id="27" name="Text 19"/>
          <p:cNvSpPr/>
          <p:nvPr/>
        </p:nvSpPr>
        <p:spPr>
          <a:xfrm>
            <a:off x="6156127" y="3911203"/>
            <a:ext cx="1017984"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Modelo Proposto</a:t>
            </a:r>
            <a:endParaRPr lang="en-US" sz="784" dirty="0"/>
          </a:p>
        </p:txBody>
      </p:sp>
      <p:sp>
        <p:nvSpPr>
          <p:cNvPr id="28" name="Text 20"/>
          <p:cNvSpPr/>
          <p:nvPr/>
        </p:nvSpPr>
        <p:spPr>
          <a:xfrm>
            <a:off x="5848052" y="4079081"/>
            <a:ext cx="1448395" cy="112514"/>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E8EDF2"/>
                </a:solidFill>
                <a:latin typeface="Inter" pitchFamily="34" charset="0"/>
                <a:ea typeface="Inter" pitchFamily="34" charset="-122"/>
                <a:cs typeface="Inter" pitchFamily="34" charset="-120"/>
              </a:rPr>
              <a:t>CEEMDAN-EWT-TFT Aggregator</a:t>
            </a:r>
            <a:endParaRPr lang="en-US" sz="634"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ABORDAGEM DIVIDE AND CONQUER</a:t>
            </a:r>
            <a:endParaRPr lang="en-US" sz="1808" dirty="0"/>
          </a:p>
        </p:txBody>
      </p:sp>
      <p:sp>
        <p:nvSpPr>
          <p:cNvPr id="7" name="Text 3"/>
          <p:cNvSpPr/>
          <p:nvPr/>
        </p:nvSpPr>
        <p:spPr>
          <a:xfrm>
            <a:off x="600075" y="1276778"/>
            <a:ext cx="3478337"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Estratégia de Modelagem</a:t>
            </a:r>
            <a:endParaRPr lang="en-US" sz="987" dirty="0"/>
          </a:p>
        </p:txBody>
      </p:sp>
      <p:sp>
        <p:nvSpPr>
          <p:cNvPr id="8" name="Text 4"/>
          <p:cNvSpPr/>
          <p:nvPr/>
        </p:nvSpPr>
        <p:spPr>
          <a:xfrm>
            <a:off x="600075" y="1507164"/>
            <a:ext cx="3478337"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Trata cada componente de frequência (IMF) como um problema de previsão independente e mais simples.</a:t>
            </a:r>
            <a:endParaRPr lang="en-US" sz="834" dirty="0"/>
          </a:p>
        </p:txBody>
      </p:sp>
      <p:sp>
        <p:nvSpPr>
          <p:cNvPr id="9" name="Shape 5"/>
          <p:cNvSpPr/>
          <p:nvPr/>
        </p:nvSpPr>
        <p:spPr>
          <a:xfrm>
            <a:off x="428625" y="2035801"/>
            <a:ext cx="3649787" cy="433983"/>
          </a:xfrm>
          <a:prstGeom prst="rect">
            <a:avLst/>
          </a:prstGeom>
          <a:solidFill>
            <a:srgbClr val="001D33">
              <a:alpha val="30000"/>
            </a:srgbClr>
          </a:solidFill>
          <a:ln w="9144">
            <a:solidFill>
              <a:srgbClr val="F2C94C">
                <a:alpha val="20000"/>
              </a:srgbClr>
            </a:solidFill>
            <a:prstDash val="solid"/>
          </a:ln>
        </p:spPr>
      </p:sp>
      <p:pic>
        <p:nvPicPr>
          <p:cNvPr id="10" name="Image 1" descr="preencoded.png">    </p:cNvPr>
          <p:cNvPicPr>
            <a:picLocks noChangeAspect="1"/>
          </p:cNvPicPr>
          <p:nvPr/>
        </p:nvPicPr>
        <p:blipFill>
          <a:blip r:embed="rId2"/>
          <a:stretch>
            <a:fillRect/>
          </a:stretch>
        </p:blipFill>
        <p:spPr>
          <a:xfrm>
            <a:off x="512536" y="2187606"/>
            <a:ext cx="144661" cy="128588"/>
          </a:xfrm>
          <a:prstGeom prst="rect">
            <a:avLst/>
          </a:prstGeom>
        </p:spPr>
      </p:pic>
      <p:sp>
        <p:nvSpPr>
          <p:cNvPr id="11" name="Text 6"/>
          <p:cNvSpPr/>
          <p:nvPr/>
        </p:nvSpPr>
        <p:spPr>
          <a:xfrm>
            <a:off x="755424" y="2114383"/>
            <a:ext cx="2321719" cy="128588"/>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1. Treinar um modelo dedicado para cada IMF</a:t>
            </a:r>
            <a:endParaRPr lang="en-US" sz="780" dirty="0"/>
          </a:p>
        </p:txBody>
      </p:sp>
      <p:sp>
        <p:nvSpPr>
          <p:cNvPr id="12" name="Text 7"/>
          <p:cNvSpPr/>
          <p:nvPr/>
        </p:nvSpPr>
        <p:spPr>
          <a:xfrm>
            <a:off x="3077142" y="2155459"/>
            <a:ext cx="48220" cy="107156"/>
          </a:xfrm>
          <a:prstGeom prst="rect">
            <a:avLst/>
          </a:prstGeom>
          <a:noFill/>
          <a:ln/>
        </p:spPr>
        <p:txBody>
          <a:bodyPr wrap="none" lIns="0" tIns="0" rIns="0" bIns="0" rtlCol="0" anchor="t">
            <a:spAutoFit/>
          </a:bodyPr>
          <a:lstStyle/>
          <a:p>
            <a:pPr algn="l" indent="0" marL="0">
              <a:lnSpc>
                <a:spcPts val="800"/>
              </a:lnSpc>
              <a:buNone/>
            </a:pPr>
            <a:r>
              <a:rPr lang="en-US" sz="647" baseline="-40000" dirty="0">
                <a:solidFill>
                  <a:srgbClr val="E8EDF2"/>
                </a:solidFill>
                <a:latin typeface="Inter" pitchFamily="34" charset="0"/>
                <a:ea typeface="Inter" pitchFamily="34" charset="-122"/>
                <a:cs typeface="Inter" pitchFamily="34" charset="-120"/>
              </a:rPr>
              <a:t>k</a:t>
            </a:r>
            <a:endParaRPr lang="en-US" sz="647" dirty="0"/>
          </a:p>
        </p:txBody>
      </p:sp>
      <p:sp>
        <p:nvSpPr>
          <p:cNvPr id="13" name="Text 8"/>
          <p:cNvSpPr/>
          <p:nvPr/>
        </p:nvSpPr>
        <p:spPr>
          <a:xfrm>
            <a:off x="3125363" y="2114383"/>
            <a:ext cx="448270" cy="128588"/>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e para o</a:t>
            </a:r>
            <a:endParaRPr lang="en-US" sz="780" dirty="0"/>
          </a:p>
        </p:txBody>
      </p:sp>
      <p:sp>
        <p:nvSpPr>
          <p:cNvPr id="14" name="Text 9"/>
          <p:cNvSpPr/>
          <p:nvPr/>
        </p:nvSpPr>
        <p:spPr>
          <a:xfrm>
            <a:off x="755424" y="2262615"/>
            <a:ext cx="437555" cy="128588"/>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Resíduo.</a:t>
            </a:r>
            <a:endParaRPr lang="en-US" sz="780" dirty="0"/>
          </a:p>
        </p:txBody>
      </p:sp>
      <p:sp>
        <p:nvSpPr>
          <p:cNvPr id="15" name="Shape 10"/>
          <p:cNvSpPr/>
          <p:nvPr/>
        </p:nvSpPr>
        <p:spPr>
          <a:xfrm>
            <a:off x="428625" y="2534078"/>
            <a:ext cx="3649787" cy="312539"/>
          </a:xfrm>
          <a:prstGeom prst="rect">
            <a:avLst/>
          </a:prstGeom>
          <a:solidFill>
            <a:srgbClr val="001D33">
              <a:alpha val="30000"/>
            </a:srgbClr>
          </a:solidFill>
          <a:ln w="9144">
            <a:solidFill>
              <a:srgbClr val="F2C94C">
                <a:alpha val="20000"/>
              </a:srgbClr>
            </a:solidFill>
            <a:prstDash val="solid"/>
          </a:ln>
        </p:spPr>
      </p:sp>
      <p:pic>
        <p:nvPicPr>
          <p:cNvPr id="16" name="Image 2" descr="preencoded.png">    </p:cNvPr>
          <p:cNvPicPr>
            <a:picLocks noChangeAspect="1"/>
          </p:cNvPicPr>
          <p:nvPr/>
        </p:nvPicPr>
        <p:blipFill>
          <a:blip r:embed="rId3"/>
          <a:stretch>
            <a:fillRect/>
          </a:stretch>
        </p:blipFill>
        <p:spPr>
          <a:xfrm>
            <a:off x="521494" y="2625161"/>
            <a:ext cx="128588" cy="128588"/>
          </a:xfrm>
          <a:prstGeom prst="rect">
            <a:avLst/>
          </a:prstGeom>
        </p:spPr>
      </p:pic>
      <p:sp>
        <p:nvSpPr>
          <p:cNvPr id="17" name="Text 11"/>
          <p:cNvSpPr/>
          <p:nvPr/>
        </p:nvSpPr>
        <p:spPr>
          <a:xfrm>
            <a:off x="757238" y="2626054"/>
            <a:ext cx="3141464" cy="128588"/>
          </a:xfrm>
          <a:prstGeom prst="rect">
            <a:avLst/>
          </a:prstGeom>
          <a:noFill/>
          <a:ln/>
        </p:spPr>
        <p:txBody>
          <a:bodyPr wrap="none" lIns="0" tIns="0" rIns="0" bIns="0" rtlCol="0" anchor="t">
            <a:spAutoFit/>
          </a:bodyPr>
          <a:lstStyle/>
          <a:p>
            <a:pPr algn="l" indent="0" marL="0">
              <a:lnSpc>
                <a:spcPts val="1000"/>
              </a:lnSpc>
              <a:buNone/>
            </a:pPr>
            <a:r>
              <a:rPr lang="en-US" sz="780" dirty="0">
                <a:solidFill>
                  <a:srgbClr val="E8EDF2"/>
                </a:solidFill>
                <a:latin typeface="Inter" pitchFamily="34" charset="0"/>
                <a:ea typeface="Inter" pitchFamily="34" charset="-122"/>
                <a:cs typeface="Inter" pitchFamily="34" charset="-120"/>
              </a:rPr>
              <a:t>2. Somar as previsões individuais para obter o resultado final.</a:t>
            </a:r>
            <a:endParaRPr lang="en-US" sz="780" dirty="0"/>
          </a:p>
        </p:txBody>
      </p:sp>
      <p:sp>
        <p:nvSpPr>
          <p:cNvPr id="18" name="Shape 12"/>
          <p:cNvSpPr/>
          <p:nvPr/>
        </p:nvSpPr>
        <p:spPr>
          <a:xfrm>
            <a:off x="428625" y="3025211"/>
            <a:ext cx="3649787" cy="323590"/>
          </a:xfrm>
          <a:prstGeom prst="rect">
            <a:avLst/>
          </a:prstGeom>
          <a:solidFill>
            <a:srgbClr val="F2C94C">
              <a:alpha val="10000"/>
            </a:srgbClr>
          </a:solidFill>
          <a:ln/>
        </p:spPr>
      </p:sp>
      <p:sp>
        <p:nvSpPr>
          <p:cNvPr id="19" name="Text 13"/>
          <p:cNvSpPr/>
          <p:nvPr/>
        </p:nvSpPr>
        <p:spPr>
          <a:xfrm>
            <a:off x="1621631" y="3114508"/>
            <a:ext cx="607219" cy="132159"/>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ŷ(t) = Σ ŷ</a:t>
            </a:r>
            <a:endParaRPr lang="en-US" sz="727" dirty="0"/>
          </a:p>
        </p:txBody>
      </p:sp>
      <p:sp>
        <p:nvSpPr>
          <p:cNvPr id="20" name="Text 14"/>
          <p:cNvSpPr/>
          <p:nvPr/>
        </p:nvSpPr>
        <p:spPr>
          <a:xfrm>
            <a:off x="2228850" y="3152347"/>
            <a:ext cx="50006" cy="110728"/>
          </a:xfrm>
          <a:prstGeom prst="rect">
            <a:avLst/>
          </a:prstGeom>
          <a:noFill/>
          <a:ln/>
        </p:spPr>
        <p:txBody>
          <a:bodyPr wrap="none" lIns="0" tIns="0" rIns="0" bIns="0" rtlCol="0" anchor="t">
            <a:spAutoFit/>
          </a:bodyPr>
          <a:lstStyle/>
          <a:p>
            <a:pPr algn="ctr" indent="0" marL="0">
              <a:lnSpc>
                <a:spcPts val="800"/>
              </a:lnSpc>
              <a:buNone/>
            </a:pPr>
            <a:r>
              <a:rPr lang="en-US" sz="604" baseline="-40000" dirty="0">
                <a:solidFill>
                  <a:srgbClr val="FFFFFF"/>
                </a:solidFill>
                <a:latin typeface="JetBrains Mono" pitchFamily="34" charset="0"/>
                <a:ea typeface="JetBrains Mono" pitchFamily="34" charset="-122"/>
                <a:cs typeface="JetBrains Mono" pitchFamily="34" charset="-120"/>
              </a:rPr>
              <a:t>k</a:t>
            </a:r>
            <a:endParaRPr lang="en-US" sz="604" dirty="0"/>
          </a:p>
        </p:txBody>
      </p:sp>
      <p:sp>
        <p:nvSpPr>
          <p:cNvPr id="21" name="Text 15"/>
          <p:cNvSpPr/>
          <p:nvPr/>
        </p:nvSpPr>
        <p:spPr>
          <a:xfrm>
            <a:off x="2278856" y="3114508"/>
            <a:ext cx="606521" cy="132159"/>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(t) + ȓ(t)</a:t>
            </a:r>
            <a:endParaRPr lang="en-US" sz="727" dirty="0"/>
          </a:p>
        </p:txBody>
      </p:sp>
      <p:pic>
        <p:nvPicPr>
          <p:cNvPr id="22" name="Image 3" descr="preencoded.png">    </p:cNvPr>
          <p:cNvPicPr>
            <a:picLocks noChangeAspect="1"/>
          </p:cNvPicPr>
          <p:nvPr/>
        </p:nvPicPr>
        <p:blipFill>
          <a:blip r:embed="rId4"/>
          <a:stretch>
            <a:fillRect/>
          </a:stretch>
        </p:blipFill>
        <p:spPr>
          <a:xfrm>
            <a:off x="428625" y="3638122"/>
            <a:ext cx="107156" cy="107156"/>
          </a:xfrm>
          <a:prstGeom prst="rect">
            <a:avLst/>
          </a:prstGeom>
        </p:spPr>
      </p:pic>
      <p:sp>
        <p:nvSpPr>
          <p:cNvPr id="23" name="Text 16"/>
          <p:cNvSpPr/>
          <p:nvPr/>
        </p:nvSpPr>
        <p:spPr>
          <a:xfrm>
            <a:off x="621506" y="3563113"/>
            <a:ext cx="3456905" cy="257175"/>
          </a:xfrm>
          <a:prstGeom prst="rect">
            <a:avLst/>
          </a:prstGeom>
          <a:noFill/>
          <a:ln/>
        </p:spPr>
        <p:txBody>
          <a:bodyPr wrap="square" lIns="0" tIns="0" rIns="0" bIns="0" rtlCol="0" anchor="t">
            <a:spAutoFit/>
          </a:bodyPr>
          <a:lstStyle/>
          <a:p>
            <a:pPr algn="l" indent="0" marL="0">
              <a:lnSpc>
                <a:spcPts val="1000"/>
              </a:lnSpc>
              <a:buNone/>
            </a:pPr>
            <a:r>
              <a:rPr lang="en-US" sz="734" b="1" dirty="0">
                <a:solidFill>
                  <a:srgbClr val="FF6B6B"/>
                </a:solidFill>
                <a:latin typeface="Inter" pitchFamily="34" charset="0"/>
                <a:ea typeface="Inter" pitchFamily="34" charset="-122"/>
                <a:cs typeface="Inter" pitchFamily="34" charset="-120"/>
              </a:rPr>
              <a:t>Custo Computacional: Requer K+1 modelos (neste estudo: 13 modelos).</a:t>
            </a:r>
            <a:endParaRPr lang="en-US" sz="734" dirty="0"/>
          </a:p>
        </p:txBody>
      </p:sp>
      <p:sp>
        <p:nvSpPr>
          <p:cNvPr id="24" name="Shape 17"/>
          <p:cNvSpPr/>
          <p:nvPr/>
        </p:nvSpPr>
        <p:spPr>
          <a:xfrm>
            <a:off x="4335587" y="1055489"/>
            <a:ext cx="4379788" cy="3000375"/>
          </a:xfrm>
          <a:prstGeom prst="rect">
            <a:avLst/>
          </a:prstGeom>
          <a:solidFill>
            <a:srgbClr val="F2C94C">
              <a:alpha val="5000"/>
            </a:srgbClr>
          </a:solidFill>
          <a:ln w="18288">
            <a:solidFill>
              <a:srgbClr val="F2C94C">
                <a:alpha val="50000"/>
              </a:srgbClr>
            </a:solidFill>
            <a:prstDash val="dash"/>
          </a:ln>
        </p:spPr>
      </p:sp>
      <p:pic>
        <p:nvPicPr>
          <p:cNvPr id="25" name="Image 4" descr="preencoded.png">    </p:cNvPr>
          <p:cNvPicPr>
            <a:picLocks noChangeAspect="1"/>
          </p:cNvPicPr>
          <p:nvPr/>
        </p:nvPicPr>
        <p:blipFill>
          <a:blip r:embed="rId5">
            <a:alphaModFix amt="80000"/>
          </a:blip>
          <a:stretch>
            <a:fillRect/>
          </a:stretch>
        </p:blipFill>
        <p:spPr>
          <a:xfrm>
            <a:off x="6300453" y="2119015"/>
            <a:ext cx="450056" cy="400050"/>
          </a:xfrm>
          <a:prstGeom prst="rect">
            <a:avLst/>
          </a:prstGeom>
        </p:spPr>
      </p:pic>
      <p:sp>
        <p:nvSpPr>
          <p:cNvPr id="26" name="Text 18"/>
          <p:cNvSpPr/>
          <p:nvPr/>
        </p:nvSpPr>
        <p:spPr>
          <a:xfrm>
            <a:off x="5343190" y="2633365"/>
            <a:ext cx="2364581"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5.4 da Dissertação</a:t>
            </a:r>
            <a:endParaRPr lang="en-US" sz="987" dirty="0"/>
          </a:p>
        </p:txBody>
      </p:sp>
      <p:sp>
        <p:nvSpPr>
          <p:cNvPr id="27" name="Text 19"/>
          <p:cNvSpPr/>
          <p:nvPr/>
        </p:nvSpPr>
        <p:spPr>
          <a:xfrm>
            <a:off x="5072621" y="2863751"/>
            <a:ext cx="2905720" cy="128588"/>
          </a:xfrm>
          <a:prstGeom prst="rect">
            <a:avLst/>
          </a:prstGeom>
          <a:noFill/>
          <a:ln/>
        </p:spPr>
        <p:txBody>
          <a:bodyPr wrap="non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Fluxograma detalhando a arquitetura Divide and Conquer</a:t>
            </a:r>
            <a:endParaRPr lang="en-US" sz="780" dirty="0"/>
          </a:p>
        </p:txBody>
      </p:sp>
      <p:sp>
        <p:nvSpPr>
          <p:cNvPr id="28" name="Text 20"/>
          <p:cNvSpPr/>
          <p:nvPr/>
        </p:nvSpPr>
        <p:spPr>
          <a:xfrm>
            <a:off x="4335587" y="4141589"/>
            <a:ext cx="4379788"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MODELO PROPOSTO: TFT AGGREGATOR</a:t>
            </a:r>
            <a:endParaRPr lang="en-US" sz="1808" dirty="0"/>
          </a:p>
        </p:txBody>
      </p:sp>
      <p:sp>
        <p:nvSpPr>
          <p:cNvPr id="7" name="Shape 3"/>
          <p:cNvSpPr/>
          <p:nvPr/>
        </p:nvSpPr>
        <p:spPr>
          <a:xfrm>
            <a:off x="428625" y="1520726"/>
            <a:ext cx="3571875" cy="873323"/>
          </a:xfrm>
          <a:prstGeom prst="rect">
            <a:avLst/>
          </a:prstGeom>
          <a:solidFill>
            <a:srgbClr val="F2C94C">
              <a:alpha val="10000"/>
            </a:srgbClr>
          </a:solidFill>
          <a:ln/>
        </p:spPr>
      </p:sp>
      <p:sp>
        <p:nvSpPr>
          <p:cNvPr id="8" name="Shape 4"/>
          <p:cNvSpPr/>
          <p:nvPr/>
        </p:nvSpPr>
        <p:spPr>
          <a:xfrm>
            <a:off x="428625" y="1520726"/>
            <a:ext cx="28575" cy="873323"/>
          </a:xfrm>
          <a:prstGeom prst="rect">
            <a:avLst/>
          </a:prstGeom>
          <a:solidFill>
            <a:srgbClr val="F2C94C"/>
          </a:solidFill>
          <a:ln/>
        </p:spPr>
      </p:sp>
      <p:pic>
        <p:nvPicPr>
          <p:cNvPr id="9" name="Image 1" descr="preencoded.png">    </p:cNvPr>
          <p:cNvPicPr>
            <a:picLocks noChangeAspect="1"/>
          </p:cNvPicPr>
          <p:nvPr/>
        </p:nvPicPr>
        <p:blipFill>
          <a:blip r:embed="rId2"/>
          <a:stretch>
            <a:fillRect/>
          </a:stretch>
        </p:blipFill>
        <p:spPr>
          <a:xfrm>
            <a:off x="571500" y="1678781"/>
            <a:ext cx="107156" cy="142875"/>
          </a:xfrm>
          <a:prstGeom prst="rect">
            <a:avLst/>
          </a:prstGeom>
        </p:spPr>
      </p:pic>
      <p:sp>
        <p:nvSpPr>
          <p:cNvPr id="10" name="Text 5"/>
          <p:cNvSpPr/>
          <p:nvPr/>
        </p:nvSpPr>
        <p:spPr>
          <a:xfrm>
            <a:off x="750094" y="1663601"/>
            <a:ext cx="1771650"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Mudança de Paradigma</a:t>
            </a:r>
            <a:endParaRPr lang="en-US" sz="987" dirty="0"/>
          </a:p>
        </p:txBody>
      </p:sp>
      <p:sp>
        <p:nvSpPr>
          <p:cNvPr id="11" name="Text 6"/>
          <p:cNvSpPr/>
          <p:nvPr/>
        </p:nvSpPr>
        <p:spPr>
          <a:xfrm>
            <a:off x="571500" y="1908274"/>
            <a:ext cx="3286125"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Em vez de prever cada IMF separadamente, reformulamos a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decomposição como </a:t>
            </a:r>
            <a:pPr algn="l"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Feature Engineering</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a:t>
            </a:r>
            <a:endParaRPr lang="en-US" sz="834" dirty="0"/>
          </a:p>
        </p:txBody>
      </p:sp>
      <p:pic>
        <p:nvPicPr>
          <p:cNvPr id="12" name="Image 2" descr="preencoded.png">    </p:cNvPr>
          <p:cNvPicPr>
            <a:picLocks noChangeAspect="1"/>
          </p:cNvPicPr>
          <p:nvPr/>
        </p:nvPicPr>
        <p:blipFill>
          <a:blip r:embed="rId3"/>
          <a:stretch>
            <a:fillRect/>
          </a:stretch>
        </p:blipFill>
        <p:spPr>
          <a:xfrm>
            <a:off x="428625" y="2708374"/>
            <a:ext cx="142875" cy="142875"/>
          </a:xfrm>
          <a:prstGeom prst="rect">
            <a:avLst/>
          </a:prstGeom>
        </p:spPr>
      </p:pic>
      <p:sp>
        <p:nvSpPr>
          <p:cNvPr id="13" name="Text 7"/>
          <p:cNvSpPr/>
          <p:nvPr/>
        </p:nvSpPr>
        <p:spPr>
          <a:xfrm>
            <a:off x="678656" y="2679799"/>
            <a:ext cx="3321844" cy="146447"/>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E8EDF2"/>
                </a:solidFill>
                <a:latin typeface="Inter" pitchFamily="34" charset="0"/>
                <a:ea typeface="Inter" pitchFamily="34" charset="-122"/>
                <a:cs typeface="Inter" pitchFamily="34" charset="-120"/>
              </a:rPr>
              <a:t>Input Multivariado</a:t>
            </a:r>
            <a:endParaRPr lang="en-US" sz="834" dirty="0"/>
          </a:p>
        </p:txBody>
      </p:sp>
      <p:sp>
        <p:nvSpPr>
          <p:cNvPr id="14" name="Text 8"/>
          <p:cNvSpPr/>
          <p:nvPr/>
        </p:nvSpPr>
        <p:spPr>
          <a:xfrm>
            <a:off x="678656" y="2854821"/>
            <a:ext cx="332184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As IMFs (passado) entram como variáveis exógenas dinâmicas </a:t>
            </a:r>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em um </a:t>
            </a:r>
            <a:pPr algn="l" indent="0" marL="0">
              <a:lnSpc>
                <a:spcPts val="1200"/>
              </a:lnSpc>
              <a:buNone/>
            </a:pPr>
            <a:r>
              <a:rPr lang="en-US" sz="734" b="1" dirty="0">
                <a:solidFill>
                  <a:srgbClr val="E8EDF2">
                    <a:alpha val="70000"/>
                  </a:srgbClr>
                </a:solidFill>
                <a:latin typeface="Inter" pitchFamily="34" charset="0"/>
                <a:ea typeface="Inter" pitchFamily="34" charset="-122"/>
                <a:cs typeface="Inter" pitchFamily="34" charset="-120"/>
              </a:rPr>
              <a:t>único modelo TFT</a:t>
            </a:r>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a:t>
            </a:r>
            <a:endParaRPr lang="en-US" sz="780" dirty="0"/>
          </a:p>
        </p:txBody>
      </p:sp>
      <p:pic>
        <p:nvPicPr>
          <p:cNvPr id="15" name="Image 3" descr="preencoded.png">    </p:cNvPr>
          <p:cNvPicPr>
            <a:picLocks noChangeAspect="1"/>
          </p:cNvPicPr>
          <p:nvPr/>
        </p:nvPicPr>
        <p:blipFill>
          <a:blip r:embed="rId4"/>
          <a:stretch>
            <a:fillRect/>
          </a:stretch>
        </p:blipFill>
        <p:spPr>
          <a:xfrm>
            <a:off x="428625" y="3326309"/>
            <a:ext cx="142875" cy="142875"/>
          </a:xfrm>
          <a:prstGeom prst="rect">
            <a:avLst/>
          </a:prstGeom>
        </p:spPr>
      </p:pic>
      <p:sp>
        <p:nvSpPr>
          <p:cNvPr id="16" name="Text 9"/>
          <p:cNvSpPr/>
          <p:nvPr/>
        </p:nvSpPr>
        <p:spPr>
          <a:xfrm>
            <a:off x="678656" y="3297734"/>
            <a:ext cx="3321844" cy="146447"/>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E8EDF2"/>
                </a:solidFill>
                <a:latin typeface="Inter" pitchFamily="34" charset="0"/>
                <a:ea typeface="Inter" pitchFamily="34" charset="-122"/>
                <a:cs typeface="Inter" pitchFamily="34" charset="-120"/>
              </a:rPr>
              <a:t>Single Forward Pass</a:t>
            </a:r>
            <a:endParaRPr lang="en-US" sz="834" dirty="0"/>
          </a:p>
        </p:txBody>
      </p:sp>
      <p:sp>
        <p:nvSpPr>
          <p:cNvPr id="17" name="Text 10"/>
          <p:cNvSpPr/>
          <p:nvPr/>
        </p:nvSpPr>
        <p:spPr>
          <a:xfrm>
            <a:off x="678656" y="3472755"/>
            <a:ext cx="332184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O modelo aprende as correlações entre as frequências internamente e gera a previsão final em uma única inferência.</a:t>
            </a:r>
            <a:endParaRPr lang="en-US" sz="780" dirty="0"/>
          </a:p>
        </p:txBody>
      </p:sp>
      <p:pic>
        <p:nvPicPr>
          <p:cNvPr id="18" name="Image 4" descr="preencoded.png">    </p:cNvPr>
          <p:cNvPicPr>
            <a:picLocks noChangeAspect="1"/>
          </p:cNvPicPr>
          <p:nvPr/>
        </p:nvPicPr>
        <p:blipFill>
          <a:blip r:embed="rId5"/>
          <a:stretch>
            <a:fillRect/>
          </a:stretch>
        </p:blipFill>
        <p:spPr>
          <a:xfrm>
            <a:off x="428625" y="3944243"/>
            <a:ext cx="142875" cy="142875"/>
          </a:xfrm>
          <a:prstGeom prst="rect">
            <a:avLst/>
          </a:prstGeom>
        </p:spPr>
      </p:pic>
      <p:sp>
        <p:nvSpPr>
          <p:cNvPr id="19" name="Text 11"/>
          <p:cNvSpPr/>
          <p:nvPr/>
        </p:nvSpPr>
        <p:spPr>
          <a:xfrm>
            <a:off x="678656" y="3915668"/>
            <a:ext cx="3321844" cy="146447"/>
          </a:xfrm>
          <a:prstGeom prst="rect">
            <a:avLst/>
          </a:prstGeom>
          <a:noFill/>
          <a:ln/>
        </p:spPr>
        <p:txBody>
          <a:bodyPr wrap="none" lIns="0" tIns="0" rIns="0" bIns="0" rtlCol="0" anchor="t">
            <a:spAutoFit/>
          </a:bodyPr>
          <a:lstStyle/>
          <a:p>
            <a:pPr algn="l" indent="0" marL="0">
              <a:lnSpc>
                <a:spcPts val="1100"/>
              </a:lnSpc>
              <a:buNone/>
            </a:pPr>
            <a:r>
              <a:rPr lang="en-US" sz="834" b="1" dirty="0">
                <a:solidFill>
                  <a:srgbClr val="E8EDF2"/>
                </a:solidFill>
                <a:latin typeface="Inter" pitchFamily="34" charset="0"/>
                <a:ea typeface="Inter" pitchFamily="34" charset="-122"/>
                <a:cs typeface="Inter" pitchFamily="34" charset="-120"/>
              </a:rPr>
              <a:t>Saída Probabilística</a:t>
            </a:r>
            <a:endParaRPr lang="en-US" sz="834" dirty="0"/>
          </a:p>
        </p:txBody>
      </p:sp>
      <p:sp>
        <p:nvSpPr>
          <p:cNvPr id="20" name="Text 12"/>
          <p:cNvSpPr/>
          <p:nvPr/>
        </p:nvSpPr>
        <p:spPr>
          <a:xfrm>
            <a:off x="678656" y="4090690"/>
            <a:ext cx="332184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70000"/>
                  </a:srgbClr>
                </a:solidFill>
                <a:latin typeface="Inter" pitchFamily="34" charset="0"/>
                <a:ea typeface="Inter" pitchFamily="34" charset="-122"/>
                <a:cs typeface="Inter" pitchFamily="34" charset="-120"/>
              </a:rPr>
              <a:t>Gera nativamente os quantis P10, P50 e P90, essenciais para a análise de risco.</a:t>
            </a:r>
            <a:endParaRPr lang="en-US" sz="780" dirty="0"/>
          </a:p>
        </p:txBody>
      </p:sp>
      <p:sp>
        <p:nvSpPr>
          <p:cNvPr id="21" name="Shape 13"/>
          <p:cNvSpPr/>
          <p:nvPr/>
        </p:nvSpPr>
        <p:spPr>
          <a:xfrm>
            <a:off x="4429125" y="1169789"/>
            <a:ext cx="4286250" cy="3571875"/>
          </a:xfrm>
          <a:prstGeom prst="rect">
            <a:avLst/>
          </a:prstGeom>
          <a:solidFill>
            <a:srgbClr val="F2C94C">
              <a:alpha val="5000"/>
            </a:srgbClr>
          </a:solidFill>
          <a:ln w="18288">
            <a:solidFill>
              <a:srgbClr val="F2C94C">
                <a:alpha val="50000"/>
              </a:srgbClr>
            </a:solidFill>
            <a:prstDash val="dash"/>
          </a:ln>
        </p:spPr>
      </p:sp>
      <p:pic>
        <p:nvPicPr>
          <p:cNvPr id="22" name="Image 5" descr="preencoded.png">    </p:cNvPr>
          <p:cNvPicPr>
            <a:picLocks noChangeAspect="1"/>
          </p:cNvPicPr>
          <p:nvPr/>
        </p:nvPicPr>
        <p:blipFill>
          <a:blip r:embed="rId6">
            <a:alphaModFix amt="80000"/>
          </a:blip>
          <a:stretch>
            <a:fillRect/>
          </a:stretch>
        </p:blipFill>
        <p:spPr>
          <a:xfrm>
            <a:off x="6347222" y="2497634"/>
            <a:ext cx="450056" cy="400050"/>
          </a:xfrm>
          <a:prstGeom prst="rect">
            <a:avLst/>
          </a:prstGeom>
        </p:spPr>
      </p:pic>
      <p:sp>
        <p:nvSpPr>
          <p:cNvPr id="23" name="Text 14"/>
          <p:cNvSpPr/>
          <p:nvPr/>
        </p:nvSpPr>
        <p:spPr>
          <a:xfrm>
            <a:off x="5396210" y="3040559"/>
            <a:ext cx="2352080"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5.5 da Dissertação</a:t>
            </a:r>
            <a:endParaRPr lang="en-US" sz="987" dirty="0"/>
          </a:p>
        </p:txBody>
      </p:sp>
      <p:sp>
        <p:nvSpPr>
          <p:cNvPr id="24" name="Text 15"/>
          <p:cNvSpPr/>
          <p:nvPr/>
        </p:nvSpPr>
        <p:spPr>
          <a:xfrm>
            <a:off x="5121176" y="3285232"/>
            <a:ext cx="2902148" cy="128588"/>
          </a:xfrm>
          <a:prstGeom prst="rect">
            <a:avLst/>
          </a:prstGeom>
          <a:noFill/>
          <a:ln/>
        </p:spPr>
        <p:txBody>
          <a:bodyPr wrap="non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Arquitetura do CEEMDAN-EWT-TFT Aggregator proposto</a:t>
            </a:r>
            <a:endParaRPr lang="en-US" sz="780" dirty="0"/>
          </a:p>
        </p:txBody>
      </p:sp>
      <p:sp>
        <p:nvSpPr>
          <p:cNvPr id="25" name="Text 16"/>
          <p:cNvSpPr/>
          <p:nvPr/>
        </p:nvSpPr>
        <p:spPr>
          <a:xfrm>
            <a:off x="4429125" y="4827389"/>
            <a:ext cx="428625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VANTAGENS DO TFT AGGREGATOR</a:t>
            </a:r>
            <a:endParaRPr lang="en-US" sz="1808" dirty="0"/>
          </a:p>
        </p:txBody>
      </p:sp>
      <p:sp>
        <p:nvSpPr>
          <p:cNvPr id="7" name="Shape 3"/>
          <p:cNvSpPr/>
          <p:nvPr/>
        </p:nvSpPr>
        <p:spPr>
          <a:xfrm>
            <a:off x="428625" y="1169789"/>
            <a:ext cx="4036219" cy="1825228"/>
          </a:xfrm>
          <a:prstGeom prst="rect">
            <a:avLst/>
          </a:prstGeom>
          <a:solidFill>
            <a:srgbClr val="001D33">
              <a:alpha val="30000"/>
            </a:srgbClr>
          </a:solidFill>
          <a:ln w="9144">
            <a:solidFill>
              <a:srgbClr val="F2C94C">
                <a:alpha val="20000"/>
              </a:srgbClr>
            </a:solidFill>
            <a:prstDash val="solid"/>
          </a:ln>
        </p:spPr>
      </p:sp>
      <p:sp>
        <p:nvSpPr>
          <p:cNvPr id="8" name="Shape 4"/>
          <p:cNvSpPr/>
          <p:nvPr/>
        </p:nvSpPr>
        <p:spPr>
          <a:xfrm>
            <a:off x="428625" y="1169789"/>
            <a:ext cx="28575" cy="1810941"/>
          </a:xfrm>
          <a:prstGeom prst="rect">
            <a:avLst/>
          </a:prstGeom>
          <a:solidFill>
            <a:srgbClr val="F2C94C">
              <a:alpha val="50000"/>
            </a:srgbClr>
          </a:solidFill>
          <a:ln/>
        </p:spPr>
      </p:sp>
      <p:pic>
        <p:nvPicPr>
          <p:cNvPr id="9" name="Image 1" descr="preencoded.png">    </p:cNvPr>
          <p:cNvPicPr>
            <a:picLocks noChangeAspect="1"/>
          </p:cNvPicPr>
          <p:nvPr/>
        </p:nvPicPr>
        <p:blipFill>
          <a:blip r:embed="rId2"/>
          <a:stretch>
            <a:fillRect/>
          </a:stretch>
        </p:blipFill>
        <p:spPr>
          <a:xfrm>
            <a:off x="642938" y="1405533"/>
            <a:ext cx="257175" cy="228600"/>
          </a:xfrm>
          <a:prstGeom prst="rect">
            <a:avLst/>
          </a:prstGeom>
        </p:spPr>
      </p:pic>
      <p:sp>
        <p:nvSpPr>
          <p:cNvPr id="10" name="Text 5"/>
          <p:cNvSpPr/>
          <p:nvPr/>
        </p:nvSpPr>
        <p:spPr>
          <a:xfrm>
            <a:off x="642938" y="1803797"/>
            <a:ext cx="3607594"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Aprendizado Unificado</a:t>
            </a:r>
            <a:endParaRPr lang="en-US" sz="1090" dirty="0"/>
          </a:p>
        </p:txBody>
      </p:sp>
      <p:sp>
        <p:nvSpPr>
          <p:cNvPr id="11" name="Text 6"/>
          <p:cNvSpPr/>
          <p:nvPr/>
        </p:nvSpPr>
        <p:spPr>
          <a:xfrm>
            <a:off x="642938" y="2080617"/>
            <a:ext cx="3607594" cy="6858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Ao processar todas as IMFs simultaneamente como variáveis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exógenas, o modelo aprende as </a:t>
            </a:r>
            <a:pPr algn="l" indent="0" marL="0">
              <a:lnSpc>
                <a:spcPts val="1400"/>
              </a:lnSpc>
              <a:buNone/>
            </a:pPr>
            <a:r>
              <a:rPr lang="en-US" sz="784" b="1" dirty="0">
                <a:solidFill>
                  <a:srgbClr val="F2C94C"/>
                </a:solidFill>
                <a:latin typeface="Inter" pitchFamily="34" charset="0"/>
                <a:ea typeface="Inter" pitchFamily="34" charset="-122"/>
                <a:cs typeface="Inter" pitchFamily="34" charset="-120"/>
              </a:rPr>
              <a:t>interdependências não-lineares</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entre os componentes de frequência, algo que a soma simples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ignora.</a:t>
            </a:r>
            <a:endParaRPr lang="en-US" sz="834" dirty="0"/>
          </a:p>
        </p:txBody>
      </p:sp>
      <p:sp>
        <p:nvSpPr>
          <p:cNvPr id="12" name="Shape 7"/>
          <p:cNvSpPr/>
          <p:nvPr/>
        </p:nvSpPr>
        <p:spPr>
          <a:xfrm>
            <a:off x="4679156" y="1169789"/>
            <a:ext cx="4036219" cy="1810941"/>
          </a:xfrm>
          <a:prstGeom prst="rect">
            <a:avLst/>
          </a:prstGeom>
          <a:solidFill>
            <a:srgbClr val="001D33">
              <a:alpha val="30000"/>
            </a:srgbClr>
          </a:solidFill>
          <a:ln w="9144">
            <a:solidFill>
              <a:srgbClr val="F2C94C">
                <a:alpha val="20000"/>
              </a:srgbClr>
            </a:solidFill>
            <a:prstDash val="solid"/>
          </a:ln>
        </p:spPr>
      </p:sp>
      <p:sp>
        <p:nvSpPr>
          <p:cNvPr id="13" name="Shape 8"/>
          <p:cNvSpPr/>
          <p:nvPr/>
        </p:nvSpPr>
        <p:spPr>
          <a:xfrm>
            <a:off x="4679156" y="1169789"/>
            <a:ext cx="28575" cy="1810941"/>
          </a:xfrm>
          <a:prstGeom prst="rect">
            <a:avLst/>
          </a:prstGeom>
          <a:solidFill>
            <a:srgbClr val="F2C94C">
              <a:alpha val="50000"/>
            </a:srgbClr>
          </a:solidFill>
          <a:ln/>
        </p:spPr>
      </p:sp>
      <p:pic>
        <p:nvPicPr>
          <p:cNvPr id="14" name="Image 2" descr="preencoded.png">    </p:cNvPr>
          <p:cNvPicPr>
            <a:picLocks noChangeAspect="1"/>
          </p:cNvPicPr>
          <p:nvPr/>
        </p:nvPicPr>
        <p:blipFill>
          <a:blip r:embed="rId3"/>
          <a:stretch>
            <a:fillRect/>
          </a:stretch>
        </p:blipFill>
        <p:spPr>
          <a:xfrm>
            <a:off x="4893469" y="1405533"/>
            <a:ext cx="257175" cy="228600"/>
          </a:xfrm>
          <a:prstGeom prst="rect">
            <a:avLst/>
          </a:prstGeom>
        </p:spPr>
      </p:pic>
      <p:sp>
        <p:nvSpPr>
          <p:cNvPr id="15" name="Text 9"/>
          <p:cNvSpPr/>
          <p:nvPr/>
        </p:nvSpPr>
        <p:spPr>
          <a:xfrm>
            <a:off x="4893469" y="1803797"/>
            <a:ext cx="3607594"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Eficiência Computacional</a:t>
            </a:r>
            <a:endParaRPr lang="en-US" sz="1090" dirty="0"/>
          </a:p>
        </p:txBody>
      </p:sp>
      <p:sp>
        <p:nvSpPr>
          <p:cNvPr id="16" name="Text 10"/>
          <p:cNvSpPr/>
          <p:nvPr/>
        </p:nvSpPr>
        <p:spPr>
          <a:xfrm>
            <a:off x="4893469" y="2080617"/>
            <a:ext cx="3607594"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Substitui a necessidade de treinar, ajustar e manter </a:t>
            </a:r>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K+1 modelos</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(13 no total) por apenas </a:t>
            </a:r>
            <a:pPr algn="l" indent="0" marL="0">
              <a:lnSpc>
                <a:spcPts val="1400"/>
              </a:lnSpc>
              <a:buNone/>
            </a:pPr>
            <a:r>
              <a:rPr lang="en-US" sz="784" b="1" dirty="0">
                <a:solidFill>
                  <a:srgbClr val="F2C94C"/>
                </a:solidFill>
                <a:latin typeface="Inter" pitchFamily="34" charset="0"/>
                <a:ea typeface="Inter" pitchFamily="34" charset="-122"/>
                <a:cs typeface="Inter" pitchFamily="34" charset="-120"/>
              </a:rPr>
              <a:t>1 modelo robusto</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simplificando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drasticamente o pipeline de MLOps.</a:t>
            </a:r>
            <a:endParaRPr lang="en-US" sz="834" dirty="0"/>
          </a:p>
        </p:txBody>
      </p:sp>
      <p:sp>
        <p:nvSpPr>
          <p:cNvPr id="17" name="Shape 11"/>
          <p:cNvSpPr/>
          <p:nvPr/>
        </p:nvSpPr>
        <p:spPr>
          <a:xfrm>
            <a:off x="428625" y="3195042"/>
            <a:ext cx="4036219" cy="1653778"/>
          </a:xfrm>
          <a:prstGeom prst="rect">
            <a:avLst/>
          </a:prstGeom>
          <a:solidFill>
            <a:srgbClr val="001D33">
              <a:alpha val="30000"/>
            </a:srgbClr>
          </a:solidFill>
          <a:ln w="9144">
            <a:solidFill>
              <a:srgbClr val="F2C94C">
                <a:alpha val="20000"/>
              </a:srgbClr>
            </a:solidFill>
            <a:prstDash val="solid"/>
          </a:ln>
        </p:spPr>
      </p:sp>
      <p:sp>
        <p:nvSpPr>
          <p:cNvPr id="18" name="Shape 12"/>
          <p:cNvSpPr/>
          <p:nvPr/>
        </p:nvSpPr>
        <p:spPr>
          <a:xfrm>
            <a:off x="428625" y="3195042"/>
            <a:ext cx="28575" cy="1639491"/>
          </a:xfrm>
          <a:prstGeom prst="rect">
            <a:avLst/>
          </a:prstGeom>
          <a:solidFill>
            <a:srgbClr val="F2C94C">
              <a:alpha val="50000"/>
            </a:srgbClr>
          </a:solidFill>
          <a:ln/>
        </p:spPr>
      </p:sp>
      <p:pic>
        <p:nvPicPr>
          <p:cNvPr id="19" name="Image 3" descr="preencoded.png">    </p:cNvPr>
          <p:cNvPicPr>
            <a:picLocks noChangeAspect="1"/>
          </p:cNvPicPr>
          <p:nvPr/>
        </p:nvPicPr>
        <p:blipFill>
          <a:blip r:embed="rId4"/>
          <a:stretch>
            <a:fillRect/>
          </a:stretch>
        </p:blipFill>
        <p:spPr>
          <a:xfrm>
            <a:off x="642938" y="3430786"/>
            <a:ext cx="228600" cy="228600"/>
          </a:xfrm>
          <a:prstGeom prst="rect">
            <a:avLst/>
          </a:prstGeom>
        </p:spPr>
      </p:pic>
      <p:sp>
        <p:nvSpPr>
          <p:cNvPr id="20" name="Text 13"/>
          <p:cNvSpPr/>
          <p:nvPr/>
        </p:nvSpPr>
        <p:spPr>
          <a:xfrm>
            <a:off x="642938" y="3829050"/>
            <a:ext cx="3607594"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Previsão Probabilística</a:t>
            </a:r>
            <a:endParaRPr lang="en-US" sz="1090" dirty="0"/>
          </a:p>
        </p:txBody>
      </p:sp>
      <p:sp>
        <p:nvSpPr>
          <p:cNvPr id="21" name="Text 14"/>
          <p:cNvSpPr/>
          <p:nvPr/>
        </p:nvSpPr>
        <p:spPr>
          <a:xfrm>
            <a:off x="642938" y="4105870"/>
            <a:ext cx="3607594"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Gera nativamente os quantis </a:t>
            </a:r>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P10, P50 e P90</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em uma única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inferência, permitindo a quantificação de incerteza essencial para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a análise de risco operacional.</a:t>
            </a:r>
            <a:endParaRPr lang="en-US" sz="834" dirty="0"/>
          </a:p>
        </p:txBody>
      </p:sp>
      <p:sp>
        <p:nvSpPr>
          <p:cNvPr id="22" name="Shape 15"/>
          <p:cNvSpPr/>
          <p:nvPr/>
        </p:nvSpPr>
        <p:spPr>
          <a:xfrm>
            <a:off x="4679156" y="3195042"/>
            <a:ext cx="4036219" cy="1653778"/>
          </a:xfrm>
          <a:prstGeom prst="rect">
            <a:avLst/>
          </a:prstGeom>
          <a:solidFill>
            <a:srgbClr val="001D33">
              <a:alpha val="30000"/>
            </a:srgbClr>
          </a:solidFill>
          <a:ln w="9144">
            <a:solidFill>
              <a:srgbClr val="F2C94C">
                <a:alpha val="20000"/>
              </a:srgbClr>
            </a:solidFill>
            <a:prstDash val="solid"/>
          </a:ln>
        </p:spPr>
      </p:sp>
      <p:sp>
        <p:nvSpPr>
          <p:cNvPr id="23" name="Shape 16"/>
          <p:cNvSpPr/>
          <p:nvPr/>
        </p:nvSpPr>
        <p:spPr>
          <a:xfrm>
            <a:off x="4679156" y="3195042"/>
            <a:ext cx="28575" cy="1639491"/>
          </a:xfrm>
          <a:prstGeom prst="rect">
            <a:avLst/>
          </a:prstGeom>
          <a:solidFill>
            <a:srgbClr val="F2C94C">
              <a:alpha val="50000"/>
            </a:srgbClr>
          </a:solidFill>
          <a:ln/>
        </p:spPr>
      </p:sp>
      <p:pic>
        <p:nvPicPr>
          <p:cNvPr id="24" name="Image 4" descr="preencoded.png">    </p:cNvPr>
          <p:cNvPicPr>
            <a:picLocks noChangeAspect="1"/>
          </p:cNvPicPr>
          <p:nvPr/>
        </p:nvPicPr>
        <p:blipFill>
          <a:blip r:embed="rId5"/>
          <a:stretch>
            <a:fillRect/>
          </a:stretch>
        </p:blipFill>
        <p:spPr>
          <a:xfrm>
            <a:off x="4893469" y="3430786"/>
            <a:ext cx="257175" cy="228600"/>
          </a:xfrm>
          <a:prstGeom prst="rect">
            <a:avLst/>
          </a:prstGeom>
        </p:spPr>
      </p:pic>
      <p:sp>
        <p:nvSpPr>
          <p:cNvPr id="25" name="Text 17"/>
          <p:cNvSpPr/>
          <p:nvPr/>
        </p:nvSpPr>
        <p:spPr>
          <a:xfrm>
            <a:off x="4893469" y="3829050"/>
            <a:ext cx="3607594"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Interpretabilidade (XAI)</a:t>
            </a:r>
            <a:endParaRPr lang="en-US" sz="1090" dirty="0"/>
          </a:p>
        </p:txBody>
      </p:sp>
      <p:sp>
        <p:nvSpPr>
          <p:cNvPr id="26" name="Text 18"/>
          <p:cNvSpPr/>
          <p:nvPr/>
        </p:nvSpPr>
        <p:spPr>
          <a:xfrm>
            <a:off x="4893469" y="4105870"/>
            <a:ext cx="3607594"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O mecanismo de </a:t>
            </a:r>
            <a:pPr algn="l" indent="0" marL="0">
              <a:lnSpc>
                <a:spcPts val="1400"/>
              </a:lnSpc>
              <a:buNone/>
            </a:pPr>
            <a:r>
              <a:rPr lang="en-US" sz="784" b="1" dirty="0">
                <a:solidFill>
                  <a:srgbClr val="E8EDF2">
                    <a:alpha val="80000"/>
                  </a:srgbClr>
                </a:solidFill>
                <a:latin typeface="Inter" pitchFamily="34" charset="0"/>
                <a:ea typeface="Inter" pitchFamily="34" charset="-122"/>
                <a:cs typeface="Inter" pitchFamily="34" charset="-120"/>
              </a:rPr>
              <a:t>Self-Attention</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 permite identificar quais passos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de tempo passados e quais variáveis (IMFs) foram determinantes </a:t>
            </a:r>
            <a:pPr algn="l" indent="0" marL="0">
              <a:lnSpc>
                <a:spcPts val="1400"/>
              </a:lnSpc>
              <a:buNone/>
            </a:pPr>
            <a:r>
              <a:rPr lang="en-US" sz="834" dirty="0">
                <a:solidFill>
                  <a:srgbClr val="E8EDF2">
                    <a:alpha val="80000"/>
                  </a:srgbClr>
                </a:solidFill>
                <a:latin typeface="Inter" pitchFamily="34" charset="0"/>
                <a:ea typeface="Inter" pitchFamily="34" charset="-122"/>
                <a:cs typeface="Inter" pitchFamily="34" charset="-120"/>
              </a:rPr>
              <a:t>para cada previsão.</a:t>
            </a:r>
            <a:endParaRPr lang="en-US" sz="834"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ÍNDICE DE RISCO OPERACIONAL (ORI)</a:t>
            </a:r>
            <a:endParaRPr lang="en-US" sz="1808" dirty="0"/>
          </a:p>
        </p:txBody>
      </p:sp>
      <p:sp>
        <p:nvSpPr>
          <p:cNvPr id="7" name="Text 3"/>
          <p:cNvSpPr/>
          <p:nvPr/>
        </p:nvSpPr>
        <p:spPr>
          <a:xfrm>
            <a:off x="428625" y="1426071"/>
            <a:ext cx="3571875"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Métrica desenvolvida para traduzir as previsões probabilísticas (P10) em níveis de alerta acionáveis para o operador do FPSO.</a:t>
            </a:r>
            <a:endParaRPr lang="en-US" sz="834" dirty="0"/>
          </a:p>
        </p:txBody>
      </p:sp>
      <p:sp>
        <p:nvSpPr>
          <p:cNvPr id="8" name="Shape 4"/>
          <p:cNvSpPr/>
          <p:nvPr/>
        </p:nvSpPr>
        <p:spPr>
          <a:xfrm>
            <a:off x="428625" y="2019002"/>
            <a:ext cx="3571875" cy="691158"/>
          </a:xfrm>
          <a:prstGeom prst="rect">
            <a:avLst/>
          </a:prstGeom>
          <a:solidFill>
            <a:srgbClr val="001D33">
              <a:alpha val="30000"/>
            </a:srgbClr>
          </a:solidFill>
          <a:ln/>
        </p:spPr>
      </p:sp>
      <p:sp>
        <p:nvSpPr>
          <p:cNvPr id="9" name="Shape 5"/>
          <p:cNvSpPr/>
          <p:nvPr/>
        </p:nvSpPr>
        <p:spPr>
          <a:xfrm>
            <a:off x="428625" y="2019002"/>
            <a:ext cx="42863" cy="691158"/>
          </a:xfrm>
          <a:prstGeom prst="rect">
            <a:avLst/>
          </a:prstGeom>
          <a:solidFill>
            <a:srgbClr val="27AE60"/>
          </a:solidFill>
          <a:ln/>
        </p:spPr>
      </p:sp>
      <p:pic>
        <p:nvPicPr>
          <p:cNvPr id="10" name="Image 1" descr="preencoded.png">    </p:cNvPr>
          <p:cNvPicPr>
            <a:picLocks noChangeAspect="1"/>
          </p:cNvPicPr>
          <p:nvPr/>
        </p:nvPicPr>
        <p:blipFill>
          <a:blip r:embed="rId2"/>
          <a:stretch>
            <a:fillRect/>
          </a:stretch>
        </p:blipFill>
        <p:spPr>
          <a:xfrm>
            <a:off x="571500" y="2147590"/>
            <a:ext cx="114300" cy="114300"/>
          </a:xfrm>
          <a:prstGeom prst="rect">
            <a:avLst/>
          </a:prstGeom>
        </p:spPr>
      </p:pic>
      <p:sp>
        <p:nvSpPr>
          <p:cNvPr id="11" name="Text 6"/>
          <p:cNvSpPr/>
          <p:nvPr/>
        </p:nvSpPr>
        <p:spPr>
          <a:xfrm>
            <a:off x="757238" y="2126159"/>
            <a:ext cx="680442"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27AE60"/>
                </a:solidFill>
                <a:latin typeface="Montserrat" pitchFamily="34" charset="0"/>
                <a:ea typeface="Montserrat" pitchFamily="34" charset="-122"/>
                <a:cs typeface="Montserrat" pitchFamily="34" charset="-120"/>
              </a:rPr>
              <a:t>LOW RISK</a:t>
            </a:r>
            <a:endParaRPr lang="en-US" sz="885" dirty="0"/>
          </a:p>
        </p:txBody>
      </p:sp>
      <p:sp>
        <p:nvSpPr>
          <p:cNvPr id="12" name="Text 7"/>
          <p:cNvSpPr/>
          <p:nvPr/>
        </p:nvSpPr>
        <p:spPr>
          <a:xfrm>
            <a:off x="571500" y="2319040"/>
            <a:ext cx="3286125"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70000"/>
                  </a:srgbClr>
                </a:solidFill>
                <a:latin typeface="JetBrains Mono" pitchFamily="34" charset="0"/>
                <a:ea typeface="JetBrains Mono" pitchFamily="34" charset="-122"/>
                <a:cs typeface="JetBrains Mono" pitchFamily="34" charset="-120"/>
              </a:rPr>
              <a:t>P10 &gt; Threshold Operacional</a:t>
            </a:r>
            <a:endParaRPr lang="en-US" sz="674" dirty="0"/>
          </a:p>
        </p:txBody>
      </p:sp>
      <p:sp>
        <p:nvSpPr>
          <p:cNvPr id="13" name="Text 8"/>
          <p:cNvSpPr/>
          <p:nvPr/>
        </p:nvSpPr>
        <p:spPr>
          <a:xfrm>
            <a:off x="571500" y="2481560"/>
            <a:ext cx="3286125"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solidFill>
                <a:latin typeface="Inter" pitchFamily="34" charset="0"/>
                <a:ea typeface="Inter" pitchFamily="34" charset="-122"/>
                <a:cs typeface="Inter" pitchFamily="34" charset="-120"/>
              </a:rPr>
              <a:t>Operação segura. Nenhuma ação necessária.</a:t>
            </a:r>
            <a:endParaRPr lang="en-US" sz="727" dirty="0"/>
          </a:p>
        </p:txBody>
      </p:sp>
      <p:sp>
        <p:nvSpPr>
          <p:cNvPr id="14" name="Shape 9"/>
          <p:cNvSpPr/>
          <p:nvPr/>
        </p:nvSpPr>
        <p:spPr>
          <a:xfrm>
            <a:off x="428625" y="2888754"/>
            <a:ext cx="3571875" cy="691158"/>
          </a:xfrm>
          <a:prstGeom prst="rect">
            <a:avLst/>
          </a:prstGeom>
          <a:solidFill>
            <a:srgbClr val="001D33">
              <a:alpha val="30000"/>
            </a:srgbClr>
          </a:solidFill>
          <a:ln/>
        </p:spPr>
      </p:sp>
      <p:sp>
        <p:nvSpPr>
          <p:cNvPr id="15" name="Shape 10"/>
          <p:cNvSpPr/>
          <p:nvPr/>
        </p:nvSpPr>
        <p:spPr>
          <a:xfrm>
            <a:off x="428625" y="2888754"/>
            <a:ext cx="42863" cy="691158"/>
          </a:xfrm>
          <a:prstGeom prst="rect">
            <a:avLst/>
          </a:prstGeom>
          <a:solidFill>
            <a:srgbClr val="F2C94C"/>
          </a:solidFill>
          <a:ln/>
        </p:spPr>
      </p:sp>
      <p:pic>
        <p:nvPicPr>
          <p:cNvPr id="16" name="Image 2" descr="preencoded.png">    </p:cNvPr>
          <p:cNvPicPr>
            <a:picLocks noChangeAspect="1"/>
          </p:cNvPicPr>
          <p:nvPr/>
        </p:nvPicPr>
        <p:blipFill>
          <a:blip r:embed="rId3"/>
          <a:stretch>
            <a:fillRect/>
          </a:stretch>
        </p:blipFill>
        <p:spPr>
          <a:xfrm>
            <a:off x="571500" y="3017341"/>
            <a:ext cx="114300" cy="114300"/>
          </a:xfrm>
          <a:prstGeom prst="rect">
            <a:avLst/>
          </a:prstGeom>
        </p:spPr>
      </p:pic>
      <p:sp>
        <p:nvSpPr>
          <p:cNvPr id="17" name="Text 11"/>
          <p:cNvSpPr/>
          <p:nvPr/>
        </p:nvSpPr>
        <p:spPr>
          <a:xfrm>
            <a:off x="757238" y="2995910"/>
            <a:ext cx="780455"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ATTENTION</a:t>
            </a:r>
            <a:endParaRPr lang="en-US" sz="885" dirty="0"/>
          </a:p>
        </p:txBody>
      </p:sp>
      <p:sp>
        <p:nvSpPr>
          <p:cNvPr id="18" name="Text 12"/>
          <p:cNvSpPr/>
          <p:nvPr/>
        </p:nvSpPr>
        <p:spPr>
          <a:xfrm>
            <a:off x="571500" y="3188791"/>
            <a:ext cx="3286125"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70000"/>
                  </a:srgbClr>
                </a:solidFill>
                <a:latin typeface="JetBrains Mono" pitchFamily="34" charset="0"/>
                <a:ea typeface="JetBrains Mono" pitchFamily="34" charset="-122"/>
                <a:cs typeface="JetBrains Mono" pitchFamily="34" charset="-120"/>
              </a:rPr>
              <a:t>P10 &lt; Threshold (Futuro Distante)</a:t>
            </a:r>
            <a:endParaRPr lang="en-US" sz="674" dirty="0"/>
          </a:p>
        </p:txBody>
      </p:sp>
      <p:sp>
        <p:nvSpPr>
          <p:cNvPr id="19" name="Text 13"/>
          <p:cNvSpPr/>
          <p:nvPr/>
        </p:nvSpPr>
        <p:spPr>
          <a:xfrm>
            <a:off x="571500" y="3351312"/>
            <a:ext cx="3286125"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solidFill>
                <a:latin typeface="Inter" pitchFamily="34" charset="0"/>
                <a:ea typeface="Inter" pitchFamily="34" charset="-122"/>
                <a:cs typeface="Inter" pitchFamily="34" charset="-120"/>
              </a:rPr>
              <a:t>Queda prevista, mas além do horizonte de gatilho. Monitorar.</a:t>
            </a:r>
            <a:endParaRPr lang="en-US" sz="727" dirty="0"/>
          </a:p>
        </p:txBody>
      </p:sp>
      <p:sp>
        <p:nvSpPr>
          <p:cNvPr id="20" name="Shape 14"/>
          <p:cNvSpPr/>
          <p:nvPr/>
        </p:nvSpPr>
        <p:spPr>
          <a:xfrm>
            <a:off x="428625" y="3758505"/>
            <a:ext cx="3571875" cy="691158"/>
          </a:xfrm>
          <a:prstGeom prst="rect">
            <a:avLst/>
          </a:prstGeom>
          <a:solidFill>
            <a:srgbClr val="001D33">
              <a:alpha val="30000"/>
            </a:srgbClr>
          </a:solidFill>
          <a:ln/>
        </p:spPr>
      </p:sp>
      <p:sp>
        <p:nvSpPr>
          <p:cNvPr id="21" name="Shape 15"/>
          <p:cNvSpPr/>
          <p:nvPr/>
        </p:nvSpPr>
        <p:spPr>
          <a:xfrm>
            <a:off x="428625" y="3758505"/>
            <a:ext cx="42863" cy="691158"/>
          </a:xfrm>
          <a:prstGeom prst="rect">
            <a:avLst/>
          </a:prstGeom>
          <a:solidFill>
            <a:srgbClr val="EB5757"/>
          </a:solidFill>
          <a:ln/>
        </p:spPr>
      </p:sp>
      <p:pic>
        <p:nvPicPr>
          <p:cNvPr id="22" name="Image 3" descr="preencoded.png">    </p:cNvPr>
          <p:cNvPicPr>
            <a:picLocks noChangeAspect="1"/>
          </p:cNvPicPr>
          <p:nvPr/>
        </p:nvPicPr>
        <p:blipFill>
          <a:blip r:embed="rId4"/>
          <a:stretch>
            <a:fillRect/>
          </a:stretch>
        </p:blipFill>
        <p:spPr>
          <a:xfrm>
            <a:off x="571500" y="3887093"/>
            <a:ext cx="114300" cy="114300"/>
          </a:xfrm>
          <a:prstGeom prst="rect">
            <a:avLst/>
          </a:prstGeom>
        </p:spPr>
      </p:pic>
      <p:sp>
        <p:nvSpPr>
          <p:cNvPr id="23" name="Text 16"/>
          <p:cNvSpPr/>
          <p:nvPr/>
        </p:nvSpPr>
        <p:spPr>
          <a:xfrm>
            <a:off x="757238" y="3865662"/>
            <a:ext cx="700088"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B5757"/>
                </a:solidFill>
                <a:latin typeface="Montserrat" pitchFamily="34" charset="0"/>
                <a:ea typeface="Montserrat" pitchFamily="34" charset="-122"/>
                <a:cs typeface="Montserrat" pitchFamily="34" charset="-120"/>
              </a:rPr>
              <a:t>HIGH RISK</a:t>
            </a:r>
            <a:endParaRPr lang="en-US" sz="885" dirty="0"/>
          </a:p>
        </p:txBody>
      </p:sp>
      <p:sp>
        <p:nvSpPr>
          <p:cNvPr id="24" name="Text 17"/>
          <p:cNvSpPr/>
          <p:nvPr/>
        </p:nvSpPr>
        <p:spPr>
          <a:xfrm>
            <a:off x="571500" y="4058543"/>
            <a:ext cx="3286125" cy="126802"/>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70000"/>
                  </a:srgbClr>
                </a:solidFill>
                <a:latin typeface="JetBrains Mono" pitchFamily="34" charset="0"/>
                <a:ea typeface="JetBrains Mono" pitchFamily="34" charset="-122"/>
                <a:cs typeface="JetBrains Mono" pitchFamily="34" charset="-120"/>
              </a:rPr>
              <a:t>P10 &lt; Threshold (Iminente)</a:t>
            </a:r>
            <a:endParaRPr lang="en-US" sz="674" dirty="0"/>
          </a:p>
        </p:txBody>
      </p:sp>
      <p:sp>
        <p:nvSpPr>
          <p:cNvPr id="25" name="Text 18"/>
          <p:cNvSpPr/>
          <p:nvPr/>
        </p:nvSpPr>
        <p:spPr>
          <a:xfrm>
            <a:off x="571500" y="4221063"/>
            <a:ext cx="3286125"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solidFill>
                <a:latin typeface="Inter" pitchFamily="34" charset="0"/>
                <a:ea typeface="Inter" pitchFamily="34" charset="-122"/>
                <a:cs typeface="Inter" pitchFamily="34" charset="-120"/>
              </a:rPr>
              <a:t>Risco de blackout iminente. Iniciar gerador backup.</a:t>
            </a:r>
            <a:endParaRPr lang="en-US" sz="727" dirty="0"/>
          </a:p>
        </p:txBody>
      </p:sp>
      <p:sp>
        <p:nvSpPr>
          <p:cNvPr id="26" name="Shape 19"/>
          <p:cNvSpPr/>
          <p:nvPr/>
        </p:nvSpPr>
        <p:spPr>
          <a:xfrm>
            <a:off x="4429125" y="1169789"/>
            <a:ext cx="4286250" cy="3536156"/>
          </a:xfrm>
          <a:prstGeom prst="rect">
            <a:avLst/>
          </a:prstGeom>
          <a:solidFill>
            <a:srgbClr val="F2C94C">
              <a:alpha val="5000"/>
            </a:srgbClr>
          </a:solidFill>
          <a:ln w="18288">
            <a:solidFill>
              <a:srgbClr val="F2C94C">
                <a:alpha val="50000"/>
              </a:srgbClr>
            </a:solidFill>
            <a:prstDash val="dash"/>
          </a:ln>
        </p:spPr>
      </p:sp>
      <p:pic>
        <p:nvPicPr>
          <p:cNvPr id="27" name="Image 4" descr="preencoded.png">    </p:cNvPr>
          <p:cNvPicPr>
            <a:picLocks noChangeAspect="1"/>
          </p:cNvPicPr>
          <p:nvPr/>
        </p:nvPicPr>
        <p:blipFill>
          <a:blip r:embed="rId5">
            <a:alphaModFix amt="80000"/>
          </a:blip>
          <a:stretch>
            <a:fillRect/>
          </a:stretch>
        </p:blipFill>
        <p:spPr>
          <a:xfrm>
            <a:off x="6447234" y="2479774"/>
            <a:ext cx="250031" cy="400050"/>
          </a:xfrm>
          <a:prstGeom prst="rect">
            <a:avLst/>
          </a:prstGeom>
        </p:spPr>
      </p:pic>
      <p:sp>
        <p:nvSpPr>
          <p:cNvPr id="28" name="Text 20"/>
          <p:cNvSpPr/>
          <p:nvPr/>
        </p:nvSpPr>
        <p:spPr>
          <a:xfrm>
            <a:off x="5394424" y="3022699"/>
            <a:ext cx="2355652"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5.6 da Dissertação</a:t>
            </a:r>
            <a:endParaRPr lang="en-US" sz="987" dirty="0"/>
          </a:p>
        </p:txBody>
      </p:sp>
      <p:sp>
        <p:nvSpPr>
          <p:cNvPr id="29" name="Text 21"/>
          <p:cNvSpPr/>
          <p:nvPr/>
        </p:nvSpPr>
        <p:spPr>
          <a:xfrm>
            <a:off x="5466755" y="3267373"/>
            <a:ext cx="2210991" cy="128588"/>
          </a:xfrm>
          <a:prstGeom prst="rect">
            <a:avLst/>
          </a:prstGeom>
          <a:noFill/>
          <a:ln/>
        </p:spPr>
        <p:txBody>
          <a:bodyPr wrap="non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Fluxograma de decisão para cálculo do ORI</a:t>
            </a:r>
            <a:endParaRPr lang="en-US" sz="780" dirty="0"/>
          </a:p>
        </p:txBody>
      </p:sp>
      <p:sp>
        <p:nvSpPr>
          <p:cNvPr id="30" name="Text 22"/>
          <p:cNvSpPr/>
          <p:nvPr/>
        </p:nvSpPr>
        <p:spPr>
          <a:xfrm>
            <a:off x="4429125" y="4791670"/>
            <a:ext cx="428625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ANÁLISE TECNO-ECONÔMICA</a:t>
            </a:r>
            <a:endParaRPr lang="en-US" sz="1808" dirty="0"/>
          </a:p>
        </p:txBody>
      </p:sp>
      <p:sp>
        <p:nvSpPr>
          <p:cNvPr id="7" name="Shape 3"/>
          <p:cNvSpPr/>
          <p:nvPr/>
        </p:nvSpPr>
        <p:spPr>
          <a:xfrm>
            <a:off x="428625" y="1169789"/>
            <a:ext cx="3274209" cy="721519"/>
          </a:xfrm>
          <a:prstGeom prst="rect">
            <a:avLst/>
          </a:prstGeom>
          <a:solidFill>
            <a:srgbClr val="EB5757">
              <a:alpha val="10000"/>
            </a:srgbClr>
          </a:solidFill>
          <a:ln w="9144">
            <a:solidFill>
              <a:srgbClr val="EB5757"/>
            </a:solidFill>
            <a:prstDash val="solid"/>
          </a:ln>
        </p:spPr>
      </p:sp>
      <p:sp>
        <p:nvSpPr>
          <p:cNvPr id="8" name="Text 4"/>
          <p:cNvSpPr/>
          <p:nvPr/>
        </p:nvSpPr>
        <p:spPr>
          <a:xfrm>
            <a:off x="571500" y="1312664"/>
            <a:ext cx="1130498"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70000"/>
                  </a:srgbClr>
                </a:solidFill>
                <a:latin typeface="Montserrat" pitchFamily="34" charset="0"/>
                <a:ea typeface="Montserrat" pitchFamily="34" charset="-122"/>
                <a:cs typeface="Montserrat" pitchFamily="34" charset="-120"/>
              </a:rPr>
              <a:t>CUSTO DE BLACKOUT</a:t>
            </a:r>
            <a:endParaRPr lang="en-US" sz="727" dirty="0"/>
          </a:p>
        </p:txBody>
      </p:sp>
      <p:sp>
        <p:nvSpPr>
          <p:cNvPr id="9" name="Text 5"/>
          <p:cNvSpPr/>
          <p:nvPr/>
        </p:nvSpPr>
        <p:spPr>
          <a:xfrm>
            <a:off x="571500" y="1469827"/>
            <a:ext cx="1130498" cy="264319"/>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EB5757"/>
                </a:solidFill>
                <a:latin typeface="JetBrains Mono" pitchFamily="34" charset="0"/>
                <a:ea typeface="JetBrains Mono" pitchFamily="34" charset="-122"/>
                <a:cs typeface="JetBrains Mono" pitchFamily="34" charset="-120"/>
              </a:rPr>
              <a:t>$100,000</a:t>
            </a:r>
            <a:endParaRPr lang="en-US" sz="1397" dirty="0"/>
          </a:p>
        </p:txBody>
      </p:sp>
      <p:pic>
        <p:nvPicPr>
          <p:cNvPr id="10" name="Image 1" descr="preencoded.png">    </p:cNvPr>
          <p:cNvPicPr>
            <a:picLocks noChangeAspect="1"/>
          </p:cNvPicPr>
          <p:nvPr/>
        </p:nvPicPr>
        <p:blipFill>
          <a:blip r:embed="rId2"/>
          <a:stretch>
            <a:fillRect/>
          </a:stretch>
        </p:blipFill>
        <p:spPr>
          <a:xfrm>
            <a:off x="3431372" y="1437680"/>
            <a:ext cx="128588" cy="171450"/>
          </a:xfrm>
          <a:prstGeom prst="rect">
            <a:avLst/>
          </a:prstGeom>
        </p:spPr>
      </p:pic>
      <p:sp>
        <p:nvSpPr>
          <p:cNvPr id="11" name="Shape 6"/>
          <p:cNvSpPr/>
          <p:nvPr/>
        </p:nvSpPr>
        <p:spPr>
          <a:xfrm>
            <a:off x="428625" y="2019895"/>
            <a:ext cx="3274209" cy="721519"/>
          </a:xfrm>
          <a:prstGeom prst="rect">
            <a:avLst/>
          </a:prstGeom>
          <a:solidFill>
            <a:srgbClr val="001D33">
              <a:alpha val="30000"/>
            </a:srgbClr>
          </a:solidFill>
          <a:ln w="9144">
            <a:solidFill>
              <a:srgbClr val="E8EDF2">
                <a:alpha val="10000"/>
              </a:srgbClr>
            </a:solidFill>
            <a:prstDash val="solid"/>
          </a:ln>
        </p:spPr>
      </p:sp>
      <p:sp>
        <p:nvSpPr>
          <p:cNvPr id="12" name="Text 7"/>
          <p:cNvSpPr/>
          <p:nvPr/>
        </p:nvSpPr>
        <p:spPr>
          <a:xfrm>
            <a:off x="571500" y="2162770"/>
            <a:ext cx="1385888"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70000"/>
                  </a:srgbClr>
                </a:solidFill>
                <a:latin typeface="Montserrat" pitchFamily="34" charset="0"/>
                <a:ea typeface="Montserrat" pitchFamily="34" charset="-122"/>
                <a:cs typeface="Montserrat" pitchFamily="34" charset="-120"/>
              </a:rPr>
              <a:t>CUSTO DE OPERAÇÃO (GT)</a:t>
            </a:r>
            <a:endParaRPr lang="en-US" sz="727" dirty="0"/>
          </a:p>
        </p:txBody>
      </p:sp>
      <p:sp>
        <p:nvSpPr>
          <p:cNvPr id="13" name="Text 8"/>
          <p:cNvSpPr/>
          <p:nvPr/>
        </p:nvSpPr>
        <p:spPr>
          <a:xfrm>
            <a:off x="571500" y="2319933"/>
            <a:ext cx="1385888" cy="264319"/>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E8EDF2"/>
                </a:solidFill>
                <a:latin typeface="JetBrains Mono" pitchFamily="34" charset="0"/>
                <a:ea typeface="JetBrains Mono" pitchFamily="34" charset="-122"/>
                <a:cs typeface="JetBrains Mono" pitchFamily="34" charset="-120"/>
              </a:rPr>
              <a:t>$500 / h</a:t>
            </a:r>
            <a:endParaRPr lang="en-US" sz="1397" dirty="0"/>
          </a:p>
        </p:txBody>
      </p:sp>
      <p:pic>
        <p:nvPicPr>
          <p:cNvPr id="14" name="Image 2" descr="preencoded.png">    </p:cNvPr>
          <p:cNvPicPr>
            <a:picLocks noChangeAspect="1"/>
          </p:cNvPicPr>
          <p:nvPr/>
        </p:nvPicPr>
        <p:blipFill>
          <a:blip r:embed="rId3"/>
          <a:stretch>
            <a:fillRect/>
          </a:stretch>
        </p:blipFill>
        <p:spPr>
          <a:xfrm>
            <a:off x="3345647" y="2287786"/>
            <a:ext cx="214313" cy="171450"/>
          </a:xfrm>
          <a:prstGeom prst="rect">
            <a:avLst/>
          </a:prstGeom>
        </p:spPr>
      </p:pic>
      <p:sp>
        <p:nvSpPr>
          <p:cNvPr id="15" name="Shape 9"/>
          <p:cNvSpPr/>
          <p:nvPr/>
        </p:nvSpPr>
        <p:spPr>
          <a:xfrm>
            <a:off x="428625" y="2870002"/>
            <a:ext cx="3274209" cy="721519"/>
          </a:xfrm>
          <a:prstGeom prst="rect">
            <a:avLst/>
          </a:prstGeom>
          <a:solidFill>
            <a:srgbClr val="001D33">
              <a:alpha val="30000"/>
            </a:srgbClr>
          </a:solidFill>
          <a:ln w="9144">
            <a:solidFill>
              <a:srgbClr val="E8EDF2">
                <a:alpha val="10000"/>
              </a:srgbClr>
            </a:solidFill>
            <a:prstDash val="solid"/>
          </a:ln>
        </p:spPr>
      </p:sp>
      <p:sp>
        <p:nvSpPr>
          <p:cNvPr id="16" name="Text 10"/>
          <p:cNvSpPr/>
          <p:nvPr/>
        </p:nvSpPr>
        <p:spPr>
          <a:xfrm>
            <a:off x="571500" y="3012877"/>
            <a:ext cx="1032272"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70000"/>
                  </a:srgbClr>
                </a:solidFill>
                <a:latin typeface="Montserrat" pitchFamily="34" charset="0"/>
                <a:ea typeface="Montserrat" pitchFamily="34" charset="-122"/>
                <a:cs typeface="Montserrat" pitchFamily="34" charset="-120"/>
              </a:rPr>
              <a:t>CUSTO DE STARTUP</a:t>
            </a:r>
            <a:endParaRPr lang="en-US" sz="727" dirty="0"/>
          </a:p>
        </p:txBody>
      </p:sp>
      <p:sp>
        <p:nvSpPr>
          <p:cNvPr id="17" name="Text 11"/>
          <p:cNvSpPr/>
          <p:nvPr/>
        </p:nvSpPr>
        <p:spPr>
          <a:xfrm>
            <a:off x="571500" y="3170039"/>
            <a:ext cx="1032272" cy="264319"/>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E8EDF2"/>
                </a:solidFill>
                <a:latin typeface="JetBrains Mono" pitchFamily="34" charset="0"/>
                <a:ea typeface="JetBrains Mono" pitchFamily="34" charset="-122"/>
                <a:cs typeface="JetBrains Mono" pitchFamily="34" charset="-120"/>
              </a:rPr>
              <a:t>$2,000</a:t>
            </a:r>
            <a:endParaRPr lang="en-US" sz="1397" dirty="0"/>
          </a:p>
        </p:txBody>
      </p:sp>
      <p:pic>
        <p:nvPicPr>
          <p:cNvPr id="18" name="Image 3" descr="preencoded.png">    </p:cNvPr>
          <p:cNvPicPr>
            <a:picLocks noChangeAspect="1"/>
          </p:cNvPicPr>
          <p:nvPr/>
        </p:nvPicPr>
        <p:blipFill>
          <a:blip r:embed="rId4"/>
          <a:stretch>
            <a:fillRect/>
          </a:stretch>
        </p:blipFill>
        <p:spPr>
          <a:xfrm>
            <a:off x="3388509" y="3137892"/>
            <a:ext cx="171450" cy="171450"/>
          </a:xfrm>
          <a:prstGeom prst="rect">
            <a:avLst/>
          </a:prstGeom>
        </p:spPr>
      </p:pic>
      <p:sp>
        <p:nvSpPr>
          <p:cNvPr id="19" name="Text 12"/>
          <p:cNvSpPr/>
          <p:nvPr/>
        </p:nvSpPr>
        <p:spPr>
          <a:xfrm>
            <a:off x="4302909" y="1169789"/>
            <a:ext cx="1212652"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Estratégia Reativa</a:t>
            </a:r>
            <a:endParaRPr lang="en-US" sz="885" dirty="0"/>
          </a:p>
        </p:txBody>
      </p:sp>
      <p:sp>
        <p:nvSpPr>
          <p:cNvPr id="20" name="Shape 13"/>
          <p:cNvSpPr/>
          <p:nvPr/>
        </p:nvSpPr>
        <p:spPr>
          <a:xfrm>
            <a:off x="5586999" y="1181398"/>
            <a:ext cx="585788" cy="133945"/>
          </a:xfrm>
          <a:prstGeom prst="rect">
            <a:avLst/>
          </a:prstGeom>
          <a:solidFill>
            <a:srgbClr val="EB5757">
              <a:alpha val="20000"/>
            </a:srgbClr>
          </a:solidFill>
          <a:ln/>
        </p:spPr>
      </p:sp>
      <p:sp>
        <p:nvSpPr>
          <p:cNvPr id="21" name="Text 14"/>
          <p:cNvSpPr/>
          <p:nvPr/>
        </p:nvSpPr>
        <p:spPr>
          <a:xfrm>
            <a:off x="5586999" y="1181398"/>
            <a:ext cx="585788" cy="133945"/>
          </a:xfrm>
          <a:prstGeom prst="rect">
            <a:avLst/>
          </a:prstGeom>
          <a:noFill/>
          <a:ln/>
        </p:spPr>
        <p:txBody>
          <a:bodyPr wrap="none" lIns="68072" tIns="17018" rIns="68072" bIns="17018" rtlCol="0" anchor="t">
            <a:spAutoFit/>
          </a:bodyPr>
          <a:lstStyle/>
          <a:p>
            <a:pPr algn="l" indent="0" marL="0">
              <a:lnSpc>
                <a:spcPts val="800"/>
              </a:lnSpc>
              <a:buNone/>
            </a:pPr>
            <a:r>
              <a:rPr lang="en-US" sz="584" b="1" dirty="0">
                <a:solidFill>
                  <a:srgbClr val="EB5757"/>
                </a:solidFill>
                <a:latin typeface="Inter" pitchFamily="34" charset="0"/>
                <a:ea typeface="Inter" pitchFamily="34" charset="-122"/>
                <a:cs typeface="Inter" pitchFamily="34" charset="-120"/>
              </a:rPr>
              <a:t>BASELINE 1</a:t>
            </a:r>
            <a:endParaRPr lang="en-US" sz="584" dirty="0"/>
          </a:p>
        </p:txBody>
      </p:sp>
      <p:sp>
        <p:nvSpPr>
          <p:cNvPr id="22" name="Text 15"/>
          <p:cNvSpPr/>
          <p:nvPr/>
        </p:nvSpPr>
        <p:spPr>
          <a:xfrm>
            <a:off x="4302909" y="1384102"/>
            <a:ext cx="4412438"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Liga o gerador apenas após a falha ocorrer. Minimiza uso de combustível, mas maximiza custos de blackout.</a:t>
            </a:r>
            <a:endParaRPr lang="en-US" sz="780" dirty="0"/>
          </a:p>
        </p:txBody>
      </p:sp>
      <p:sp>
        <p:nvSpPr>
          <p:cNvPr id="23" name="Text 16"/>
          <p:cNvSpPr/>
          <p:nvPr/>
        </p:nvSpPr>
        <p:spPr>
          <a:xfrm>
            <a:off x="4302909" y="1862733"/>
            <a:ext cx="1637705"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Estratégia Conservadora</a:t>
            </a:r>
            <a:endParaRPr lang="en-US" sz="885" dirty="0"/>
          </a:p>
        </p:txBody>
      </p:sp>
      <p:sp>
        <p:nvSpPr>
          <p:cNvPr id="24" name="Shape 17"/>
          <p:cNvSpPr/>
          <p:nvPr/>
        </p:nvSpPr>
        <p:spPr>
          <a:xfrm>
            <a:off x="6012052" y="1874341"/>
            <a:ext cx="603647" cy="133945"/>
          </a:xfrm>
          <a:prstGeom prst="rect">
            <a:avLst/>
          </a:prstGeom>
          <a:solidFill>
            <a:srgbClr val="2D9CDB">
              <a:alpha val="20000"/>
            </a:srgbClr>
          </a:solidFill>
          <a:ln/>
        </p:spPr>
      </p:sp>
      <p:sp>
        <p:nvSpPr>
          <p:cNvPr id="25" name="Text 18"/>
          <p:cNvSpPr/>
          <p:nvPr/>
        </p:nvSpPr>
        <p:spPr>
          <a:xfrm>
            <a:off x="6012052" y="1874341"/>
            <a:ext cx="603647" cy="133945"/>
          </a:xfrm>
          <a:prstGeom prst="rect">
            <a:avLst/>
          </a:prstGeom>
          <a:noFill/>
          <a:ln/>
        </p:spPr>
        <p:txBody>
          <a:bodyPr wrap="none" lIns="68072" tIns="17018" rIns="68072" bIns="17018" rtlCol="0" anchor="t">
            <a:spAutoFit/>
          </a:bodyPr>
          <a:lstStyle/>
          <a:p>
            <a:pPr algn="l" indent="0" marL="0">
              <a:lnSpc>
                <a:spcPts val="800"/>
              </a:lnSpc>
              <a:buNone/>
            </a:pPr>
            <a:r>
              <a:rPr lang="en-US" sz="584" b="1" dirty="0">
                <a:solidFill>
                  <a:srgbClr val="2D9CDB"/>
                </a:solidFill>
                <a:latin typeface="Inter" pitchFamily="34" charset="0"/>
                <a:ea typeface="Inter" pitchFamily="34" charset="-122"/>
                <a:cs typeface="Inter" pitchFamily="34" charset="-120"/>
              </a:rPr>
              <a:t>BASELINE 2</a:t>
            </a:r>
            <a:endParaRPr lang="en-US" sz="584" dirty="0"/>
          </a:p>
        </p:txBody>
      </p:sp>
      <p:sp>
        <p:nvSpPr>
          <p:cNvPr id="26" name="Text 19"/>
          <p:cNvSpPr/>
          <p:nvPr/>
        </p:nvSpPr>
        <p:spPr>
          <a:xfrm>
            <a:off x="4302909" y="2077045"/>
            <a:ext cx="4412438"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Mantém o gerador ligado 100% do tempo. Elimina blackouts, mas maximiza custos operacionais e emissões.</a:t>
            </a:r>
            <a:endParaRPr lang="en-US" sz="780" dirty="0"/>
          </a:p>
        </p:txBody>
      </p:sp>
      <p:sp>
        <p:nvSpPr>
          <p:cNvPr id="27" name="Text 20"/>
          <p:cNvSpPr/>
          <p:nvPr/>
        </p:nvSpPr>
        <p:spPr>
          <a:xfrm>
            <a:off x="4302909" y="2555677"/>
            <a:ext cx="1691283"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Estratégia Preditiva (ORI)</a:t>
            </a:r>
            <a:endParaRPr lang="en-US" sz="885" dirty="0"/>
          </a:p>
        </p:txBody>
      </p:sp>
      <p:sp>
        <p:nvSpPr>
          <p:cNvPr id="28" name="Shape 21"/>
          <p:cNvSpPr/>
          <p:nvPr/>
        </p:nvSpPr>
        <p:spPr>
          <a:xfrm>
            <a:off x="6065630" y="2567285"/>
            <a:ext cx="580430" cy="133945"/>
          </a:xfrm>
          <a:prstGeom prst="rect">
            <a:avLst/>
          </a:prstGeom>
          <a:solidFill>
            <a:srgbClr val="F2C94C">
              <a:alpha val="20000"/>
            </a:srgbClr>
          </a:solidFill>
          <a:ln/>
        </p:spPr>
      </p:sp>
      <p:sp>
        <p:nvSpPr>
          <p:cNvPr id="29" name="Text 22"/>
          <p:cNvSpPr/>
          <p:nvPr/>
        </p:nvSpPr>
        <p:spPr>
          <a:xfrm>
            <a:off x="6065630" y="2567285"/>
            <a:ext cx="580430" cy="133945"/>
          </a:xfrm>
          <a:prstGeom prst="rect">
            <a:avLst/>
          </a:prstGeom>
          <a:noFill/>
          <a:ln/>
        </p:spPr>
        <p:txBody>
          <a:bodyPr wrap="none" lIns="68072" tIns="17018" rIns="68072" bIns="17018" rtlCol="0" anchor="t">
            <a:spAutoFit/>
          </a:bodyPr>
          <a:lstStyle/>
          <a:p>
            <a:pPr algn="l" indent="0" marL="0">
              <a:lnSpc>
                <a:spcPts val="800"/>
              </a:lnSpc>
              <a:buNone/>
            </a:pPr>
            <a:r>
              <a:rPr lang="en-US" sz="584" b="1" dirty="0">
                <a:solidFill>
                  <a:srgbClr val="F2C94C"/>
                </a:solidFill>
                <a:latin typeface="Inter" pitchFamily="34" charset="0"/>
                <a:ea typeface="Inter" pitchFamily="34" charset="-122"/>
                <a:cs typeface="Inter" pitchFamily="34" charset="-120"/>
              </a:rPr>
              <a:t>PROPOSTA</a:t>
            </a:r>
            <a:endParaRPr lang="en-US" sz="584" dirty="0"/>
          </a:p>
        </p:txBody>
      </p:sp>
      <p:sp>
        <p:nvSpPr>
          <p:cNvPr id="30" name="Text 23"/>
          <p:cNvSpPr/>
          <p:nvPr/>
        </p:nvSpPr>
        <p:spPr>
          <a:xfrm>
            <a:off x="4302909" y="2769989"/>
            <a:ext cx="4412438"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Liga o gerador preventivamente baseado no nível de risco (ORI High). Busca o equilíbrio ótimo.</a:t>
            </a:r>
            <a:endParaRPr lang="en-US" sz="780" dirty="0"/>
          </a:p>
        </p:txBody>
      </p:sp>
      <p:sp>
        <p:nvSpPr>
          <p:cNvPr id="31" name="Shape 24"/>
          <p:cNvSpPr/>
          <p:nvPr/>
        </p:nvSpPr>
        <p:spPr>
          <a:xfrm>
            <a:off x="4131459" y="4234458"/>
            <a:ext cx="4583888" cy="471488"/>
          </a:xfrm>
          <a:prstGeom prst="rect">
            <a:avLst/>
          </a:prstGeom>
          <a:solidFill>
            <a:srgbClr val="F2C94C">
              <a:alpha val="5000"/>
            </a:srgbClr>
          </a:solidFill>
          <a:ln w="9144">
            <a:solidFill>
              <a:srgbClr val="F2C94C">
                <a:alpha val="40000"/>
              </a:srgbClr>
            </a:solidFill>
            <a:prstDash val="dash"/>
          </a:ln>
        </p:spPr>
      </p:sp>
      <p:pic>
        <p:nvPicPr>
          <p:cNvPr id="32" name="Image 4" descr="preencoded.png">    </p:cNvPr>
          <p:cNvPicPr>
            <a:picLocks noChangeAspect="1"/>
          </p:cNvPicPr>
          <p:nvPr/>
        </p:nvPicPr>
        <p:blipFill>
          <a:blip r:embed="rId5"/>
          <a:stretch>
            <a:fillRect/>
          </a:stretch>
        </p:blipFill>
        <p:spPr>
          <a:xfrm>
            <a:off x="4238616" y="4391620"/>
            <a:ext cx="171450" cy="171450"/>
          </a:xfrm>
          <a:prstGeom prst="rect">
            <a:avLst/>
          </a:prstGeom>
        </p:spPr>
      </p:pic>
      <p:sp>
        <p:nvSpPr>
          <p:cNvPr id="33" name="Text 25"/>
          <p:cNvSpPr/>
          <p:nvPr/>
        </p:nvSpPr>
        <p:spPr>
          <a:xfrm>
            <a:off x="4517222" y="4355902"/>
            <a:ext cx="4090969" cy="242888"/>
          </a:xfrm>
          <a:prstGeom prst="rect">
            <a:avLst/>
          </a:prstGeom>
          <a:noFill/>
          <a:ln/>
        </p:spPr>
        <p:txBody>
          <a:bodyPr wrap="square" lIns="0" tIns="0" rIns="0" bIns="0" rtlCol="0" anchor="t">
            <a:spAutoFit/>
          </a:bodyPr>
          <a:lstStyle/>
          <a:p>
            <a:pPr algn="l" indent="0" marL="0">
              <a:lnSpc>
                <a:spcPts val="900"/>
              </a:lnSpc>
              <a:buNone/>
            </a:pPr>
            <a:pPr algn="l" indent="0" marL="0">
              <a:lnSpc>
                <a:spcPts val="900"/>
              </a:lnSpc>
              <a:buNone/>
            </a:pPr>
            <a:r>
              <a:rPr lang="en-US" sz="683" b="1" dirty="0">
                <a:solidFill>
                  <a:srgbClr val="E8EDF2"/>
                </a:solidFill>
                <a:latin typeface="Inter" pitchFamily="34" charset="0"/>
                <a:ea typeface="Inter" pitchFamily="34" charset="-122"/>
                <a:cs typeface="Inter" pitchFamily="34" charset="-120"/>
              </a:rPr>
              <a:t>Otimização:</a:t>
            </a:r>
            <a:pPr algn="l" indent="0" marL="0">
              <a:lnSpc>
                <a:spcPts val="900"/>
              </a:lnSpc>
              <a:buNone/>
            </a:pPr>
            <a:r>
              <a:rPr lang="en-US" sz="727" dirty="0">
                <a:solidFill>
                  <a:srgbClr val="E8EDF2"/>
                </a:solidFill>
                <a:latin typeface="Inter" pitchFamily="34" charset="0"/>
                <a:ea typeface="Inter" pitchFamily="34" charset="-122"/>
                <a:cs typeface="Inter" pitchFamily="34" charset="-120"/>
              </a:rPr>
              <a:t> Grid Search utilizado para encontrar os limiares ideais de ORI que </a:t>
            </a:r>
            <a:pPr algn="l" indent="0" marL="0">
              <a:lnSpc>
                <a:spcPts val="900"/>
              </a:lnSpc>
              <a:buNone/>
            </a:pPr>
            <a:r>
              <a:rPr lang="en-US" sz="727" dirty="0">
                <a:solidFill>
                  <a:srgbClr val="E8EDF2"/>
                </a:solidFill>
                <a:latin typeface="Inter" pitchFamily="34" charset="0"/>
                <a:ea typeface="Inter" pitchFamily="34" charset="-122"/>
                <a:cs typeface="Inter" pitchFamily="34" charset="-120"/>
              </a:rPr>
              <a:t>minimizam o Custo Total (OpEx + Blackout).</a:t>
            </a:r>
            <a:endParaRPr lang="en-US" sz="727"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284214" y="1945779"/>
            <a:ext cx="4575572" cy="857250"/>
          </a:xfrm>
          <a:prstGeom prst="rect">
            <a:avLst/>
          </a:prstGeom>
          <a:noFill/>
          <a:ln/>
        </p:spPr>
        <p:txBody>
          <a:bodyPr wrap="none" lIns="0" tIns="0" rIns="0" bIns="0" rtlCol="0" anchor="t">
            <a:spAutoFit/>
          </a:bodyPr>
          <a:lstStyle/>
          <a:p>
            <a:pPr algn="ctr" indent="0" marL="0">
              <a:lnSpc>
                <a:spcPts val="6800"/>
              </a:lnSpc>
              <a:buNone/>
            </a:pPr>
            <a:r>
              <a:rPr lang="en-US" sz="6218" b="1" dirty="0">
                <a:solidFill>
                  <a:srgbClr val="F2C94C">
                    <a:alpha val="12000"/>
                  </a:srgbClr>
                </a:solidFill>
                <a:latin typeface="Montserrat" pitchFamily="34" charset="0"/>
                <a:ea typeface="Montserrat" pitchFamily="34" charset="-122"/>
                <a:cs typeface="Montserrat" pitchFamily="34" charset="-120"/>
              </a:rPr>
              <a:t>05</a:t>
            </a:r>
            <a:endParaRPr lang="en-US" sz="6218" dirty="0"/>
          </a:p>
        </p:txBody>
      </p:sp>
      <p:sp>
        <p:nvSpPr>
          <p:cNvPr id="5" name="Text 1"/>
          <p:cNvSpPr/>
          <p:nvPr/>
        </p:nvSpPr>
        <p:spPr>
          <a:xfrm>
            <a:off x="2284214" y="2660154"/>
            <a:ext cx="4575572" cy="366117"/>
          </a:xfrm>
          <a:prstGeom prst="rect">
            <a:avLst/>
          </a:prstGeom>
          <a:noFill/>
          <a:ln/>
        </p:spPr>
        <p:txBody>
          <a:bodyPr wrap="none" lIns="0" tIns="0" rIns="0" bIns="0" rtlCol="0" anchor="t">
            <a:spAutoFit/>
          </a:bodyPr>
          <a:lstStyle/>
          <a:p>
            <a:pPr algn="ctr" indent="0" marL="0">
              <a:lnSpc>
                <a:spcPts val="2800"/>
              </a:lnSpc>
              <a:buNone/>
            </a:pPr>
            <a:r>
              <a:rPr lang="en-US" sz="2121" b="1" dirty="0">
                <a:solidFill>
                  <a:srgbClr val="F2C94C"/>
                </a:solidFill>
                <a:latin typeface="Montserrat" pitchFamily="34" charset="0"/>
                <a:ea typeface="Montserrat" pitchFamily="34" charset="-122"/>
                <a:cs typeface="Montserrat" pitchFamily="34" charset="-120"/>
              </a:rPr>
              <a:t>Sistema de Suporte à Decisão</a:t>
            </a:r>
            <a:endParaRPr lang="en-US" sz="212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DASHBOARD INTERATIVO</a:t>
            </a:r>
            <a:endParaRPr lang="en-US" sz="1808" dirty="0"/>
          </a:p>
        </p:txBody>
      </p:sp>
      <p:sp>
        <p:nvSpPr>
          <p:cNvPr id="7" name="Shape 3"/>
          <p:cNvSpPr/>
          <p:nvPr/>
        </p:nvSpPr>
        <p:spPr>
          <a:xfrm>
            <a:off x="428625" y="1169789"/>
            <a:ext cx="3274209" cy="721519"/>
          </a:xfrm>
          <a:prstGeom prst="rect">
            <a:avLst/>
          </a:prstGeom>
          <a:solidFill>
            <a:srgbClr val="001D33">
              <a:alpha val="30000"/>
            </a:srgbClr>
          </a:solidFill>
          <a:ln/>
        </p:spPr>
      </p:sp>
      <p:sp>
        <p:nvSpPr>
          <p:cNvPr id="8" name="Shape 4"/>
          <p:cNvSpPr/>
          <p:nvPr/>
        </p:nvSpPr>
        <p:spPr>
          <a:xfrm>
            <a:off x="428625" y="1169789"/>
            <a:ext cx="28575" cy="721519"/>
          </a:xfrm>
          <a:prstGeom prst="rect">
            <a:avLst/>
          </a:prstGeom>
          <a:solidFill>
            <a:srgbClr val="F2C94C"/>
          </a:solidFill>
          <a:ln/>
        </p:spPr>
      </p:sp>
      <p:sp>
        <p:nvSpPr>
          <p:cNvPr id="9" name="Shape 5"/>
          <p:cNvSpPr/>
          <p:nvPr/>
        </p:nvSpPr>
        <p:spPr>
          <a:xfrm>
            <a:off x="542925" y="1387673"/>
            <a:ext cx="285750" cy="285750"/>
          </a:xfrm>
          <a:prstGeom prst="rect">
            <a:avLst/>
          </a:prstGeom>
          <a:solidFill>
            <a:srgbClr val="F2C94C">
              <a:alpha val="10000"/>
            </a:srgbClr>
          </a:solidFill>
          <a:ln/>
        </p:spPr>
      </p:sp>
      <p:pic>
        <p:nvPicPr>
          <p:cNvPr id="10" name="Image 1" descr="preencoded.png">    </p:cNvPr>
          <p:cNvPicPr>
            <a:picLocks noChangeAspect="1"/>
          </p:cNvPicPr>
          <p:nvPr/>
        </p:nvPicPr>
        <p:blipFill>
          <a:blip r:embed="rId2"/>
          <a:stretch>
            <a:fillRect/>
          </a:stretch>
        </p:blipFill>
        <p:spPr>
          <a:xfrm>
            <a:off x="614363" y="1459111"/>
            <a:ext cx="142875" cy="142875"/>
          </a:xfrm>
          <a:prstGeom prst="rect">
            <a:avLst/>
          </a:prstGeom>
        </p:spPr>
      </p:pic>
      <p:sp>
        <p:nvSpPr>
          <p:cNvPr id="11" name="Text 6"/>
          <p:cNvSpPr/>
          <p:nvPr/>
        </p:nvSpPr>
        <p:spPr>
          <a:xfrm>
            <a:off x="971550" y="1284089"/>
            <a:ext cx="2616984"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Forecasting &amp; ORI</a:t>
            </a:r>
            <a:endParaRPr lang="en-US" sz="885" dirty="0"/>
          </a:p>
        </p:txBody>
      </p:sp>
      <p:sp>
        <p:nvSpPr>
          <p:cNvPr id="12" name="Text 7"/>
          <p:cNvSpPr/>
          <p:nvPr/>
        </p:nvSpPr>
        <p:spPr>
          <a:xfrm>
            <a:off x="971550" y="1476970"/>
            <a:ext cx="261698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Visualização em tempo real das previsões probabilísticas e do nível de risco operacional.</a:t>
            </a:r>
            <a:endParaRPr lang="en-US" sz="780" dirty="0"/>
          </a:p>
        </p:txBody>
      </p:sp>
      <p:sp>
        <p:nvSpPr>
          <p:cNvPr id="13" name="Shape 8"/>
          <p:cNvSpPr/>
          <p:nvPr/>
        </p:nvSpPr>
        <p:spPr>
          <a:xfrm>
            <a:off x="428625" y="2034183"/>
            <a:ext cx="3274209" cy="721519"/>
          </a:xfrm>
          <a:prstGeom prst="rect">
            <a:avLst/>
          </a:prstGeom>
          <a:solidFill>
            <a:srgbClr val="001D33">
              <a:alpha val="30000"/>
            </a:srgbClr>
          </a:solidFill>
          <a:ln/>
        </p:spPr>
      </p:sp>
      <p:sp>
        <p:nvSpPr>
          <p:cNvPr id="14" name="Shape 9"/>
          <p:cNvSpPr/>
          <p:nvPr/>
        </p:nvSpPr>
        <p:spPr>
          <a:xfrm>
            <a:off x="428625" y="2034183"/>
            <a:ext cx="28575" cy="721519"/>
          </a:xfrm>
          <a:prstGeom prst="rect">
            <a:avLst/>
          </a:prstGeom>
          <a:solidFill>
            <a:srgbClr val="F2C94C"/>
          </a:solidFill>
          <a:ln/>
        </p:spPr>
      </p:sp>
      <p:sp>
        <p:nvSpPr>
          <p:cNvPr id="15" name="Shape 10"/>
          <p:cNvSpPr/>
          <p:nvPr/>
        </p:nvSpPr>
        <p:spPr>
          <a:xfrm>
            <a:off x="542925" y="2252067"/>
            <a:ext cx="285750" cy="285750"/>
          </a:xfrm>
          <a:prstGeom prst="rect">
            <a:avLst/>
          </a:prstGeom>
          <a:solidFill>
            <a:srgbClr val="F2C94C">
              <a:alpha val="10000"/>
            </a:srgbClr>
          </a:solidFill>
          <a:ln/>
        </p:spPr>
      </p:sp>
      <p:pic>
        <p:nvPicPr>
          <p:cNvPr id="16" name="Image 2" descr="preencoded.png">    </p:cNvPr>
          <p:cNvPicPr>
            <a:picLocks noChangeAspect="1"/>
          </p:cNvPicPr>
          <p:nvPr/>
        </p:nvPicPr>
        <p:blipFill>
          <a:blip r:embed="rId3"/>
          <a:stretch>
            <a:fillRect/>
          </a:stretch>
        </p:blipFill>
        <p:spPr>
          <a:xfrm>
            <a:off x="614363" y="2323505"/>
            <a:ext cx="142875" cy="142875"/>
          </a:xfrm>
          <a:prstGeom prst="rect">
            <a:avLst/>
          </a:prstGeom>
        </p:spPr>
      </p:pic>
      <p:sp>
        <p:nvSpPr>
          <p:cNvPr id="17" name="Text 11"/>
          <p:cNvSpPr/>
          <p:nvPr/>
        </p:nvSpPr>
        <p:spPr>
          <a:xfrm>
            <a:off x="971550" y="2148483"/>
            <a:ext cx="2616984"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Análise Econômica</a:t>
            </a:r>
            <a:endParaRPr lang="en-US" sz="885" dirty="0"/>
          </a:p>
        </p:txBody>
      </p:sp>
      <p:sp>
        <p:nvSpPr>
          <p:cNvPr id="18" name="Text 12"/>
          <p:cNvSpPr/>
          <p:nvPr/>
        </p:nvSpPr>
        <p:spPr>
          <a:xfrm>
            <a:off x="971550" y="2341364"/>
            <a:ext cx="261698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Monitoramento contínuo dos custos operacionais acumulados e comparativo entre estratégias.</a:t>
            </a:r>
            <a:endParaRPr lang="en-US" sz="780" dirty="0"/>
          </a:p>
        </p:txBody>
      </p:sp>
      <p:sp>
        <p:nvSpPr>
          <p:cNvPr id="19" name="Shape 13"/>
          <p:cNvSpPr/>
          <p:nvPr/>
        </p:nvSpPr>
        <p:spPr>
          <a:xfrm>
            <a:off x="428625" y="2898577"/>
            <a:ext cx="3274209" cy="721519"/>
          </a:xfrm>
          <a:prstGeom prst="rect">
            <a:avLst/>
          </a:prstGeom>
          <a:solidFill>
            <a:srgbClr val="001D33">
              <a:alpha val="30000"/>
            </a:srgbClr>
          </a:solidFill>
          <a:ln/>
        </p:spPr>
      </p:sp>
      <p:sp>
        <p:nvSpPr>
          <p:cNvPr id="20" name="Shape 14"/>
          <p:cNvSpPr/>
          <p:nvPr/>
        </p:nvSpPr>
        <p:spPr>
          <a:xfrm>
            <a:off x="428625" y="2898577"/>
            <a:ext cx="28575" cy="721519"/>
          </a:xfrm>
          <a:prstGeom prst="rect">
            <a:avLst/>
          </a:prstGeom>
          <a:solidFill>
            <a:srgbClr val="F2C94C"/>
          </a:solidFill>
          <a:ln/>
        </p:spPr>
      </p:sp>
      <p:sp>
        <p:nvSpPr>
          <p:cNvPr id="21" name="Shape 15"/>
          <p:cNvSpPr/>
          <p:nvPr/>
        </p:nvSpPr>
        <p:spPr>
          <a:xfrm>
            <a:off x="542925" y="3116461"/>
            <a:ext cx="285750" cy="285750"/>
          </a:xfrm>
          <a:prstGeom prst="rect">
            <a:avLst/>
          </a:prstGeom>
          <a:solidFill>
            <a:srgbClr val="F2C94C">
              <a:alpha val="10000"/>
            </a:srgbClr>
          </a:solidFill>
          <a:ln/>
        </p:spPr>
      </p:sp>
      <p:pic>
        <p:nvPicPr>
          <p:cNvPr id="22" name="Image 3" descr="preencoded.png">    </p:cNvPr>
          <p:cNvPicPr>
            <a:picLocks noChangeAspect="1"/>
          </p:cNvPicPr>
          <p:nvPr/>
        </p:nvPicPr>
        <p:blipFill>
          <a:blip r:embed="rId4"/>
          <a:stretch>
            <a:fillRect/>
          </a:stretch>
        </p:blipFill>
        <p:spPr>
          <a:xfrm>
            <a:off x="596503" y="3187898"/>
            <a:ext cx="178594" cy="142875"/>
          </a:xfrm>
          <a:prstGeom prst="rect">
            <a:avLst/>
          </a:prstGeom>
        </p:spPr>
      </p:pic>
      <p:sp>
        <p:nvSpPr>
          <p:cNvPr id="23" name="Text 16"/>
          <p:cNvSpPr/>
          <p:nvPr/>
        </p:nvSpPr>
        <p:spPr>
          <a:xfrm>
            <a:off x="971550" y="3012877"/>
            <a:ext cx="2616984"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AI Copilot Integrado</a:t>
            </a:r>
            <a:endParaRPr lang="en-US" sz="885" dirty="0"/>
          </a:p>
        </p:txBody>
      </p:sp>
      <p:sp>
        <p:nvSpPr>
          <p:cNvPr id="24" name="Text 17"/>
          <p:cNvSpPr/>
          <p:nvPr/>
        </p:nvSpPr>
        <p:spPr>
          <a:xfrm>
            <a:off x="971550" y="3205758"/>
            <a:ext cx="2616984"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Assistente inteligente para interpretação de dados e suporte à decisão via chat.</a:t>
            </a:r>
            <a:endParaRPr lang="en-US" sz="780" dirty="0"/>
          </a:p>
        </p:txBody>
      </p:sp>
      <p:sp>
        <p:nvSpPr>
          <p:cNvPr id="25" name="Text 18"/>
          <p:cNvSpPr/>
          <p:nvPr/>
        </p:nvSpPr>
        <p:spPr>
          <a:xfrm>
            <a:off x="428625" y="3848695"/>
            <a:ext cx="3274209" cy="191095"/>
          </a:xfrm>
          <a:prstGeom prst="rect">
            <a:avLst/>
          </a:prstGeom>
          <a:noFill/>
          <a:ln/>
        </p:spPr>
        <p:txBody>
          <a:bodyPr wrap="square" lIns="0" tIns="68072" rIns="0" bIns="0" rtlCol="0" anchor="t">
            <a:spAutoFit/>
          </a:bodyPr>
          <a:lstStyle/>
          <a:p>
            <a:pPr algn="l" indent="0" marL="0">
              <a:lnSpc>
                <a:spcPts val="900"/>
              </a:lnSpc>
              <a:buNone/>
            </a:pPr>
            <a:r>
              <a:rPr lang="en-US" sz="674" dirty="0">
                <a:solidFill>
                  <a:srgbClr val="E8EDF2">
                    <a:alpha val="50000"/>
                  </a:srgbClr>
                </a:solidFill>
                <a:latin typeface="JetBrains Mono" pitchFamily="34" charset="0"/>
                <a:ea typeface="JetBrains Mono" pitchFamily="34" charset="-122"/>
                <a:cs typeface="JetBrains Mono" pitchFamily="34" charset="-120"/>
              </a:rPr>
              <a:t>Built with: Python, Streamlit, Plotly, LangChain</a:t>
            </a:r>
            <a:endParaRPr lang="en-US" sz="674" dirty="0"/>
          </a:p>
        </p:txBody>
      </p:sp>
      <p:sp>
        <p:nvSpPr>
          <p:cNvPr id="26" name="Shape 19"/>
          <p:cNvSpPr/>
          <p:nvPr/>
        </p:nvSpPr>
        <p:spPr>
          <a:xfrm>
            <a:off x="4131459" y="1169789"/>
            <a:ext cx="4583888" cy="2870002"/>
          </a:xfrm>
          <a:prstGeom prst="rect">
            <a:avLst/>
          </a:prstGeom>
          <a:solidFill>
            <a:srgbClr val="F2C94C">
              <a:alpha val="5000"/>
            </a:srgbClr>
          </a:solidFill>
          <a:ln w="18288">
            <a:solidFill>
              <a:srgbClr val="F2C94C">
                <a:alpha val="50000"/>
              </a:srgbClr>
            </a:solidFill>
            <a:prstDash val="dash"/>
          </a:ln>
        </p:spPr>
      </p:sp>
      <p:pic>
        <p:nvPicPr>
          <p:cNvPr id="27" name="Image 4" descr="preencoded.png">    </p:cNvPr>
          <p:cNvPicPr>
            <a:picLocks noChangeAspect="1"/>
          </p:cNvPicPr>
          <p:nvPr/>
        </p:nvPicPr>
        <p:blipFill>
          <a:blip r:embed="rId5">
            <a:alphaModFix amt="80000"/>
          </a:blip>
          <a:stretch>
            <a:fillRect/>
          </a:stretch>
        </p:blipFill>
        <p:spPr>
          <a:xfrm>
            <a:off x="6198375" y="2168128"/>
            <a:ext cx="450056" cy="400050"/>
          </a:xfrm>
          <a:prstGeom prst="rect">
            <a:avLst/>
          </a:prstGeom>
        </p:spPr>
      </p:pic>
      <p:sp>
        <p:nvSpPr>
          <p:cNvPr id="28" name="Text 20"/>
          <p:cNvSpPr/>
          <p:nvPr/>
        </p:nvSpPr>
        <p:spPr>
          <a:xfrm>
            <a:off x="5217895" y="2682478"/>
            <a:ext cx="2411016"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6.12 da Dissertação</a:t>
            </a:r>
            <a:endParaRPr lang="en-US" sz="987" dirty="0"/>
          </a:p>
        </p:txBody>
      </p:sp>
      <p:sp>
        <p:nvSpPr>
          <p:cNvPr id="29" name="Text 21"/>
          <p:cNvSpPr/>
          <p:nvPr/>
        </p:nvSpPr>
        <p:spPr>
          <a:xfrm>
            <a:off x="4853564" y="2912864"/>
            <a:ext cx="3139678" cy="128588"/>
          </a:xfrm>
          <a:prstGeom prst="rect">
            <a:avLst/>
          </a:prstGeom>
          <a:noFill/>
          <a:ln/>
        </p:spPr>
        <p:txBody>
          <a:bodyPr wrap="non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Screenshot da interface principal do Dashboard desenvolvido</a:t>
            </a:r>
            <a:endParaRPr lang="en-US" sz="780" dirty="0"/>
          </a:p>
        </p:txBody>
      </p:sp>
      <p:sp>
        <p:nvSpPr>
          <p:cNvPr id="30" name="Text 22"/>
          <p:cNvSpPr/>
          <p:nvPr/>
        </p:nvSpPr>
        <p:spPr>
          <a:xfrm>
            <a:off x="4131459" y="4125516"/>
            <a:ext cx="4583888"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AI COPILOT: ARQUITETURA HÍBRIDA</a:t>
            </a:r>
            <a:endParaRPr lang="en-US" sz="1808" dirty="0"/>
          </a:p>
        </p:txBody>
      </p:sp>
      <p:sp>
        <p:nvSpPr>
          <p:cNvPr id="7" name="Shape 3"/>
          <p:cNvSpPr/>
          <p:nvPr/>
        </p:nvSpPr>
        <p:spPr>
          <a:xfrm>
            <a:off x="428625" y="1169789"/>
            <a:ext cx="3571875" cy="800100"/>
          </a:xfrm>
          <a:prstGeom prst="rect">
            <a:avLst/>
          </a:prstGeom>
          <a:solidFill>
            <a:srgbClr val="001D33">
              <a:alpha val="30000"/>
            </a:srgbClr>
          </a:solidFill>
          <a:ln w="9144">
            <a:solidFill>
              <a:srgbClr val="F2C94C">
                <a:alpha val="20000"/>
              </a:srgbClr>
            </a:solidFill>
            <a:prstDash val="solid"/>
          </a:ln>
        </p:spPr>
      </p:sp>
      <p:pic>
        <p:nvPicPr>
          <p:cNvPr id="8" name="Image 1" descr="preencoded.png">    </p:cNvPr>
          <p:cNvPicPr>
            <a:picLocks noChangeAspect="1"/>
          </p:cNvPicPr>
          <p:nvPr/>
        </p:nvPicPr>
        <p:blipFill>
          <a:blip r:embed="rId2"/>
          <a:stretch>
            <a:fillRect/>
          </a:stretch>
        </p:blipFill>
        <p:spPr>
          <a:xfrm>
            <a:off x="592931" y="1350169"/>
            <a:ext cx="171450" cy="171450"/>
          </a:xfrm>
          <a:prstGeom prst="rect">
            <a:avLst/>
          </a:prstGeom>
        </p:spPr>
      </p:pic>
      <p:sp>
        <p:nvSpPr>
          <p:cNvPr id="9" name="Text 4"/>
          <p:cNvSpPr/>
          <p:nvPr/>
        </p:nvSpPr>
        <p:spPr>
          <a:xfrm>
            <a:off x="892969" y="1312664"/>
            <a:ext cx="2964656"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Reasoning Engine (LLM)</a:t>
            </a:r>
            <a:endParaRPr lang="en-US" sz="885" dirty="0"/>
          </a:p>
        </p:txBody>
      </p:sp>
      <p:sp>
        <p:nvSpPr>
          <p:cNvPr id="10" name="Text 5"/>
          <p:cNvSpPr/>
          <p:nvPr/>
        </p:nvSpPr>
        <p:spPr>
          <a:xfrm>
            <a:off x="892969" y="1512689"/>
            <a:ext cx="2964656"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O núcleo cognitivo que interpreta a intenção do usuário e orquestra a chamada de ferramentas.</a:t>
            </a:r>
            <a:endParaRPr lang="en-US" sz="780" dirty="0"/>
          </a:p>
        </p:txBody>
      </p:sp>
      <p:sp>
        <p:nvSpPr>
          <p:cNvPr id="11" name="Shape 6"/>
          <p:cNvSpPr/>
          <p:nvPr/>
        </p:nvSpPr>
        <p:spPr>
          <a:xfrm>
            <a:off x="428625" y="2169914"/>
            <a:ext cx="3571875" cy="950119"/>
          </a:xfrm>
          <a:prstGeom prst="rect">
            <a:avLst/>
          </a:prstGeom>
          <a:solidFill>
            <a:srgbClr val="001D33">
              <a:alpha val="30000"/>
            </a:srgbClr>
          </a:solidFill>
          <a:ln w="9144">
            <a:solidFill>
              <a:srgbClr val="F2C94C">
                <a:alpha val="20000"/>
              </a:srgbClr>
            </a:solidFill>
            <a:prstDash val="solid"/>
          </a:ln>
        </p:spPr>
      </p:sp>
      <p:pic>
        <p:nvPicPr>
          <p:cNvPr id="12" name="Image 2" descr="preencoded.png">    </p:cNvPr>
          <p:cNvPicPr>
            <a:picLocks noChangeAspect="1"/>
          </p:cNvPicPr>
          <p:nvPr/>
        </p:nvPicPr>
        <p:blipFill>
          <a:blip r:embed="rId3"/>
          <a:stretch>
            <a:fillRect/>
          </a:stretch>
        </p:blipFill>
        <p:spPr>
          <a:xfrm>
            <a:off x="603647" y="2350294"/>
            <a:ext cx="150019" cy="171450"/>
          </a:xfrm>
          <a:prstGeom prst="rect">
            <a:avLst/>
          </a:prstGeom>
        </p:spPr>
      </p:pic>
      <p:sp>
        <p:nvSpPr>
          <p:cNvPr id="13" name="Text 7"/>
          <p:cNvSpPr/>
          <p:nvPr/>
        </p:nvSpPr>
        <p:spPr>
          <a:xfrm>
            <a:off x="892969" y="2312789"/>
            <a:ext cx="2964656"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RAG (Retrieval-Augmented Generation)</a:t>
            </a:r>
            <a:endParaRPr lang="en-US" sz="885" dirty="0"/>
          </a:p>
        </p:txBody>
      </p:sp>
      <p:sp>
        <p:nvSpPr>
          <p:cNvPr id="14" name="Text 8"/>
          <p:cNvSpPr/>
          <p:nvPr/>
        </p:nvSpPr>
        <p:spPr>
          <a:xfrm>
            <a:off x="892969" y="2512814"/>
            <a:ext cx="2964656" cy="450056"/>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Acesso a conhecimento estático (manuais, normas, a própria dissertação) para fundamentar respostas teóricas.</a:t>
            </a:r>
            <a:endParaRPr lang="en-US" sz="780" dirty="0"/>
          </a:p>
        </p:txBody>
      </p:sp>
      <p:sp>
        <p:nvSpPr>
          <p:cNvPr id="15" name="Shape 9"/>
          <p:cNvSpPr/>
          <p:nvPr/>
        </p:nvSpPr>
        <p:spPr>
          <a:xfrm>
            <a:off x="428625" y="3320058"/>
            <a:ext cx="3571875" cy="1564481"/>
          </a:xfrm>
          <a:prstGeom prst="rect">
            <a:avLst/>
          </a:prstGeom>
          <a:solidFill>
            <a:srgbClr val="001D33">
              <a:alpha val="30000"/>
            </a:srgbClr>
          </a:solidFill>
          <a:ln w="9144">
            <a:solidFill>
              <a:srgbClr val="F2C94C">
                <a:alpha val="20000"/>
              </a:srgbClr>
            </a:solidFill>
            <a:prstDash val="solid"/>
          </a:ln>
        </p:spPr>
      </p:sp>
      <p:pic>
        <p:nvPicPr>
          <p:cNvPr id="16" name="Image 3" descr="preencoded.png">    </p:cNvPr>
          <p:cNvPicPr>
            <a:picLocks noChangeAspect="1"/>
          </p:cNvPicPr>
          <p:nvPr/>
        </p:nvPicPr>
        <p:blipFill>
          <a:blip r:embed="rId4"/>
          <a:stretch>
            <a:fillRect/>
          </a:stretch>
        </p:blipFill>
        <p:spPr>
          <a:xfrm>
            <a:off x="592931" y="3500438"/>
            <a:ext cx="171450" cy="171450"/>
          </a:xfrm>
          <a:prstGeom prst="rect">
            <a:avLst/>
          </a:prstGeom>
        </p:spPr>
      </p:pic>
      <p:sp>
        <p:nvSpPr>
          <p:cNvPr id="17" name="Text 10"/>
          <p:cNvSpPr/>
          <p:nvPr/>
        </p:nvSpPr>
        <p:spPr>
          <a:xfrm>
            <a:off x="892969" y="3462933"/>
            <a:ext cx="2964656"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Montserrat" pitchFamily="34" charset="0"/>
                <a:ea typeface="Montserrat" pitchFamily="34" charset="-122"/>
                <a:cs typeface="Montserrat" pitchFamily="34" charset="-120"/>
              </a:rPr>
              <a:t>Tool-Using Framework</a:t>
            </a:r>
            <a:endParaRPr lang="en-US" sz="885" dirty="0"/>
          </a:p>
        </p:txBody>
      </p:sp>
      <p:sp>
        <p:nvSpPr>
          <p:cNvPr id="18" name="Text 11"/>
          <p:cNvSpPr/>
          <p:nvPr/>
        </p:nvSpPr>
        <p:spPr>
          <a:xfrm>
            <a:off x="892969" y="3662958"/>
            <a:ext cx="2964656" cy="150019"/>
          </a:xfrm>
          <a:prstGeom prst="rect">
            <a:avLst/>
          </a:prstGeom>
          <a:noFill/>
          <a:ln/>
        </p:spPr>
        <p:txBody>
          <a:bodyPr wrap="none" lIns="0" tIns="0" rIns="0" bIns="0" rtlCol="0" anchor="t">
            <a:spAutoFit/>
          </a:bodyPr>
          <a:lstStyle/>
          <a:p>
            <a:pPr algn="l" indent="0" marL="0">
              <a:lnSpc>
                <a:spcPts val="1200"/>
              </a:lnSpc>
              <a:buNone/>
            </a:pPr>
            <a:r>
              <a:rPr lang="en-US" sz="780" dirty="0">
                <a:solidFill>
                  <a:srgbClr val="E8EDF2">
                    <a:alpha val="80000"/>
                  </a:srgbClr>
                </a:solidFill>
                <a:latin typeface="Inter" pitchFamily="34" charset="0"/>
                <a:ea typeface="Inter" pitchFamily="34" charset="-122"/>
                <a:cs typeface="Inter" pitchFamily="34" charset="-120"/>
              </a:rPr>
              <a:t>Capacidade de executar ações dinâmicas no ambiente.</a:t>
            </a:r>
            <a:endParaRPr lang="en-US" sz="780" dirty="0"/>
          </a:p>
        </p:txBody>
      </p:sp>
      <p:sp>
        <p:nvSpPr>
          <p:cNvPr id="19" name="Text 12"/>
          <p:cNvSpPr/>
          <p:nvPr/>
        </p:nvSpPr>
        <p:spPr>
          <a:xfrm>
            <a:off x="892969" y="3884414"/>
            <a:ext cx="2964656" cy="139303"/>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F2C94C"/>
                </a:solidFill>
                <a:latin typeface="Montserrat" pitchFamily="34" charset="0"/>
                <a:ea typeface="Montserrat" pitchFamily="34" charset="-122"/>
                <a:cs typeface="Montserrat" pitchFamily="34" charset="-120"/>
              </a:rPr>
              <a:t>4 FERRAMENTAS DISPONÍVEIS:</a:t>
            </a:r>
            <a:endParaRPr lang="en-US" sz="784" dirty="0"/>
          </a:p>
        </p:txBody>
      </p:sp>
      <p:sp>
        <p:nvSpPr>
          <p:cNvPr id="20" name="Shape 13"/>
          <p:cNvSpPr/>
          <p:nvPr/>
        </p:nvSpPr>
        <p:spPr>
          <a:xfrm>
            <a:off x="892969" y="4109442"/>
            <a:ext cx="1439466" cy="266105"/>
          </a:xfrm>
          <a:prstGeom prst="rect">
            <a:avLst/>
          </a:prstGeom>
          <a:solidFill>
            <a:srgbClr val="F2C94C">
              <a:alpha val="10000"/>
            </a:srgbClr>
          </a:solidFill>
          <a:ln/>
        </p:spPr>
      </p:sp>
      <p:pic>
        <p:nvPicPr>
          <p:cNvPr id="21" name="Image 4" descr="preencoded.png">    </p:cNvPr>
          <p:cNvPicPr>
            <a:picLocks noChangeAspect="1"/>
          </p:cNvPicPr>
          <p:nvPr/>
        </p:nvPicPr>
        <p:blipFill>
          <a:blip r:embed="rId5"/>
          <a:stretch>
            <a:fillRect/>
          </a:stretch>
        </p:blipFill>
        <p:spPr>
          <a:xfrm>
            <a:off x="1000125" y="4196060"/>
            <a:ext cx="82153" cy="92869"/>
          </a:xfrm>
          <a:prstGeom prst="rect">
            <a:avLst/>
          </a:prstGeom>
        </p:spPr>
      </p:pic>
      <p:sp>
        <p:nvSpPr>
          <p:cNvPr id="22" name="Text 14"/>
          <p:cNvSpPr/>
          <p:nvPr/>
        </p:nvSpPr>
        <p:spPr>
          <a:xfrm>
            <a:off x="1139428" y="4180880"/>
            <a:ext cx="553641" cy="123230"/>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solidFill>
                <a:latin typeface="JetBrains Mono" pitchFamily="34" charset="0"/>
                <a:ea typeface="JetBrains Mono" pitchFamily="34" charset="-122"/>
                <a:cs typeface="JetBrains Mono" pitchFamily="34" charset="-120"/>
              </a:rPr>
              <a:t>Data Query</a:t>
            </a:r>
            <a:endParaRPr lang="en-US" sz="674" dirty="0"/>
          </a:p>
        </p:txBody>
      </p:sp>
      <p:sp>
        <p:nvSpPr>
          <p:cNvPr id="23" name="Shape 15"/>
          <p:cNvSpPr/>
          <p:nvPr/>
        </p:nvSpPr>
        <p:spPr>
          <a:xfrm>
            <a:off x="2418159" y="4109442"/>
            <a:ext cx="1439466" cy="266105"/>
          </a:xfrm>
          <a:prstGeom prst="rect">
            <a:avLst/>
          </a:prstGeom>
          <a:solidFill>
            <a:srgbClr val="F2C94C">
              <a:alpha val="10000"/>
            </a:srgbClr>
          </a:solidFill>
          <a:ln/>
        </p:spPr>
      </p:sp>
      <p:pic>
        <p:nvPicPr>
          <p:cNvPr id="24" name="Image 5" descr="preencoded.png">    </p:cNvPr>
          <p:cNvPicPr>
            <a:picLocks noChangeAspect="1"/>
          </p:cNvPicPr>
          <p:nvPr/>
        </p:nvPicPr>
        <p:blipFill>
          <a:blip r:embed="rId6"/>
          <a:stretch>
            <a:fillRect/>
          </a:stretch>
        </p:blipFill>
        <p:spPr>
          <a:xfrm>
            <a:off x="2525316" y="4196060"/>
            <a:ext cx="92869" cy="92869"/>
          </a:xfrm>
          <a:prstGeom prst="rect">
            <a:avLst/>
          </a:prstGeom>
        </p:spPr>
      </p:pic>
      <p:sp>
        <p:nvSpPr>
          <p:cNvPr id="25" name="Text 16"/>
          <p:cNvSpPr/>
          <p:nvPr/>
        </p:nvSpPr>
        <p:spPr>
          <a:xfrm>
            <a:off x="2675334" y="4180880"/>
            <a:ext cx="442913" cy="123230"/>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solidFill>
                <a:latin typeface="JetBrains Mono" pitchFamily="34" charset="0"/>
                <a:ea typeface="JetBrains Mono" pitchFamily="34" charset="-122"/>
                <a:cs typeface="JetBrains Mono" pitchFamily="34" charset="-120"/>
              </a:rPr>
              <a:t>Forecast</a:t>
            </a:r>
            <a:endParaRPr lang="en-US" sz="674" dirty="0"/>
          </a:p>
        </p:txBody>
      </p:sp>
      <p:sp>
        <p:nvSpPr>
          <p:cNvPr id="26" name="Shape 17"/>
          <p:cNvSpPr/>
          <p:nvPr/>
        </p:nvSpPr>
        <p:spPr>
          <a:xfrm>
            <a:off x="892969" y="4461272"/>
            <a:ext cx="1439466" cy="266105"/>
          </a:xfrm>
          <a:prstGeom prst="rect">
            <a:avLst/>
          </a:prstGeom>
          <a:solidFill>
            <a:srgbClr val="F2C94C">
              <a:alpha val="10000"/>
            </a:srgbClr>
          </a:solidFill>
          <a:ln/>
        </p:spPr>
      </p:sp>
      <p:pic>
        <p:nvPicPr>
          <p:cNvPr id="27" name="Image 6" descr="preencoded.png">    </p:cNvPr>
          <p:cNvPicPr>
            <a:picLocks noChangeAspect="1"/>
          </p:cNvPicPr>
          <p:nvPr/>
        </p:nvPicPr>
        <p:blipFill>
          <a:blip r:embed="rId7"/>
          <a:stretch>
            <a:fillRect/>
          </a:stretch>
        </p:blipFill>
        <p:spPr>
          <a:xfrm>
            <a:off x="1000125" y="4547890"/>
            <a:ext cx="69652" cy="92869"/>
          </a:xfrm>
          <a:prstGeom prst="rect">
            <a:avLst/>
          </a:prstGeom>
        </p:spPr>
      </p:pic>
      <p:sp>
        <p:nvSpPr>
          <p:cNvPr id="28" name="Text 18"/>
          <p:cNvSpPr/>
          <p:nvPr/>
        </p:nvSpPr>
        <p:spPr>
          <a:xfrm>
            <a:off x="1126927" y="4532709"/>
            <a:ext cx="498277" cy="123230"/>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solidFill>
                <a:latin typeface="JetBrains Mono" pitchFamily="34" charset="0"/>
                <a:ea typeface="JetBrains Mono" pitchFamily="34" charset="-122"/>
                <a:cs typeface="JetBrains Mono" pitchFamily="34" charset="-120"/>
              </a:rPr>
              <a:t>Risk Calc</a:t>
            </a:r>
            <a:endParaRPr lang="en-US" sz="674" dirty="0"/>
          </a:p>
        </p:txBody>
      </p:sp>
      <p:sp>
        <p:nvSpPr>
          <p:cNvPr id="29" name="Shape 19"/>
          <p:cNvSpPr/>
          <p:nvPr/>
        </p:nvSpPr>
        <p:spPr>
          <a:xfrm>
            <a:off x="2418159" y="4461272"/>
            <a:ext cx="1439466" cy="266105"/>
          </a:xfrm>
          <a:prstGeom prst="rect">
            <a:avLst/>
          </a:prstGeom>
          <a:solidFill>
            <a:srgbClr val="F2C94C">
              <a:alpha val="10000"/>
            </a:srgbClr>
          </a:solidFill>
          <a:ln/>
        </p:spPr>
      </p:sp>
      <p:pic>
        <p:nvPicPr>
          <p:cNvPr id="30" name="Image 7" descr="preencoded.png">    </p:cNvPr>
          <p:cNvPicPr>
            <a:picLocks noChangeAspect="1"/>
          </p:cNvPicPr>
          <p:nvPr/>
        </p:nvPicPr>
        <p:blipFill>
          <a:blip r:embed="rId8"/>
          <a:stretch>
            <a:fillRect/>
          </a:stretch>
        </p:blipFill>
        <p:spPr>
          <a:xfrm>
            <a:off x="2525316" y="4547890"/>
            <a:ext cx="69652" cy="92869"/>
          </a:xfrm>
          <a:prstGeom prst="rect">
            <a:avLst/>
          </a:prstGeom>
        </p:spPr>
      </p:pic>
      <p:sp>
        <p:nvSpPr>
          <p:cNvPr id="31" name="Text 20"/>
          <p:cNvSpPr/>
          <p:nvPr/>
        </p:nvSpPr>
        <p:spPr>
          <a:xfrm>
            <a:off x="2652117" y="4532709"/>
            <a:ext cx="332184" cy="123230"/>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solidFill>
                <a:latin typeface="JetBrains Mono" pitchFamily="34" charset="0"/>
                <a:ea typeface="JetBrains Mono" pitchFamily="34" charset="-122"/>
                <a:cs typeface="JetBrains Mono" pitchFamily="34" charset="-120"/>
              </a:rPr>
              <a:t>Report</a:t>
            </a:r>
            <a:endParaRPr lang="en-US" sz="674" dirty="0"/>
          </a:p>
        </p:txBody>
      </p:sp>
      <p:sp>
        <p:nvSpPr>
          <p:cNvPr id="32" name="Shape 21"/>
          <p:cNvSpPr/>
          <p:nvPr/>
        </p:nvSpPr>
        <p:spPr>
          <a:xfrm>
            <a:off x="4429125" y="1169789"/>
            <a:ext cx="4286250" cy="3700463"/>
          </a:xfrm>
          <a:prstGeom prst="rect">
            <a:avLst/>
          </a:prstGeom>
          <a:solidFill>
            <a:srgbClr val="F2C94C">
              <a:alpha val="5000"/>
            </a:srgbClr>
          </a:solidFill>
          <a:ln w="18288">
            <a:solidFill>
              <a:srgbClr val="F2C94C">
                <a:alpha val="50000"/>
              </a:srgbClr>
            </a:solidFill>
            <a:prstDash val="dash"/>
          </a:ln>
        </p:spPr>
      </p:sp>
      <p:pic>
        <p:nvPicPr>
          <p:cNvPr id="33" name="Image 8" descr="preencoded.png">    </p:cNvPr>
          <p:cNvPicPr>
            <a:picLocks noChangeAspect="1"/>
          </p:cNvPicPr>
          <p:nvPr/>
        </p:nvPicPr>
        <p:blipFill>
          <a:blip r:embed="rId9">
            <a:alphaModFix amt="80000"/>
          </a:blip>
          <a:stretch>
            <a:fillRect/>
          </a:stretch>
        </p:blipFill>
        <p:spPr>
          <a:xfrm>
            <a:off x="6347222" y="2497634"/>
            <a:ext cx="450056" cy="400050"/>
          </a:xfrm>
          <a:prstGeom prst="rect">
            <a:avLst/>
          </a:prstGeom>
        </p:spPr>
      </p:pic>
      <p:sp>
        <p:nvSpPr>
          <p:cNvPr id="34" name="Text 22"/>
          <p:cNvSpPr/>
          <p:nvPr/>
        </p:nvSpPr>
        <p:spPr>
          <a:xfrm>
            <a:off x="5390852" y="3040559"/>
            <a:ext cx="2362795"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5.8 da Dissertação</a:t>
            </a:r>
            <a:endParaRPr lang="en-US" sz="987" dirty="0"/>
          </a:p>
        </p:txBody>
      </p:sp>
      <p:sp>
        <p:nvSpPr>
          <p:cNvPr id="35" name="Text 23"/>
          <p:cNvSpPr/>
          <p:nvPr/>
        </p:nvSpPr>
        <p:spPr>
          <a:xfrm>
            <a:off x="5086350" y="3285232"/>
            <a:ext cx="2971800"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Diagrama da arquitetura do AI Copilot: Fluxo entre Usuário, LLM, RAG e Tools</a:t>
            </a:r>
            <a:endParaRPr lang="en-US" sz="780" dirty="0"/>
          </a:p>
        </p:txBody>
      </p:sp>
      <p:sp>
        <p:nvSpPr>
          <p:cNvPr id="36" name="Text 24"/>
          <p:cNvSpPr/>
          <p:nvPr/>
        </p:nvSpPr>
        <p:spPr>
          <a:xfrm>
            <a:off x="4429125" y="4955977"/>
            <a:ext cx="428625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AGENTES PROATIVO E INTERATIVO</a:t>
            </a:r>
            <a:endParaRPr lang="en-US" sz="1808" dirty="0"/>
          </a:p>
        </p:txBody>
      </p:sp>
      <p:sp>
        <p:nvSpPr>
          <p:cNvPr id="7" name="Shape 3"/>
          <p:cNvSpPr/>
          <p:nvPr/>
        </p:nvSpPr>
        <p:spPr>
          <a:xfrm>
            <a:off x="428625" y="1169789"/>
            <a:ext cx="4000500" cy="3571875"/>
          </a:xfrm>
          <a:prstGeom prst="rect">
            <a:avLst/>
          </a:prstGeom>
          <a:solidFill>
            <a:srgbClr val="001D33">
              <a:alpha val="30000"/>
            </a:srgbClr>
          </a:solidFill>
          <a:ln w="9144">
            <a:solidFill>
              <a:srgbClr val="F2C94C">
                <a:alpha val="20000"/>
              </a:srgbClr>
            </a:solidFill>
            <a:prstDash val="solid"/>
          </a:ln>
        </p:spPr>
      </p:sp>
      <p:pic>
        <p:nvPicPr>
          <p:cNvPr id="8" name="Image 1" descr="preencoded.png">    </p:cNvPr>
          <p:cNvPicPr>
            <a:picLocks noChangeAspect="1"/>
          </p:cNvPicPr>
          <p:nvPr/>
        </p:nvPicPr>
        <p:blipFill>
          <a:blip r:embed="rId2"/>
          <a:stretch>
            <a:fillRect/>
          </a:stretch>
        </p:blipFill>
        <p:spPr>
          <a:xfrm>
            <a:off x="625078" y="1368028"/>
            <a:ext cx="250031" cy="200025"/>
          </a:xfrm>
          <a:prstGeom prst="rect">
            <a:avLst/>
          </a:prstGeom>
        </p:spPr>
      </p:pic>
      <p:sp>
        <p:nvSpPr>
          <p:cNvPr id="9" name="Text 4"/>
          <p:cNvSpPr/>
          <p:nvPr/>
        </p:nvSpPr>
        <p:spPr>
          <a:xfrm>
            <a:off x="1000125" y="1374279"/>
            <a:ext cx="1337667"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Agente Proativo</a:t>
            </a:r>
            <a:endParaRPr lang="en-US" sz="1090" dirty="0"/>
          </a:p>
        </p:txBody>
      </p:sp>
      <p:sp>
        <p:nvSpPr>
          <p:cNvPr id="10" name="Text 5"/>
          <p:cNvSpPr/>
          <p:nvPr/>
        </p:nvSpPr>
        <p:spPr>
          <a:xfrm>
            <a:off x="607219" y="1812727"/>
            <a:ext cx="3643313" cy="50006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Atua como um vigilante autônomo (Watchdog). Monitora continuamente as previsões e o ORI, enviando alertas automáticos via Telegram/Email quando riscos são detectados.</a:t>
            </a:r>
            <a:endParaRPr lang="en-US" sz="780" dirty="0"/>
          </a:p>
        </p:txBody>
      </p:sp>
      <p:sp>
        <p:nvSpPr>
          <p:cNvPr id="11" name="Shape 6"/>
          <p:cNvSpPr/>
          <p:nvPr/>
        </p:nvSpPr>
        <p:spPr>
          <a:xfrm>
            <a:off x="607219" y="2455664"/>
            <a:ext cx="3643313" cy="1939528"/>
          </a:xfrm>
          <a:prstGeom prst="rect">
            <a:avLst/>
          </a:prstGeom>
          <a:solidFill>
            <a:srgbClr val="F2C94C">
              <a:alpha val="5000"/>
            </a:srgbClr>
          </a:solidFill>
          <a:ln w="18288">
            <a:solidFill>
              <a:srgbClr val="F2C94C">
                <a:alpha val="50000"/>
              </a:srgbClr>
            </a:solidFill>
            <a:prstDash val="dash"/>
          </a:ln>
        </p:spPr>
      </p:sp>
      <p:pic>
        <p:nvPicPr>
          <p:cNvPr id="12" name="Image 2" descr="preencoded.png">    </p:cNvPr>
          <p:cNvPicPr>
            <a:picLocks noChangeAspect="1"/>
          </p:cNvPicPr>
          <p:nvPr/>
        </p:nvPicPr>
        <p:blipFill>
          <a:blip r:embed="rId3">
            <a:alphaModFix amt="80000"/>
          </a:blip>
          <a:stretch>
            <a:fillRect/>
          </a:stretch>
        </p:blipFill>
        <p:spPr>
          <a:xfrm>
            <a:off x="2303859" y="3085207"/>
            <a:ext cx="250031" cy="285750"/>
          </a:xfrm>
          <a:prstGeom prst="rect">
            <a:avLst/>
          </a:prstGeom>
        </p:spPr>
      </p:pic>
      <p:sp>
        <p:nvSpPr>
          <p:cNvPr id="13" name="Text 7"/>
          <p:cNvSpPr/>
          <p:nvPr/>
        </p:nvSpPr>
        <p:spPr>
          <a:xfrm>
            <a:off x="1910953" y="3478113"/>
            <a:ext cx="1035844"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6.14</a:t>
            </a:r>
            <a:endParaRPr lang="en-US" sz="784" dirty="0"/>
          </a:p>
        </p:txBody>
      </p:sp>
      <p:sp>
        <p:nvSpPr>
          <p:cNvPr id="14" name="Text 8"/>
          <p:cNvSpPr/>
          <p:nvPr/>
        </p:nvSpPr>
        <p:spPr>
          <a:xfrm>
            <a:off x="1366242" y="3653135"/>
            <a:ext cx="2125266"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Exemplo de alerta proativo enviado pelo sistema</a:t>
            </a:r>
            <a:endParaRPr lang="en-US" sz="674" dirty="0"/>
          </a:p>
        </p:txBody>
      </p:sp>
      <p:sp>
        <p:nvSpPr>
          <p:cNvPr id="15" name="Text 9"/>
          <p:cNvSpPr/>
          <p:nvPr/>
        </p:nvSpPr>
        <p:spPr>
          <a:xfrm>
            <a:off x="607219" y="4466630"/>
            <a:ext cx="3643313" cy="96441"/>
          </a:xfrm>
          <a:prstGeom prst="rect">
            <a:avLst/>
          </a:prstGeom>
          <a:noFill/>
          <a:ln/>
        </p:spPr>
        <p:txBody>
          <a:bodyPr wrap="none" lIns="0" tIns="0" rIns="0" bIns="0" rtlCol="0" anchor="t">
            <a:spAutoFit/>
          </a:bodyPr>
          <a:lstStyle/>
          <a:p>
            <a:pPr algn="ctr" indent="0" marL="0">
              <a:lnSpc>
                <a:spcPts val="700"/>
              </a:lnSpc>
              <a:buNone/>
            </a:pPr>
            <a:r>
              <a:rPr lang="en-US" sz="568"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568" dirty="0"/>
          </a:p>
        </p:txBody>
      </p:sp>
      <p:sp>
        <p:nvSpPr>
          <p:cNvPr id="16" name="Shape 10"/>
          <p:cNvSpPr/>
          <p:nvPr/>
        </p:nvSpPr>
        <p:spPr>
          <a:xfrm>
            <a:off x="4714875" y="1169789"/>
            <a:ext cx="4000500" cy="3571875"/>
          </a:xfrm>
          <a:prstGeom prst="rect">
            <a:avLst/>
          </a:prstGeom>
          <a:solidFill>
            <a:srgbClr val="001D33">
              <a:alpha val="30000"/>
            </a:srgbClr>
          </a:solidFill>
          <a:ln w="9144">
            <a:solidFill>
              <a:srgbClr val="F2C94C">
                <a:alpha val="20000"/>
              </a:srgbClr>
            </a:solidFill>
            <a:prstDash val="solid"/>
          </a:ln>
        </p:spPr>
      </p:sp>
      <p:pic>
        <p:nvPicPr>
          <p:cNvPr id="17" name="Image 3" descr="preencoded.png">    </p:cNvPr>
          <p:cNvPicPr>
            <a:picLocks noChangeAspect="1"/>
          </p:cNvPicPr>
          <p:nvPr/>
        </p:nvPicPr>
        <p:blipFill>
          <a:blip r:embed="rId4"/>
          <a:stretch>
            <a:fillRect/>
          </a:stretch>
        </p:blipFill>
        <p:spPr>
          <a:xfrm>
            <a:off x="4911328" y="1368028"/>
            <a:ext cx="250031" cy="200025"/>
          </a:xfrm>
          <a:prstGeom prst="rect">
            <a:avLst/>
          </a:prstGeom>
        </p:spPr>
      </p:pic>
      <p:sp>
        <p:nvSpPr>
          <p:cNvPr id="18" name="Text 11"/>
          <p:cNvSpPr/>
          <p:nvPr/>
        </p:nvSpPr>
        <p:spPr>
          <a:xfrm>
            <a:off x="5286375" y="1374279"/>
            <a:ext cx="1446609"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Agente Interativo</a:t>
            </a:r>
            <a:endParaRPr lang="en-US" sz="1090" dirty="0"/>
          </a:p>
        </p:txBody>
      </p:sp>
      <p:sp>
        <p:nvSpPr>
          <p:cNvPr id="19" name="Text 12"/>
          <p:cNvSpPr/>
          <p:nvPr/>
        </p:nvSpPr>
        <p:spPr>
          <a:xfrm>
            <a:off x="4893469" y="1812727"/>
            <a:ext cx="3643313" cy="50006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Permite a delegação de tarefas complexas via linguagem natural. O operador pode solicitar análises de causa raiz, relatórios ou comparações de cenários.</a:t>
            </a:r>
            <a:endParaRPr lang="en-US" sz="780" dirty="0"/>
          </a:p>
        </p:txBody>
      </p:sp>
      <p:sp>
        <p:nvSpPr>
          <p:cNvPr id="20" name="Shape 13"/>
          <p:cNvSpPr/>
          <p:nvPr/>
        </p:nvSpPr>
        <p:spPr>
          <a:xfrm>
            <a:off x="4893469" y="2455664"/>
            <a:ext cx="3643313" cy="1939528"/>
          </a:xfrm>
          <a:prstGeom prst="rect">
            <a:avLst/>
          </a:prstGeom>
          <a:solidFill>
            <a:srgbClr val="F2C94C">
              <a:alpha val="5000"/>
            </a:srgbClr>
          </a:solidFill>
          <a:ln w="18288">
            <a:solidFill>
              <a:srgbClr val="F2C94C">
                <a:alpha val="50000"/>
              </a:srgbClr>
            </a:solidFill>
            <a:prstDash val="dash"/>
          </a:ln>
        </p:spPr>
      </p:sp>
      <p:pic>
        <p:nvPicPr>
          <p:cNvPr id="21" name="Image 4" descr="preencoded.png">    </p:cNvPr>
          <p:cNvPicPr>
            <a:picLocks noChangeAspect="1"/>
          </p:cNvPicPr>
          <p:nvPr/>
        </p:nvPicPr>
        <p:blipFill>
          <a:blip r:embed="rId5">
            <a:alphaModFix amt="80000"/>
          </a:blip>
          <a:stretch>
            <a:fillRect/>
          </a:stretch>
        </p:blipFill>
        <p:spPr>
          <a:xfrm>
            <a:off x="6590109" y="3085207"/>
            <a:ext cx="250031" cy="285750"/>
          </a:xfrm>
          <a:prstGeom prst="rect">
            <a:avLst/>
          </a:prstGeom>
        </p:spPr>
      </p:pic>
      <p:sp>
        <p:nvSpPr>
          <p:cNvPr id="22" name="Text 14"/>
          <p:cNvSpPr/>
          <p:nvPr/>
        </p:nvSpPr>
        <p:spPr>
          <a:xfrm>
            <a:off x="6202561" y="3478113"/>
            <a:ext cx="1025128"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6.15</a:t>
            </a:r>
            <a:endParaRPr lang="en-US" sz="784" dirty="0"/>
          </a:p>
        </p:txBody>
      </p:sp>
      <p:sp>
        <p:nvSpPr>
          <p:cNvPr id="23" name="Text 15"/>
          <p:cNvSpPr/>
          <p:nvPr/>
        </p:nvSpPr>
        <p:spPr>
          <a:xfrm>
            <a:off x="5763220" y="3653135"/>
            <a:ext cx="1903809"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Interface de chat e interação com o Agente</a:t>
            </a:r>
            <a:endParaRPr lang="en-US" sz="674" dirty="0"/>
          </a:p>
        </p:txBody>
      </p:sp>
      <p:sp>
        <p:nvSpPr>
          <p:cNvPr id="24" name="Text 16"/>
          <p:cNvSpPr/>
          <p:nvPr/>
        </p:nvSpPr>
        <p:spPr>
          <a:xfrm>
            <a:off x="4893469" y="4466630"/>
            <a:ext cx="3643313" cy="96441"/>
          </a:xfrm>
          <a:prstGeom prst="rect">
            <a:avLst/>
          </a:prstGeom>
          <a:noFill/>
          <a:ln/>
        </p:spPr>
        <p:txBody>
          <a:bodyPr wrap="none" lIns="0" tIns="0" rIns="0" bIns="0" rtlCol="0" anchor="t">
            <a:spAutoFit/>
          </a:bodyPr>
          <a:lstStyle/>
          <a:p>
            <a:pPr algn="ctr" indent="0" marL="0">
              <a:lnSpc>
                <a:spcPts val="700"/>
              </a:lnSpc>
              <a:buNone/>
            </a:pPr>
            <a:r>
              <a:rPr lang="en-US" sz="568"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568"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MODO DE COMPARAÇÃO DE MODELOS</a:t>
            </a:r>
            <a:endParaRPr lang="en-US" sz="1808" dirty="0"/>
          </a:p>
        </p:txBody>
      </p:sp>
      <p:sp>
        <p:nvSpPr>
          <p:cNvPr id="7" name="Shape 3"/>
          <p:cNvSpPr/>
          <p:nvPr/>
        </p:nvSpPr>
        <p:spPr>
          <a:xfrm>
            <a:off x="428625" y="1169789"/>
            <a:ext cx="3429000" cy="1044773"/>
          </a:xfrm>
          <a:prstGeom prst="rect">
            <a:avLst/>
          </a:prstGeom>
          <a:solidFill>
            <a:srgbClr val="001D33">
              <a:alpha val="30000"/>
            </a:srgbClr>
          </a:solidFill>
          <a:ln/>
        </p:spPr>
      </p:sp>
      <p:sp>
        <p:nvSpPr>
          <p:cNvPr id="8" name="Shape 4"/>
          <p:cNvSpPr/>
          <p:nvPr/>
        </p:nvSpPr>
        <p:spPr>
          <a:xfrm>
            <a:off x="428625" y="1169789"/>
            <a:ext cx="28575" cy="1044773"/>
          </a:xfrm>
          <a:prstGeom prst="rect">
            <a:avLst/>
          </a:prstGeom>
          <a:solidFill>
            <a:srgbClr val="F2C94C"/>
          </a:solidFill>
          <a:ln/>
        </p:spPr>
      </p:sp>
      <p:pic>
        <p:nvPicPr>
          <p:cNvPr id="9" name="Image 1" descr="preencoded.png">    </p:cNvPr>
          <p:cNvPicPr>
            <a:picLocks noChangeAspect="1"/>
          </p:cNvPicPr>
          <p:nvPr/>
        </p:nvPicPr>
        <p:blipFill>
          <a:blip r:embed="rId2"/>
          <a:stretch>
            <a:fillRect/>
          </a:stretch>
        </p:blipFill>
        <p:spPr>
          <a:xfrm>
            <a:off x="571500" y="1327845"/>
            <a:ext cx="178594" cy="142875"/>
          </a:xfrm>
          <a:prstGeom prst="rect">
            <a:avLst/>
          </a:prstGeom>
        </p:spPr>
      </p:pic>
      <p:sp>
        <p:nvSpPr>
          <p:cNvPr id="10" name="Text 5"/>
          <p:cNvSpPr/>
          <p:nvPr/>
        </p:nvSpPr>
        <p:spPr>
          <a:xfrm>
            <a:off x="821531" y="1312664"/>
            <a:ext cx="200560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Benchmarking Simultâneo</a:t>
            </a:r>
            <a:endParaRPr lang="en-US" sz="987" dirty="0"/>
          </a:p>
        </p:txBody>
      </p:sp>
      <p:sp>
        <p:nvSpPr>
          <p:cNvPr id="11" name="Text 6"/>
          <p:cNvSpPr/>
          <p:nvPr/>
        </p:nvSpPr>
        <p:spPr>
          <a:xfrm>
            <a:off x="571500" y="1557338"/>
            <a:ext cx="3143250"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Permite selecionar até </a:t>
            </a:r>
            <a:pPr algn="l"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5 modelos</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diferentes para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comparação lado a lado, facilitando a visualização de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trade-offs entre performance e complexidade.</a:t>
            </a:r>
            <a:endParaRPr lang="en-US" sz="834" dirty="0"/>
          </a:p>
        </p:txBody>
      </p:sp>
      <p:sp>
        <p:nvSpPr>
          <p:cNvPr id="12" name="Shape 7"/>
          <p:cNvSpPr/>
          <p:nvPr/>
        </p:nvSpPr>
        <p:spPr>
          <a:xfrm>
            <a:off x="428625" y="2428875"/>
            <a:ext cx="3429000" cy="1351955"/>
          </a:xfrm>
          <a:prstGeom prst="rect">
            <a:avLst/>
          </a:prstGeom>
          <a:solidFill>
            <a:srgbClr val="001D33">
              <a:alpha val="30000"/>
            </a:srgbClr>
          </a:solidFill>
          <a:ln/>
        </p:spPr>
      </p:sp>
      <p:sp>
        <p:nvSpPr>
          <p:cNvPr id="13" name="Shape 8"/>
          <p:cNvSpPr/>
          <p:nvPr/>
        </p:nvSpPr>
        <p:spPr>
          <a:xfrm>
            <a:off x="428625" y="2428875"/>
            <a:ext cx="28575" cy="1351955"/>
          </a:xfrm>
          <a:prstGeom prst="rect">
            <a:avLst/>
          </a:prstGeom>
          <a:solidFill>
            <a:srgbClr val="F2C94C"/>
          </a:solidFill>
          <a:ln/>
        </p:spPr>
      </p:sp>
      <p:pic>
        <p:nvPicPr>
          <p:cNvPr id="14" name="Image 2" descr="preencoded.png">    </p:cNvPr>
          <p:cNvPicPr>
            <a:picLocks noChangeAspect="1"/>
          </p:cNvPicPr>
          <p:nvPr/>
        </p:nvPicPr>
        <p:blipFill>
          <a:blip r:embed="rId3"/>
          <a:stretch>
            <a:fillRect/>
          </a:stretch>
        </p:blipFill>
        <p:spPr>
          <a:xfrm>
            <a:off x="571500" y="2586930"/>
            <a:ext cx="142875" cy="142875"/>
          </a:xfrm>
          <a:prstGeom prst="rect">
            <a:avLst/>
          </a:prstGeom>
        </p:spPr>
      </p:pic>
      <p:sp>
        <p:nvSpPr>
          <p:cNvPr id="15" name="Text 9"/>
          <p:cNvSpPr/>
          <p:nvPr/>
        </p:nvSpPr>
        <p:spPr>
          <a:xfrm>
            <a:off x="785813" y="2571750"/>
            <a:ext cx="1523405"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Métricas Detalhadas</a:t>
            </a:r>
            <a:endParaRPr lang="en-US" sz="987" dirty="0"/>
          </a:p>
        </p:txBody>
      </p:sp>
      <p:sp>
        <p:nvSpPr>
          <p:cNvPr id="16" name="Text 10"/>
          <p:cNvSpPr/>
          <p:nvPr/>
        </p:nvSpPr>
        <p:spPr>
          <a:xfrm>
            <a:off x="571500" y="2816423"/>
            <a:ext cx="3143250"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Tabelas interativas com </a:t>
            </a:r>
            <a:pPr algn="l"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Conditional Formatting</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(destaque automático dos melhores valores) para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múltiplas métricas:</a:t>
            </a:r>
            <a:endParaRPr lang="en-US" sz="834" dirty="0"/>
          </a:p>
        </p:txBody>
      </p:sp>
      <p:sp>
        <p:nvSpPr>
          <p:cNvPr id="17" name="Shape 11"/>
          <p:cNvSpPr/>
          <p:nvPr/>
        </p:nvSpPr>
        <p:spPr>
          <a:xfrm>
            <a:off x="571500" y="3402211"/>
            <a:ext cx="425779" cy="235744"/>
          </a:xfrm>
          <a:prstGeom prst="rect">
            <a:avLst/>
          </a:prstGeom>
          <a:solidFill>
            <a:srgbClr val="F2C94C">
              <a:alpha val="10000"/>
            </a:srgbClr>
          </a:solidFill>
          <a:ln w="9144">
            <a:solidFill>
              <a:srgbClr val="F2C94C">
                <a:alpha val="30000"/>
              </a:srgbClr>
            </a:solidFill>
            <a:prstDash val="solid"/>
          </a:ln>
        </p:spPr>
      </p:sp>
      <p:sp>
        <p:nvSpPr>
          <p:cNvPr id="18" name="Text 12"/>
          <p:cNvSpPr/>
          <p:nvPr/>
        </p:nvSpPr>
        <p:spPr>
          <a:xfrm>
            <a:off x="571500" y="3402211"/>
            <a:ext cx="425779" cy="235744"/>
          </a:xfrm>
          <a:prstGeom prst="rect">
            <a:avLst/>
          </a:prstGeom>
          <a:noFill/>
          <a:ln/>
        </p:spPr>
        <p:txBody>
          <a:bodyPr wrap="square" lIns="102108" tIns="51054" rIns="102108" bIns="51054"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MAPE</a:t>
            </a:r>
            <a:endParaRPr lang="en-US" sz="727" dirty="0"/>
          </a:p>
        </p:txBody>
      </p:sp>
      <p:sp>
        <p:nvSpPr>
          <p:cNvPr id="19" name="Shape 13"/>
          <p:cNvSpPr/>
          <p:nvPr/>
        </p:nvSpPr>
        <p:spPr>
          <a:xfrm>
            <a:off x="1054429" y="3402211"/>
            <a:ext cx="425779" cy="235744"/>
          </a:xfrm>
          <a:prstGeom prst="rect">
            <a:avLst/>
          </a:prstGeom>
          <a:solidFill>
            <a:srgbClr val="F2C94C">
              <a:alpha val="10000"/>
            </a:srgbClr>
          </a:solidFill>
          <a:ln w="9144">
            <a:solidFill>
              <a:srgbClr val="F2C94C">
                <a:alpha val="30000"/>
              </a:srgbClr>
            </a:solidFill>
            <a:prstDash val="solid"/>
          </a:ln>
        </p:spPr>
      </p:sp>
      <p:sp>
        <p:nvSpPr>
          <p:cNvPr id="20" name="Text 14"/>
          <p:cNvSpPr/>
          <p:nvPr/>
        </p:nvSpPr>
        <p:spPr>
          <a:xfrm>
            <a:off x="1054429" y="3402211"/>
            <a:ext cx="425779" cy="235744"/>
          </a:xfrm>
          <a:prstGeom prst="rect">
            <a:avLst/>
          </a:prstGeom>
          <a:noFill/>
          <a:ln/>
        </p:spPr>
        <p:txBody>
          <a:bodyPr wrap="square" lIns="102108" tIns="51054" rIns="102108" bIns="51054"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RMSE</a:t>
            </a:r>
            <a:endParaRPr lang="en-US" sz="727" dirty="0"/>
          </a:p>
        </p:txBody>
      </p:sp>
      <p:sp>
        <p:nvSpPr>
          <p:cNvPr id="21" name="Shape 15"/>
          <p:cNvSpPr/>
          <p:nvPr/>
        </p:nvSpPr>
        <p:spPr>
          <a:xfrm>
            <a:off x="1537357" y="3402211"/>
            <a:ext cx="305758" cy="235744"/>
          </a:xfrm>
          <a:prstGeom prst="rect">
            <a:avLst/>
          </a:prstGeom>
          <a:solidFill>
            <a:srgbClr val="F2C94C">
              <a:alpha val="10000"/>
            </a:srgbClr>
          </a:solidFill>
          <a:ln w="9144">
            <a:solidFill>
              <a:srgbClr val="F2C94C">
                <a:alpha val="30000"/>
              </a:srgbClr>
            </a:solidFill>
            <a:prstDash val="solid"/>
          </a:ln>
        </p:spPr>
      </p:sp>
      <p:sp>
        <p:nvSpPr>
          <p:cNvPr id="22" name="Text 16"/>
          <p:cNvSpPr/>
          <p:nvPr/>
        </p:nvSpPr>
        <p:spPr>
          <a:xfrm>
            <a:off x="1537357" y="3402211"/>
            <a:ext cx="305758" cy="235744"/>
          </a:xfrm>
          <a:prstGeom prst="rect">
            <a:avLst/>
          </a:prstGeom>
          <a:noFill/>
          <a:ln/>
        </p:spPr>
        <p:txBody>
          <a:bodyPr wrap="square" lIns="102108" tIns="51054" rIns="102108" bIns="51054"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R²</a:t>
            </a:r>
            <a:endParaRPr lang="en-US" sz="727" dirty="0"/>
          </a:p>
        </p:txBody>
      </p:sp>
      <p:sp>
        <p:nvSpPr>
          <p:cNvPr id="23" name="Shape 17"/>
          <p:cNvSpPr/>
          <p:nvPr/>
        </p:nvSpPr>
        <p:spPr>
          <a:xfrm>
            <a:off x="1900265" y="3402211"/>
            <a:ext cx="665820" cy="235744"/>
          </a:xfrm>
          <a:prstGeom prst="rect">
            <a:avLst/>
          </a:prstGeom>
          <a:solidFill>
            <a:srgbClr val="F2C94C">
              <a:alpha val="10000"/>
            </a:srgbClr>
          </a:solidFill>
          <a:ln w="9144">
            <a:solidFill>
              <a:srgbClr val="F2C94C">
                <a:alpha val="30000"/>
              </a:srgbClr>
            </a:solidFill>
            <a:prstDash val="solid"/>
          </a:ln>
        </p:spPr>
      </p:sp>
      <p:sp>
        <p:nvSpPr>
          <p:cNvPr id="24" name="Text 18"/>
          <p:cNvSpPr/>
          <p:nvPr/>
        </p:nvSpPr>
        <p:spPr>
          <a:xfrm>
            <a:off x="1900265" y="3402211"/>
            <a:ext cx="665820" cy="235744"/>
          </a:xfrm>
          <a:prstGeom prst="rect">
            <a:avLst/>
          </a:prstGeom>
          <a:noFill/>
          <a:ln/>
        </p:spPr>
        <p:txBody>
          <a:bodyPr wrap="square" lIns="102108" tIns="51054" rIns="102108" bIns="51054"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OpEx ($)</a:t>
            </a:r>
            <a:endParaRPr lang="en-US" sz="727" dirty="0"/>
          </a:p>
        </p:txBody>
      </p:sp>
      <p:sp>
        <p:nvSpPr>
          <p:cNvPr id="25" name="Shape 19"/>
          <p:cNvSpPr/>
          <p:nvPr/>
        </p:nvSpPr>
        <p:spPr>
          <a:xfrm>
            <a:off x="2623235" y="3402211"/>
            <a:ext cx="725816" cy="235744"/>
          </a:xfrm>
          <a:prstGeom prst="rect">
            <a:avLst/>
          </a:prstGeom>
          <a:solidFill>
            <a:srgbClr val="F2C94C">
              <a:alpha val="10000"/>
            </a:srgbClr>
          </a:solidFill>
          <a:ln w="9144">
            <a:solidFill>
              <a:srgbClr val="F2C94C">
                <a:alpha val="30000"/>
              </a:srgbClr>
            </a:solidFill>
            <a:prstDash val="solid"/>
          </a:ln>
        </p:spPr>
      </p:sp>
      <p:sp>
        <p:nvSpPr>
          <p:cNvPr id="26" name="Text 20"/>
          <p:cNvSpPr/>
          <p:nvPr/>
        </p:nvSpPr>
        <p:spPr>
          <a:xfrm>
            <a:off x="2623235" y="3402211"/>
            <a:ext cx="725816" cy="235744"/>
          </a:xfrm>
          <a:prstGeom prst="rect">
            <a:avLst/>
          </a:prstGeom>
          <a:noFill/>
          <a:ln/>
        </p:spPr>
        <p:txBody>
          <a:bodyPr wrap="square" lIns="102108" tIns="51054" rIns="102108" bIns="51054" rtlCol="0" anchor="t">
            <a:spAutoFit/>
          </a:bodyPr>
          <a:lstStyle/>
          <a:p>
            <a:pPr algn="l" indent="0" marL="0">
              <a:lnSpc>
                <a:spcPts val="900"/>
              </a:lnSpc>
              <a:buNone/>
            </a:pPr>
            <a:r>
              <a:rPr lang="en-US" sz="727" dirty="0">
                <a:solidFill>
                  <a:srgbClr val="E8EDF2"/>
                </a:solidFill>
                <a:latin typeface="JetBrains Mono" pitchFamily="34" charset="0"/>
                <a:ea typeface="JetBrains Mono" pitchFamily="34" charset="-122"/>
                <a:cs typeface="JetBrains Mono" pitchFamily="34" charset="-120"/>
              </a:rPr>
              <a:t>Blackouts</a:t>
            </a:r>
            <a:endParaRPr lang="en-US" sz="727" dirty="0"/>
          </a:p>
        </p:txBody>
      </p:sp>
      <p:sp>
        <p:nvSpPr>
          <p:cNvPr id="27" name="Shape 21"/>
          <p:cNvSpPr/>
          <p:nvPr/>
        </p:nvSpPr>
        <p:spPr>
          <a:xfrm>
            <a:off x="428625" y="3980855"/>
            <a:ext cx="3429000" cy="873323"/>
          </a:xfrm>
          <a:prstGeom prst="rect">
            <a:avLst/>
          </a:prstGeom>
          <a:solidFill>
            <a:srgbClr val="001D33">
              <a:alpha val="30000"/>
            </a:srgbClr>
          </a:solidFill>
          <a:ln/>
        </p:spPr>
      </p:sp>
      <p:sp>
        <p:nvSpPr>
          <p:cNvPr id="28" name="Shape 22"/>
          <p:cNvSpPr/>
          <p:nvPr/>
        </p:nvSpPr>
        <p:spPr>
          <a:xfrm>
            <a:off x="428625" y="3980855"/>
            <a:ext cx="28575" cy="873323"/>
          </a:xfrm>
          <a:prstGeom prst="rect">
            <a:avLst/>
          </a:prstGeom>
          <a:solidFill>
            <a:srgbClr val="F2C94C"/>
          </a:solidFill>
          <a:ln/>
        </p:spPr>
      </p:sp>
      <p:pic>
        <p:nvPicPr>
          <p:cNvPr id="29" name="Image 3" descr="preencoded.png">    </p:cNvPr>
          <p:cNvPicPr>
            <a:picLocks noChangeAspect="1"/>
          </p:cNvPicPr>
          <p:nvPr/>
        </p:nvPicPr>
        <p:blipFill>
          <a:blip r:embed="rId4"/>
          <a:stretch>
            <a:fillRect/>
          </a:stretch>
        </p:blipFill>
        <p:spPr>
          <a:xfrm>
            <a:off x="571500" y="4138910"/>
            <a:ext cx="160734" cy="142875"/>
          </a:xfrm>
          <a:prstGeom prst="rect">
            <a:avLst/>
          </a:prstGeom>
        </p:spPr>
      </p:pic>
      <p:sp>
        <p:nvSpPr>
          <p:cNvPr id="30" name="Text 23"/>
          <p:cNvSpPr/>
          <p:nvPr/>
        </p:nvSpPr>
        <p:spPr>
          <a:xfrm>
            <a:off x="803672" y="4123730"/>
            <a:ext cx="1182291"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Exportabilidade</a:t>
            </a:r>
            <a:endParaRPr lang="en-US" sz="987" dirty="0"/>
          </a:p>
        </p:txBody>
      </p:sp>
      <p:sp>
        <p:nvSpPr>
          <p:cNvPr id="31" name="Text 24"/>
          <p:cNvSpPr/>
          <p:nvPr/>
        </p:nvSpPr>
        <p:spPr>
          <a:xfrm>
            <a:off x="571500" y="4368403"/>
            <a:ext cx="3143250" cy="34290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Geração automática de relatórios comparativos em CSV ou PDF para documentação técnica.</a:t>
            </a:r>
            <a:endParaRPr lang="en-US" sz="834" dirty="0"/>
          </a:p>
        </p:txBody>
      </p:sp>
      <p:sp>
        <p:nvSpPr>
          <p:cNvPr id="32" name="Shape 25"/>
          <p:cNvSpPr/>
          <p:nvPr/>
        </p:nvSpPr>
        <p:spPr>
          <a:xfrm>
            <a:off x="4257675" y="1169789"/>
            <a:ext cx="4457700" cy="3684389"/>
          </a:xfrm>
          <a:prstGeom prst="rect">
            <a:avLst/>
          </a:prstGeom>
          <a:solidFill>
            <a:srgbClr val="F2C94C">
              <a:alpha val="5000"/>
            </a:srgbClr>
          </a:solidFill>
          <a:ln w="18288">
            <a:solidFill>
              <a:srgbClr val="F2C94C">
                <a:alpha val="50000"/>
              </a:srgbClr>
            </a:solidFill>
            <a:prstDash val="dash"/>
          </a:ln>
        </p:spPr>
      </p:sp>
      <p:pic>
        <p:nvPicPr>
          <p:cNvPr id="33" name="Image 4" descr="preencoded.png">    </p:cNvPr>
          <p:cNvPicPr>
            <a:picLocks noChangeAspect="1"/>
          </p:cNvPicPr>
          <p:nvPr/>
        </p:nvPicPr>
        <p:blipFill>
          <a:blip r:embed="rId5">
            <a:alphaModFix amt="80000"/>
          </a:blip>
          <a:stretch>
            <a:fillRect/>
          </a:stretch>
        </p:blipFill>
        <p:spPr>
          <a:xfrm>
            <a:off x="6286500" y="2489597"/>
            <a:ext cx="400050" cy="400050"/>
          </a:xfrm>
          <a:prstGeom prst="rect">
            <a:avLst/>
          </a:prstGeom>
        </p:spPr>
      </p:pic>
      <p:sp>
        <p:nvSpPr>
          <p:cNvPr id="34" name="Text 26"/>
          <p:cNvSpPr/>
          <p:nvPr/>
        </p:nvSpPr>
        <p:spPr>
          <a:xfrm>
            <a:off x="5307806" y="3032522"/>
            <a:ext cx="2357438"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5.9 da Dissertação</a:t>
            </a:r>
            <a:endParaRPr lang="en-US" sz="987" dirty="0"/>
          </a:p>
        </p:txBody>
      </p:sp>
      <p:sp>
        <p:nvSpPr>
          <p:cNvPr id="35" name="Text 27"/>
          <p:cNvSpPr/>
          <p:nvPr/>
        </p:nvSpPr>
        <p:spPr>
          <a:xfrm>
            <a:off x="4932034" y="3277195"/>
            <a:ext cx="3108954"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Interface do modo de comparação mostrando tabelas de métricas e custos</a:t>
            </a:r>
            <a:endParaRPr lang="en-US" sz="780" dirty="0"/>
          </a:p>
        </p:txBody>
      </p:sp>
      <p:sp>
        <p:nvSpPr>
          <p:cNvPr id="36" name="Text 28"/>
          <p:cNvSpPr/>
          <p:nvPr/>
        </p:nvSpPr>
        <p:spPr>
          <a:xfrm>
            <a:off x="4257675" y="4939903"/>
            <a:ext cx="445770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5 (Metodologia)</a:t>
            </a:r>
            <a:endParaRPr lang="en-US" sz="62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769989" y="1945779"/>
            <a:ext cx="3604022" cy="857250"/>
          </a:xfrm>
          <a:prstGeom prst="rect">
            <a:avLst/>
          </a:prstGeom>
          <a:noFill/>
          <a:ln/>
        </p:spPr>
        <p:txBody>
          <a:bodyPr wrap="none" lIns="0" tIns="0" rIns="0" bIns="0" rtlCol="0" anchor="t">
            <a:spAutoFit/>
          </a:bodyPr>
          <a:lstStyle/>
          <a:p>
            <a:pPr algn="ctr" indent="0" marL="0">
              <a:lnSpc>
                <a:spcPts val="6800"/>
              </a:lnSpc>
              <a:buNone/>
            </a:pPr>
            <a:r>
              <a:rPr lang="en-US" sz="6218" b="1" dirty="0">
                <a:solidFill>
                  <a:srgbClr val="F2C94C">
                    <a:alpha val="12000"/>
                  </a:srgbClr>
                </a:solidFill>
                <a:latin typeface="Montserrat" pitchFamily="34" charset="0"/>
                <a:ea typeface="Montserrat" pitchFamily="34" charset="-122"/>
                <a:cs typeface="Montserrat" pitchFamily="34" charset="-120"/>
              </a:rPr>
              <a:t>06</a:t>
            </a:r>
            <a:endParaRPr lang="en-US" sz="6218" dirty="0"/>
          </a:p>
        </p:txBody>
      </p:sp>
      <p:sp>
        <p:nvSpPr>
          <p:cNvPr id="5" name="Text 1"/>
          <p:cNvSpPr/>
          <p:nvPr/>
        </p:nvSpPr>
        <p:spPr>
          <a:xfrm>
            <a:off x="2769989" y="2660154"/>
            <a:ext cx="3604022" cy="366117"/>
          </a:xfrm>
          <a:prstGeom prst="rect">
            <a:avLst/>
          </a:prstGeom>
          <a:noFill/>
          <a:ln/>
        </p:spPr>
        <p:txBody>
          <a:bodyPr wrap="none" lIns="0" tIns="0" rIns="0" bIns="0" rtlCol="0" anchor="t">
            <a:spAutoFit/>
          </a:bodyPr>
          <a:lstStyle/>
          <a:p>
            <a:pPr algn="ctr" indent="0" marL="0">
              <a:lnSpc>
                <a:spcPts val="2800"/>
              </a:lnSpc>
              <a:buNone/>
            </a:pPr>
            <a:r>
              <a:rPr lang="en-US" sz="2121" b="1" dirty="0">
                <a:solidFill>
                  <a:srgbClr val="F2C94C"/>
                </a:solidFill>
                <a:latin typeface="Montserrat" pitchFamily="34" charset="0"/>
                <a:ea typeface="Montserrat" pitchFamily="34" charset="-122"/>
                <a:cs typeface="Montserrat" pitchFamily="34" charset="-120"/>
              </a:rPr>
              <a:t>Resultados e Discussão</a:t>
            </a:r>
            <a:endParaRPr lang="en-US" sz="212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PERFORMANCE DOS MODELOS BENCHMARK</a:t>
            </a:r>
            <a:endParaRPr lang="en-US" sz="1808" dirty="0"/>
          </a:p>
        </p:txBody>
      </p:sp>
      <p:sp>
        <p:nvSpPr>
          <p:cNvPr id="7" name="Shape 3"/>
          <p:cNvSpPr/>
          <p:nvPr/>
        </p:nvSpPr>
        <p:spPr>
          <a:xfrm>
            <a:off x="428625" y="1098352"/>
            <a:ext cx="4000500" cy="996553"/>
          </a:xfrm>
          <a:prstGeom prst="rect">
            <a:avLst/>
          </a:prstGeom>
          <a:solidFill>
            <a:srgbClr val="001D33">
              <a:alpha val="30000"/>
            </a:srgbClr>
          </a:solidFill>
          <a:ln/>
        </p:spPr>
      </p:sp>
      <p:sp>
        <p:nvSpPr>
          <p:cNvPr id="8" name="Shape 4"/>
          <p:cNvSpPr/>
          <p:nvPr/>
        </p:nvSpPr>
        <p:spPr>
          <a:xfrm>
            <a:off x="428625" y="1098352"/>
            <a:ext cx="28575" cy="996553"/>
          </a:xfrm>
          <a:prstGeom prst="rect">
            <a:avLst/>
          </a:prstGeom>
          <a:solidFill>
            <a:srgbClr val="F2C94C"/>
          </a:solidFill>
          <a:ln/>
        </p:spPr>
      </p:sp>
      <p:sp>
        <p:nvSpPr>
          <p:cNvPr id="9" name="Text 5"/>
          <p:cNvSpPr/>
          <p:nvPr/>
        </p:nvSpPr>
        <p:spPr>
          <a:xfrm>
            <a:off x="571500" y="1241227"/>
            <a:ext cx="3714750"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Visão Geral</a:t>
            </a:r>
            <a:endParaRPr lang="en-US" sz="885" dirty="0"/>
          </a:p>
        </p:txBody>
      </p:sp>
      <p:sp>
        <p:nvSpPr>
          <p:cNvPr id="10" name="Text 6"/>
          <p:cNvSpPr/>
          <p:nvPr/>
        </p:nvSpPr>
        <p:spPr>
          <a:xfrm>
            <a:off x="571500" y="1469827"/>
            <a:ext cx="3714750" cy="48220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Os modelos de Deep Learning "puros" (sem decomposição) apresentaram dificuldade em lidar com a alta volatilidade e não-estacionariedade dos dados eólicos.</a:t>
            </a:r>
            <a:endParaRPr lang="en-US" sz="780" dirty="0"/>
          </a:p>
        </p:txBody>
      </p:sp>
      <p:sp>
        <p:nvSpPr>
          <p:cNvPr id="11" name="Shape 7"/>
          <p:cNvSpPr/>
          <p:nvPr/>
        </p:nvSpPr>
        <p:spPr>
          <a:xfrm>
            <a:off x="428625" y="2273498"/>
            <a:ext cx="1946672" cy="744736"/>
          </a:xfrm>
          <a:prstGeom prst="rect">
            <a:avLst/>
          </a:prstGeom>
          <a:solidFill>
            <a:srgbClr val="F2C94C">
              <a:alpha val="5000"/>
            </a:srgbClr>
          </a:solidFill>
          <a:ln w="9144">
            <a:solidFill>
              <a:srgbClr val="F2C94C">
                <a:alpha val="20000"/>
              </a:srgbClr>
            </a:solidFill>
            <a:prstDash val="solid"/>
          </a:ln>
        </p:spPr>
      </p:sp>
      <p:sp>
        <p:nvSpPr>
          <p:cNvPr id="12" name="Text 8"/>
          <p:cNvSpPr/>
          <p:nvPr/>
        </p:nvSpPr>
        <p:spPr>
          <a:xfrm>
            <a:off x="535781" y="2380655"/>
            <a:ext cx="1732359"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MAPE Médio</a:t>
            </a:r>
            <a:endParaRPr lang="en-US" sz="674" dirty="0"/>
          </a:p>
        </p:txBody>
      </p:sp>
      <p:sp>
        <p:nvSpPr>
          <p:cNvPr id="13" name="Text 9"/>
          <p:cNvSpPr/>
          <p:nvPr/>
        </p:nvSpPr>
        <p:spPr>
          <a:xfrm>
            <a:off x="535781" y="2528888"/>
            <a:ext cx="1732359"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8EDF2"/>
                </a:solidFill>
                <a:latin typeface="JetBrains Mono" pitchFamily="34" charset="0"/>
                <a:ea typeface="JetBrains Mono" pitchFamily="34" charset="-122"/>
                <a:cs typeface="JetBrains Mono" pitchFamily="34" charset="-120"/>
              </a:rPr>
              <a:t>4.3% - 7.5%</a:t>
            </a:r>
            <a:endParaRPr lang="en-US" sz="1193" dirty="0"/>
          </a:p>
        </p:txBody>
      </p:sp>
      <p:sp>
        <p:nvSpPr>
          <p:cNvPr id="14" name="Text 10"/>
          <p:cNvSpPr/>
          <p:nvPr/>
        </p:nvSpPr>
        <p:spPr>
          <a:xfrm>
            <a:off x="535781" y="2791420"/>
            <a:ext cx="1732359"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F2C94C"/>
                </a:solidFill>
                <a:latin typeface="Inter" pitchFamily="34" charset="0"/>
                <a:ea typeface="Inter" pitchFamily="34" charset="-122"/>
                <a:cs typeface="Inter" pitchFamily="34" charset="-120"/>
              </a:rPr>
              <a:t>Alta variância</a:t>
            </a:r>
            <a:endParaRPr lang="en-US" sz="621" dirty="0"/>
          </a:p>
        </p:txBody>
      </p:sp>
      <p:sp>
        <p:nvSpPr>
          <p:cNvPr id="15" name="Shape 11"/>
          <p:cNvSpPr/>
          <p:nvPr/>
        </p:nvSpPr>
        <p:spPr>
          <a:xfrm>
            <a:off x="2482453" y="2273498"/>
            <a:ext cx="1946672" cy="744736"/>
          </a:xfrm>
          <a:prstGeom prst="rect">
            <a:avLst/>
          </a:prstGeom>
          <a:solidFill>
            <a:srgbClr val="F2C94C">
              <a:alpha val="5000"/>
            </a:srgbClr>
          </a:solidFill>
          <a:ln w="9144">
            <a:solidFill>
              <a:srgbClr val="F2C94C">
                <a:alpha val="20000"/>
              </a:srgbClr>
            </a:solidFill>
            <a:prstDash val="solid"/>
          </a:ln>
        </p:spPr>
      </p:sp>
      <p:sp>
        <p:nvSpPr>
          <p:cNvPr id="16" name="Text 12"/>
          <p:cNvSpPr/>
          <p:nvPr/>
        </p:nvSpPr>
        <p:spPr>
          <a:xfrm>
            <a:off x="2589609" y="2380655"/>
            <a:ext cx="1732359"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Melhor Curto Prazo</a:t>
            </a:r>
            <a:endParaRPr lang="en-US" sz="674" dirty="0"/>
          </a:p>
        </p:txBody>
      </p:sp>
      <p:sp>
        <p:nvSpPr>
          <p:cNvPr id="17" name="Text 13"/>
          <p:cNvSpPr/>
          <p:nvPr/>
        </p:nvSpPr>
        <p:spPr>
          <a:xfrm>
            <a:off x="2589609" y="2528888"/>
            <a:ext cx="1732359"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8EDF2"/>
                </a:solidFill>
                <a:latin typeface="JetBrains Mono" pitchFamily="34" charset="0"/>
                <a:ea typeface="JetBrains Mono" pitchFamily="34" charset="-122"/>
                <a:cs typeface="JetBrains Mono" pitchFamily="34" charset="-120"/>
              </a:rPr>
              <a:t>Bi-LSTM</a:t>
            </a:r>
            <a:endParaRPr lang="en-US" sz="1193" dirty="0"/>
          </a:p>
        </p:txBody>
      </p:sp>
      <p:sp>
        <p:nvSpPr>
          <p:cNvPr id="18" name="Text 14"/>
          <p:cNvSpPr/>
          <p:nvPr/>
        </p:nvSpPr>
        <p:spPr>
          <a:xfrm>
            <a:off x="2589609" y="2791420"/>
            <a:ext cx="1732359"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F2C94C"/>
                </a:solidFill>
                <a:latin typeface="Inter" pitchFamily="34" charset="0"/>
                <a:ea typeface="Inter" pitchFamily="34" charset="-122"/>
                <a:cs typeface="Inter" pitchFamily="34" charset="-120"/>
              </a:rPr>
              <a:t>4.35% (t+10)</a:t>
            </a:r>
            <a:endParaRPr lang="en-US" sz="621" dirty="0"/>
          </a:p>
        </p:txBody>
      </p:sp>
      <p:sp>
        <p:nvSpPr>
          <p:cNvPr id="19" name="Shape 15"/>
          <p:cNvSpPr/>
          <p:nvPr/>
        </p:nvSpPr>
        <p:spPr>
          <a:xfrm>
            <a:off x="428625" y="3111103"/>
            <a:ext cx="1946672" cy="744736"/>
          </a:xfrm>
          <a:prstGeom prst="rect">
            <a:avLst/>
          </a:prstGeom>
          <a:solidFill>
            <a:srgbClr val="F2C94C">
              <a:alpha val="5000"/>
            </a:srgbClr>
          </a:solidFill>
          <a:ln w="9144">
            <a:solidFill>
              <a:srgbClr val="F2C94C">
                <a:alpha val="20000"/>
              </a:srgbClr>
            </a:solidFill>
            <a:prstDash val="solid"/>
          </a:ln>
        </p:spPr>
      </p:sp>
      <p:sp>
        <p:nvSpPr>
          <p:cNvPr id="20" name="Text 16"/>
          <p:cNvSpPr/>
          <p:nvPr/>
        </p:nvSpPr>
        <p:spPr>
          <a:xfrm>
            <a:off x="535781" y="3218259"/>
            <a:ext cx="1732359"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Melhor Longo Prazo</a:t>
            </a:r>
            <a:endParaRPr lang="en-US" sz="674" dirty="0"/>
          </a:p>
        </p:txBody>
      </p:sp>
      <p:sp>
        <p:nvSpPr>
          <p:cNvPr id="21" name="Text 17"/>
          <p:cNvSpPr/>
          <p:nvPr/>
        </p:nvSpPr>
        <p:spPr>
          <a:xfrm>
            <a:off x="535781" y="3366492"/>
            <a:ext cx="1732359"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8EDF2"/>
                </a:solidFill>
                <a:latin typeface="JetBrains Mono" pitchFamily="34" charset="0"/>
                <a:ea typeface="JetBrains Mono" pitchFamily="34" charset="-122"/>
                <a:cs typeface="JetBrains Mono" pitchFamily="34" charset="-120"/>
              </a:rPr>
              <a:t>TFT</a:t>
            </a:r>
            <a:endParaRPr lang="en-US" sz="1193" dirty="0"/>
          </a:p>
        </p:txBody>
      </p:sp>
      <p:sp>
        <p:nvSpPr>
          <p:cNvPr id="22" name="Text 18"/>
          <p:cNvSpPr/>
          <p:nvPr/>
        </p:nvSpPr>
        <p:spPr>
          <a:xfrm>
            <a:off x="535781" y="3629025"/>
            <a:ext cx="1732359"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F2C94C"/>
                </a:solidFill>
                <a:latin typeface="Inter" pitchFamily="34" charset="0"/>
                <a:ea typeface="Inter" pitchFamily="34" charset="-122"/>
                <a:cs typeface="Inter" pitchFamily="34" charset="-120"/>
              </a:rPr>
              <a:t>Estabilidade RMSE/R²</a:t>
            </a:r>
            <a:endParaRPr lang="en-US" sz="621" dirty="0"/>
          </a:p>
        </p:txBody>
      </p:sp>
      <p:sp>
        <p:nvSpPr>
          <p:cNvPr id="23" name="Shape 19"/>
          <p:cNvSpPr/>
          <p:nvPr/>
        </p:nvSpPr>
        <p:spPr>
          <a:xfrm>
            <a:off x="2482453" y="3111103"/>
            <a:ext cx="1946672" cy="744736"/>
          </a:xfrm>
          <a:prstGeom prst="rect">
            <a:avLst/>
          </a:prstGeom>
          <a:solidFill>
            <a:srgbClr val="F2C94C">
              <a:alpha val="5000"/>
            </a:srgbClr>
          </a:solidFill>
          <a:ln w="9144">
            <a:solidFill>
              <a:srgbClr val="F2C94C">
                <a:alpha val="20000"/>
              </a:srgbClr>
            </a:solidFill>
            <a:prstDash val="solid"/>
          </a:ln>
        </p:spPr>
      </p:sp>
      <p:sp>
        <p:nvSpPr>
          <p:cNvPr id="24" name="Text 20"/>
          <p:cNvSpPr/>
          <p:nvPr/>
        </p:nvSpPr>
        <p:spPr>
          <a:xfrm>
            <a:off x="2589609" y="3218259"/>
            <a:ext cx="1732359" cy="11251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Limitação</a:t>
            </a:r>
            <a:endParaRPr lang="en-US" sz="674" dirty="0"/>
          </a:p>
        </p:txBody>
      </p:sp>
      <p:sp>
        <p:nvSpPr>
          <p:cNvPr id="25" name="Text 21"/>
          <p:cNvSpPr/>
          <p:nvPr/>
        </p:nvSpPr>
        <p:spPr>
          <a:xfrm>
            <a:off x="2589609" y="3366492"/>
            <a:ext cx="1732359"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8EDF2"/>
                </a:solidFill>
                <a:latin typeface="JetBrains Mono" pitchFamily="34" charset="0"/>
                <a:ea typeface="JetBrains Mono" pitchFamily="34" charset="-122"/>
                <a:cs typeface="JetBrains Mono" pitchFamily="34" charset="-120"/>
              </a:rPr>
              <a:t>Lagging</a:t>
            </a:r>
            <a:endParaRPr lang="en-US" sz="1193" dirty="0"/>
          </a:p>
        </p:txBody>
      </p:sp>
      <p:sp>
        <p:nvSpPr>
          <p:cNvPr id="26" name="Text 22"/>
          <p:cNvSpPr/>
          <p:nvPr/>
        </p:nvSpPr>
        <p:spPr>
          <a:xfrm>
            <a:off x="2589609" y="3629025"/>
            <a:ext cx="1732359"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F2C94C"/>
                </a:solidFill>
                <a:latin typeface="Inter" pitchFamily="34" charset="0"/>
                <a:ea typeface="Inter" pitchFamily="34" charset="-122"/>
                <a:cs typeface="Inter" pitchFamily="34" charset="-120"/>
              </a:rPr>
              <a:t>Atraso na detecção de rampas</a:t>
            </a:r>
            <a:endParaRPr lang="en-US" sz="621" dirty="0"/>
          </a:p>
        </p:txBody>
      </p:sp>
      <p:sp>
        <p:nvSpPr>
          <p:cNvPr id="27" name="Shape 23"/>
          <p:cNvSpPr/>
          <p:nvPr/>
        </p:nvSpPr>
        <p:spPr>
          <a:xfrm>
            <a:off x="4714875" y="1098352"/>
            <a:ext cx="4000500" cy="1591270"/>
          </a:xfrm>
          <a:prstGeom prst="rect">
            <a:avLst/>
          </a:prstGeom>
          <a:solidFill>
            <a:srgbClr val="F2C94C">
              <a:alpha val="5000"/>
            </a:srgbClr>
          </a:solidFill>
          <a:ln w="18288">
            <a:solidFill>
              <a:srgbClr val="F2C94C">
                <a:alpha val="50000"/>
              </a:srgbClr>
            </a:solidFill>
            <a:prstDash val="dash"/>
          </a:ln>
        </p:spPr>
      </p:sp>
      <p:pic>
        <p:nvPicPr>
          <p:cNvPr id="28" name="Image 1" descr="preencoded.png">    </p:cNvPr>
          <p:cNvPicPr>
            <a:picLocks noChangeAspect="1"/>
          </p:cNvPicPr>
          <p:nvPr/>
        </p:nvPicPr>
        <p:blipFill>
          <a:blip r:embed="rId2">
            <a:alphaModFix amt="80000"/>
          </a:blip>
          <a:stretch>
            <a:fillRect/>
          </a:stretch>
        </p:blipFill>
        <p:spPr>
          <a:xfrm>
            <a:off x="6600825" y="1593056"/>
            <a:ext cx="228600" cy="228600"/>
          </a:xfrm>
          <a:prstGeom prst="rect">
            <a:avLst/>
          </a:prstGeom>
        </p:spPr>
      </p:pic>
      <p:sp>
        <p:nvSpPr>
          <p:cNvPr id="29" name="Text 24"/>
          <p:cNvSpPr/>
          <p:nvPr/>
        </p:nvSpPr>
        <p:spPr>
          <a:xfrm>
            <a:off x="6229350" y="1893094"/>
            <a:ext cx="971550"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Tabela 6.1</a:t>
            </a:r>
            <a:endParaRPr lang="en-US" sz="784" dirty="0"/>
          </a:p>
        </p:txBody>
      </p:sp>
      <p:sp>
        <p:nvSpPr>
          <p:cNvPr id="30" name="Text 25"/>
          <p:cNvSpPr/>
          <p:nvPr/>
        </p:nvSpPr>
        <p:spPr>
          <a:xfrm>
            <a:off x="5211366" y="2068116"/>
            <a:ext cx="3007519"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Métricas de erro (MAPE, RMSE, MAE, R²) para todos os benchmarks</a:t>
            </a:r>
            <a:endParaRPr lang="en-US" sz="674" dirty="0"/>
          </a:p>
        </p:txBody>
      </p:sp>
      <p:sp>
        <p:nvSpPr>
          <p:cNvPr id="31" name="Shape 26"/>
          <p:cNvSpPr/>
          <p:nvPr/>
        </p:nvSpPr>
        <p:spPr>
          <a:xfrm>
            <a:off x="4714875" y="2818209"/>
            <a:ext cx="4000500" cy="1605558"/>
          </a:xfrm>
          <a:prstGeom prst="rect">
            <a:avLst/>
          </a:prstGeom>
          <a:solidFill>
            <a:srgbClr val="F2C94C">
              <a:alpha val="5000"/>
            </a:srgbClr>
          </a:solidFill>
          <a:ln w="18288">
            <a:solidFill>
              <a:srgbClr val="F2C94C">
                <a:alpha val="50000"/>
              </a:srgbClr>
            </a:solidFill>
            <a:prstDash val="dash"/>
          </a:ln>
        </p:spPr>
      </p:sp>
      <p:pic>
        <p:nvPicPr>
          <p:cNvPr id="32" name="Image 2" descr="preencoded.png">    </p:cNvPr>
          <p:cNvPicPr>
            <a:picLocks noChangeAspect="1"/>
          </p:cNvPicPr>
          <p:nvPr/>
        </p:nvPicPr>
        <p:blipFill>
          <a:blip r:embed="rId3">
            <a:alphaModFix amt="80000"/>
          </a:blip>
          <a:stretch>
            <a:fillRect/>
          </a:stretch>
        </p:blipFill>
        <p:spPr>
          <a:xfrm>
            <a:off x="6600825" y="3334345"/>
            <a:ext cx="228600" cy="228600"/>
          </a:xfrm>
          <a:prstGeom prst="rect">
            <a:avLst/>
          </a:prstGeom>
        </p:spPr>
      </p:pic>
      <p:sp>
        <p:nvSpPr>
          <p:cNvPr id="33" name="Text 27"/>
          <p:cNvSpPr/>
          <p:nvPr/>
        </p:nvSpPr>
        <p:spPr>
          <a:xfrm>
            <a:off x="6235601" y="3634383"/>
            <a:ext cx="959048"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6.1</a:t>
            </a:r>
            <a:endParaRPr lang="en-US" sz="784" dirty="0"/>
          </a:p>
        </p:txBody>
      </p:sp>
      <p:sp>
        <p:nvSpPr>
          <p:cNvPr id="34" name="Text 28"/>
          <p:cNvSpPr/>
          <p:nvPr/>
        </p:nvSpPr>
        <p:spPr>
          <a:xfrm>
            <a:off x="5391745" y="3809405"/>
            <a:ext cx="2646759"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Gráfico comparativo das previsões dos modelos benchmark</a:t>
            </a:r>
            <a:endParaRPr lang="en-US" sz="674" dirty="0"/>
          </a:p>
        </p:txBody>
      </p:sp>
      <p:sp>
        <p:nvSpPr>
          <p:cNvPr id="35" name="Text 29"/>
          <p:cNvSpPr/>
          <p:nvPr/>
        </p:nvSpPr>
        <p:spPr>
          <a:xfrm>
            <a:off x="4714875" y="4602361"/>
            <a:ext cx="4000500" cy="96441"/>
          </a:xfrm>
          <a:prstGeom prst="rect">
            <a:avLst/>
          </a:prstGeom>
          <a:noFill/>
          <a:ln/>
        </p:spPr>
        <p:txBody>
          <a:bodyPr wrap="none" lIns="0" tIns="0" rIns="0" bIns="0" rtlCol="0" anchor="t">
            <a:spAutoFit/>
          </a:bodyPr>
          <a:lstStyle/>
          <a:p>
            <a:pPr algn="ctr" indent="0" marL="0">
              <a:lnSpc>
                <a:spcPts val="700"/>
              </a:lnSpc>
              <a:buNone/>
            </a:pPr>
            <a:r>
              <a:rPr lang="en-US" sz="568"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568"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MODELOS HÍBRIDOS: O SALTO DE QUALIDADE</a:t>
            </a:r>
            <a:endParaRPr lang="en-US" sz="1808" dirty="0"/>
          </a:p>
        </p:txBody>
      </p:sp>
      <p:sp>
        <p:nvSpPr>
          <p:cNvPr id="7" name="Shape 3"/>
          <p:cNvSpPr/>
          <p:nvPr/>
        </p:nvSpPr>
        <p:spPr>
          <a:xfrm>
            <a:off x="428625" y="1464301"/>
            <a:ext cx="3604329" cy="1041202"/>
          </a:xfrm>
          <a:prstGeom prst="rect">
            <a:avLst/>
          </a:prstGeom>
          <a:solidFill>
            <a:srgbClr val="F2C94C">
              <a:alpha val="10000"/>
            </a:srgbClr>
          </a:solidFill>
          <a:ln/>
        </p:spPr>
      </p:sp>
      <p:sp>
        <p:nvSpPr>
          <p:cNvPr id="8" name="Shape 4"/>
          <p:cNvSpPr/>
          <p:nvPr/>
        </p:nvSpPr>
        <p:spPr>
          <a:xfrm>
            <a:off x="428625" y="1464301"/>
            <a:ext cx="42863" cy="1041202"/>
          </a:xfrm>
          <a:prstGeom prst="rect">
            <a:avLst/>
          </a:prstGeom>
          <a:solidFill>
            <a:srgbClr val="F2C94C"/>
          </a:solidFill>
          <a:ln/>
        </p:spPr>
      </p:sp>
      <p:sp>
        <p:nvSpPr>
          <p:cNvPr id="9" name="Text 5"/>
          <p:cNvSpPr/>
          <p:nvPr/>
        </p:nvSpPr>
        <p:spPr>
          <a:xfrm>
            <a:off x="607219" y="1642895"/>
            <a:ext cx="3247141" cy="457200"/>
          </a:xfrm>
          <a:prstGeom prst="rect">
            <a:avLst/>
          </a:prstGeom>
          <a:noFill/>
          <a:ln/>
        </p:spPr>
        <p:txBody>
          <a:bodyPr wrap="none" lIns="0" tIns="0" rIns="0" bIns="0" rtlCol="0" anchor="t">
            <a:spAutoFit/>
          </a:bodyPr>
          <a:lstStyle/>
          <a:p>
            <a:pPr algn="l" indent="0" marL="0">
              <a:lnSpc>
                <a:spcPts val="3600"/>
              </a:lnSpc>
              <a:buNone/>
            </a:pPr>
            <a:r>
              <a:rPr lang="en-US" sz="3294" b="1" dirty="0">
                <a:solidFill>
                  <a:srgbClr val="F2C94C"/>
                </a:solidFill>
                <a:latin typeface="Montserrat" pitchFamily="34" charset="0"/>
                <a:ea typeface="Montserrat" pitchFamily="34" charset="-122"/>
                <a:cs typeface="Montserrat" pitchFamily="34" charset="-120"/>
              </a:rPr>
              <a:t>-61%</a:t>
            </a:r>
            <a:endParaRPr lang="en-US" sz="3294" dirty="0"/>
          </a:p>
        </p:txBody>
      </p:sp>
      <p:sp>
        <p:nvSpPr>
          <p:cNvPr id="10" name="Text 6"/>
          <p:cNvSpPr/>
          <p:nvPr/>
        </p:nvSpPr>
        <p:spPr>
          <a:xfrm>
            <a:off x="607219" y="2171533"/>
            <a:ext cx="3247141"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REDUÇÃO MÉDIA DO ERRO</a:t>
            </a:r>
            <a:endParaRPr lang="en-US" sz="885" dirty="0"/>
          </a:p>
        </p:txBody>
      </p:sp>
      <p:sp>
        <p:nvSpPr>
          <p:cNvPr id="11" name="Text 7"/>
          <p:cNvSpPr/>
          <p:nvPr/>
        </p:nvSpPr>
        <p:spPr>
          <a:xfrm>
            <a:off x="428625" y="2719815"/>
            <a:ext cx="3604329"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A introdução da decomposição </a:t>
            </a:r>
            <a:pPr algn="l"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CEEMDAN-EWT</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atuou como um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filtro de ruído eficaz, permitindo que as redes neurais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aprendessem padrões determinísticos com muito mais clareza.</a:t>
            </a:r>
            <a:endParaRPr lang="en-US" sz="834" dirty="0"/>
          </a:p>
        </p:txBody>
      </p:sp>
      <p:sp>
        <p:nvSpPr>
          <p:cNvPr id="12" name="Shape 8"/>
          <p:cNvSpPr/>
          <p:nvPr/>
        </p:nvSpPr>
        <p:spPr>
          <a:xfrm>
            <a:off x="428625" y="3554155"/>
            <a:ext cx="3604329" cy="371475"/>
          </a:xfrm>
          <a:prstGeom prst="rect">
            <a:avLst/>
          </a:prstGeom>
          <a:solidFill>
            <a:srgbClr val="001D33">
              <a:alpha val="30000"/>
            </a:srgbClr>
          </a:solidFill>
          <a:ln/>
        </p:spPr>
      </p:sp>
      <p:sp>
        <p:nvSpPr>
          <p:cNvPr id="13" name="Shape 9"/>
          <p:cNvSpPr/>
          <p:nvPr/>
        </p:nvSpPr>
        <p:spPr>
          <a:xfrm>
            <a:off x="428625" y="3918486"/>
            <a:ext cx="3604329" cy="7144"/>
          </a:xfrm>
          <a:prstGeom prst="rect">
            <a:avLst/>
          </a:prstGeom>
          <a:solidFill>
            <a:srgbClr val="FBEFC9"/>
          </a:solidFill>
          <a:ln/>
        </p:spPr>
      </p:sp>
      <p:sp>
        <p:nvSpPr>
          <p:cNvPr id="14" name="Text 10"/>
          <p:cNvSpPr/>
          <p:nvPr/>
        </p:nvSpPr>
        <p:spPr>
          <a:xfrm>
            <a:off x="535781" y="3671134"/>
            <a:ext cx="125730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Inter" pitchFamily="34" charset="0"/>
                <a:ea typeface="Inter" pitchFamily="34" charset="-122"/>
                <a:cs typeface="Inter" pitchFamily="34" charset="-120"/>
              </a:rPr>
              <a:t>CEEMDAN-EWT-LSTM</a:t>
            </a:r>
            <a:endParaRPr lang="en-US" sz="784" dirty="0"/>
          </a:p>
        </p:txBody>
      </p:sp>
      <p:sp>
        <p:nvSpPr>
          <p:cNvPr id="15" name="Text 11"/>
          <p:cNvSpPr/>
          <p:nvPr/>
        </p:nvSpPr>
        <p:spPr>
          <a:xfrm>
            <a:off x="3247141" y="3664883"/>
            <a:ext cx="678656"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2C94C"/>
                </a:solidFill>
                <a:latin typeface="JetBrains Mono" pitchFamily="34" charset="0"/>
                <a:ea typeface="JetBrains Mono" pitchFamily="34" charset="-122"/>
                <a:cs typeface="JetBrains Mono" pitchFamily="34" charset="-120"/>
              </a:rPr>
              <a:t>1.69% MAPE</a:t>
            </a:r>
            <a:endParaRPr lang="en-US" sz="784" dirty="0"/>
          </a:p>
        </p:txBody>
      </p:sp>
      <p:sp>
        <p:nvSpPr>
          <p:cNvPr id="16" name="Shape 12"/>
          <p:cNvSpPr/>
          <p:nvPr/>
        </p:nvSpPr>
        <p:spPr>
          <a:xfrm>
            <a:off x="428625" y="4029215"/>
            <a:ext cx="3604329" cy="371475"/>
          </a:xfrm>
          <a:prstGeom prst="rect">
            <a:avLst/>
          </a:prstGeom>
          <a:solidFill>
            <a:srgbClr val="001D33">
              <a:alpha val="30000"/>
            </a:srgbClr>
          </a:solidFill>
          <a:ln/>
        </p:spPr>
      </p:sp>
      <p:sp>
        <p:nvSpPr>
          <p:cNvPr id="17" name="Shape 13"/>
          <p:cNvSpPr/>
          <p:nvPr/>
        </p:nvSpPr>
        <p:spPr>
          <a:xfrm>
            <a:off x="428625" y="4393546"/>
            <a:ext cx="3604329" cy="7144"/>
          </a:xfrm>
          <a:prstGeom prst="rect">
            <a:avLst/>
          </a:prstGeom>
          <a:solidFill>
            <a:srgbClr val="FBEFC9"/>
          </a:solidFill>
          <a:ln/>
        </p:spPr>
      </p:sp>
      <p:sp>
        <p:nvSpPr>
          <p:cNvPr id="18" name="Text 14"/>
          <p:cNvSpPr/>
          <p:nvPr/>
        </p:nvSpPr>
        <p:spPr>
          <a:xfrm>
            <a:off x="535781" y="4146193"/>
            <a:ext cx="1757363"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Inter" pitchFamily="34" charset="0"/>
                <a:ea typeface="Inter" pitchFamily="34" charset="-122"/>
                <a:cs typeface="Inter" pitchFamily="34" charset="-120"/>
              </a:rPr>
              <a:t>CEEMDAN-EWT-TFT (Proposto)</a:t>
            </a:r>
            <a:endParaRPr lang="en-US" sz="784" dirty="0"/>
          </a:p>
        </p:txBody>
      </p:sp>
      <p:sp>
        <p:nvSpPr>
          <p:cNvPr id="19" name="Text 15"/>
          <p:cNvSpPr/>
          <p:nvPr/>
        </p:nvSpPr>
        <p:spPr>
          <a:xfrm>
            <a:off x="3247141" y="4139943"/>
            <a:ext cx="678656" cy="15001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2C94C"/>
                </a:solidFill>
                <a:latin typeface="JetBrains Mono" pitchFamily="34" charset="0"/>
                <a:ea typeface="JetBrains Mono" pitchFamily="34" charset="-122"/>
                <a:cs typeface="JetBrains Mono" pitchFamily="34" charset="-120"/>
              </a:rPr>
              <a:t>1.79% MAPE</a:t>
            </a:r>
            <a:endParaRPr lang="en-US" sz="784" dirty="0"/>
          </a:p>
        </p:txBody>
      </p:sp>
      <p:sp>
        <p:nvSpPr>
          <p:cNvPr id="20" name="Shape 16"/>
          <p:cNvSpPr/>
          <p:nvPr/>
        </p:nvSpPr>
        <p:spPr>
          <a:xfrm>
            <a:off x="4390141" y="1169789"/>
            <a:ext cx="4325234" cy="1555552"/>
          </a:xfrm>
          <a:prstGeom prst="rect">
            <a:avLst/>
          </a:prstGeom>
          <a:solidFill>
            <a:srgbClr val="F2C94C">
              <a:alpha val="5000"/>
            </a:srgbClr>
          </a:solidFill>
          <a:ln w="18288">
            <a:solidFill>
              <a:srgbClr val="F2C94C">
                <a:alpha val="50000"/>
              </a:srgbClr>
            </a:solidFill>
            <a:prstDash val="dash"/>
          </a:ln>
        </p:spPr>
      </p:sp>
      <p:pic>
        <p:nvPicPr>
          <p:cNvPr id="21" name="Image 1" descr="preencoded.png">    </p:cNvPr>
          <p:cNvPicPr>
            <a:picLocks noChangeAspect="1"/>
          </p:cNvPicPr>
          <p:nvPr/>
        </p:nvPicPr>
        <p:blipFill>
          <a:blip r:embed="rId2">
            <a:alphaModFix amt="80000"/>
          </a:blip>
          <a:stretch>
            <a:fillRect/>
          </a:stretch>
        </p:blipFill>
        <p:spPr>
          <a:xfrm>
            <a:off x="6438444" y="1646634"/>
            <a:ext cx="228600" cy="228600"/>
          </a:xfrm>
          <a:prstGeom prst="rect">
            <a:avLst/>
          </a:prstGeom>
        </p:spPr>
      </p:pic>
      <p:sp>
        <p:nvSpPr>
          <p:cNvPr id="22" name="Text 17"/>
          <p:cNvSpPr/>
          <p:nvPr/>
        </p:nvSpPr>
        <p:spPr>
          <a:xfrm>
            <a:off x="6053575" y="1946672"/>
            <a:ext cx="998339"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Tabela 6.2</a:t>
            </a:r>
            <a:endParaRPr lang="en-US" sz="784" dirty="0"/>
          </a:p>
        </p:txBody>
      </p:sp>
      <p:sp>
        <p:nvSpPr>
          <p:cNvPr id="23" name="Text 18"/>
          <p:cNvSpPr/>
          <p:nvPr/>
        </p:nvSpPr>
        <p:spPr>
          <a:xfrm>
            <a:off x="5254368" y="2121694"/>
            <a:ext cx="2596753"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Métricas detalhadas de performance dos modelos híbridos</a:t>
            </a:r>
            <a:endParaRPr lang="en-US" sz="674" dirty="0"/>
          </a:p>
        </p:txBody>
      </p:sp>
      <p:sp>
        <p:nvSpPr>
          <p:cNvPr id="24" name="Shape 19"/>
          <p:cNvSpPr/>
          <p:nvPr/>
        </p:nvSpPr>
        <p:spPr>
          <a:xfrm>
            <a:off x="4390141" y="2853928"/>
            <a:ext cx="4325234" cy="1569839"/>
          </a:xfrm>
          <a:prstGeom prst="rect">
            <a:avLst/>
          </a:prstGeom>
          <a:solidFill>
            <a:srgbClr val="F2C94C">
              <a:alpha val="5000"/>
            </a:srgbClr>
          </a:solidFill>
          <a:ln w="18288">
            <a:solidFill>
              <a:srgbClr val="F2C94C">
                <a:alpha val="50000"/>
              </a:srgbClr>
            </a:solidFill>
            <a:prstDash val="dash"/>
          </a:ln>
        </p:spPr>
      </p:sp>
      <p:pic>
        <p:nvPicPr>
          <p:cNvPr id="25" name="Image 2" descr="preencoded.png">    </p:cNvPr>
          <p:cNvPicPr>
            <a:picLocks noChangeAspect="1"/>
          </p:cNvPicPr>
          <p:nvPr/>
        </p:nvPicPr>
        <p:blipFill>
          <a:blip r:embed="rId3">
            <a:alphaModFix amt="80000"/>
          </a:blip>
          <a:stretch>
            <a:fillRect/>
          </a:stretch>
        </p:blipFill>
        <p:spPr>
          <a:xfrm>
            <a:off x="6438444" y="3352205"/>
            <a:ext cx="228600" cy="228600"/>
          </a:xfrm>
          <a:prstGeom prst="rect">
            <a:avLst/>
          </a:prstGeom>
        </p:spPr>
      </p:pic>
      <p:sp>
        <p:nvSpPr>
          <p:cNvPr id="26" name="Text 20"/>
          <p:cNvSpPr/>
          <p:nvPr/>
        </p:nvSpPr>
        <p:spPr>
          <a:xfrm>
            <a:off x="6059825" y="3652242"/>
            <a:ext cx="985838"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6.2</a:t>
            </a:r>
            <a:endParaRPr lang="en-US" sz="784" dirty="0"/>
          </a:p>
        </p:txBody>
      </p:sp>
      <p:sp>
        <p:nvSpPr>
          <p:cNvPr id="27" name="Text 21"/>
          <p:cNvSpPr/>
          <p:nvPr/>
        </p:nvSpPr>
        <p:spPr>
          <a:xfrm>
            <a:off x="5549940" y="3827264"/>
            <a:ext cx="2005608"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Gráfico comparativo: Benchmark vs. Híbridos</a:t>
            </a:r>
            <a:endParaRPr lang="en-US" sz="674" dirty="0"/>
          </a:p>
        </p:txBody>
      </p:sp>
      <p:sp>
        <p:nvSpPr>
          <p:cNvPr id="28" name="Text 22"/>
          <p:cNvSpPr/>
          <p:nvPr/>
        </p:nvSpPr>
        <p:spPr>
          <a:xfrm>
            <a:off x="4390141" y="4602361"/>
            <a:ext cx="4325234" cy="96441"/>
          </a:xfrm>
          <a:prstGeom prst="rect">
            <a:avLst/>
          </a:prstGeom>
          <a:noFill/>
          <a:ln/>
        </p:spPr>
        <p:txBody>
          <a:bodyPr wrap="none" lIns="0" tIns="0" rIns="0" bIns="0" rtlCol="0" anchor="t">
            <a:spAutoFit/>
          </a:bodyPr>
          <a:lstStyle/>
          <a:p>
            <a:pPr algn="ctr" indent="0" marL="0">
              <a:lnSpc>
                <a:spcPts val="700"/>
              </a:lnSpc>
              <a:buNone/>
            </a:pPr>
            <a:r>
              <a:rPr lang="en-US" sz="568"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568"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COMPARAÇÃO DOS TOP MODELS</a:t>
            </a:r>
            <a:endParaRPr lang="en-US" sz="1808" dirty="0"/>
          </a:p>
        </p:txBody>
      </p:sp>
      <p:sp>
        <p:nvSpPr>
          <p:cNvPr id="7" name="Shape 3"/>
          <p:cNvSpPr/>
          <p:nvPr/>
        </p:nvSpPr>
        <p:spPr>
          <a:xfrm>
            <a:off x="395883" y="1470737"/>
            <a:ext cx="3339694" cy="544675"/>
          </a:xfrm>
          <a:prstGeom prst="rect">
            <a:avLst/>
          </a:prstGeom>
          <a:solidFill>
            <a:srgbClr val="F2C94C">
              <a:alpha val="10000"/>
            </a:srgbClr>
          </a:solidFill>
          <a:ln w="18288">
            <a:solidFill>
              <a:srgbClr val="F2C94C"/>
            </a:solidFill>
            <a:prstDash val="solid"/>
          </a:ln>
        </p:spPr>
      </p:sp>
      <p:sp>
        <p:nvSpPr>
          <p:cNvPr id="8" name="Shape 4"/>
          <p:cNvSpPr/>
          <p:nvPr/>
        </p:nvSpPr>
        <p:spPr>
          <a:xfrm>
            <a:off x="541615" y="1597343"/>
            <a:ext cx="291465" cy="291465"/>
          </a:xfrm>
          <a:prstGeom prst="ellipse">
            <a:avLst/>
          </a:prstGeom>
          <a:solidFill>
            <a:srgbClr val="F2C94C"/>
          </a:solidFill>
          <a:ln/>
        </p:spPr>
      </p:sp>
      <p:sp>
        <p:nvSpPr>
          <p:cNvPr id="9" name="Text 5"/>
          <p:cNvSpPr/>
          <p:nvPr/>
        </p:nvSpPr>
        <p:spPr>
          <a:xfrm>
            <a:off x="541615" y="1597343"/>
            <a:ext cx="291465" cy="291465"/>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02B49"/>
                </a:solidFill>
                <a:latin typeface="Inter" pitchFamily="34" charset="0"/>
                <a:ea typeface="Inter" pitchFamily="34" charset="-122"/>
                <a:cs typeface="Inter" pitchFamily="34" charset="-120"/>
              </a:rPr>
              <a:t>1</a:t>
            </a:r>
            <a:endParaRPr lang="en-US" sz="885" dirty="0"/>
          </a:p>
        </p:txBody>
      </p:sp>
      <p:sp>
        <p:nvSpPr>
          <p:cNvPr id="10" name="Text 6"/>
          <p:cNvSpPr/>
          <p:nvPr/>
        </p:nvSpPr>
        <p:spPr>
          <a:xfrm>
            <a:off x="942380" y="1594610"/>
            <a:ext cx="2516305" cy="142089"/>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CEEMDAN-EWT-TFT (Proposto)</a:t>
            </a:r>
            <a:endParaRPr lang="en-US" sz="784" dirty="0"/>
          </a:p>
        </p:txBody>
      </p:sp>
      <p:sp>
        <p:nvSpPr>
          <p:cNvPr id="11" name="Text 7"/>
          <p:cNvSpPr/>
          <p:nvPr/>
        </p:nvSpPr>
        <p:spPr>
          <a:xfrm>
            <a:off x="942380" y="1765846"/>
            <a:ext cx="2516305" cy="125694"/>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70000"/>
                  </a:srgbClr>
                </a:solidFill>
                <a:latin typeface="JetBrains Mono" pitchFamily="34" charset="0"/>
                <a:ea typeface="JetBrains Mono" pitchFamily="34" charset="-122"/>
                <a:cs typeface="JetBrains Mono" pitchFamily="34" charset="-120"/>
              </a:rPr>
              <a:t>MAPE: </a:t>
            </a:r>
            <a:pPr algn="l" indent="0" marL="0">
              <a:lnSpc>
                <a:spcPts val="900"/>
              </a:lnSpc>
              <a:buNone/>
            </a:pPr>
            <a:r>
              <a:rPr lang="en-US" sz="634" b="1" dirty="0">
                <a:solidFill>
                  <a:srgbClr val="27AE60"/>
                </a:solidFill>
                <a:latin typeface="JetBrains Mono" pitchFamily="34" charset="0"/>
                <a:ea typeface="JetBrains Mono" pitchFamily="34" charset="-122"/>
                <a:cs typeface="JetBrains Mono" pitchFamily="34" charset="-120"/>
              </a:rPr>
              <a:t>1.79%</a:t>
            </a:r>
            <a:pPr algn="l" indent="0" marL="0">
              <a:lnSpc>
                <a:spcPts val="900"/>
              </a:lnSpc>
              <a:buNone/>
            </a:pPr>
            <a:r>
              <a:rPr lang="en-US" sz="674" dirty="0">
                <a:solidFill>
                  <a:srgbClr val="E8EDF2">
                    <a:alpha val="70000"/>
                  </a:srgbClr>
                </a:solidFill>
                <a:latin typeface="JetBrains Mono" pitchFamily="34" charset="0"/>
                <a:ea typeface="JetBrains Mono" pitchFamily="34" charset="-122"/>
                <a:cs typeface="JetBrains Mono" pitchFamily="34" charset="-120"/>
              </a:rPr>
              <a:t> | Probabilístico</a:t>
            </a:r>
            <a:endParaRPr lang="en-US" sz="674" dirty="0"/>
          </a:p>
        </p:txBody>
      </p:sp>
      <p:pic>
        <p:nvPicPr>
          <p:cNvPr id="12" name="Image 1" descr="preencoded.png">    </p:cNvPr>
          <p:cNvPicPr>
            <a:picLocks noChangeAspect="1"/>
          </p:cNvPicPr>
          <p:nvPr/>
        </p:nvPicPr>
        <p:blipFill>
          <a:blip r:embed="rId2"/>
          <a:stretch>
            <a:fillRect/>
          </a:stretch>
        </p:blipFill>
        <p:spPr>
          <a:xfrm>
            <a:off x="3458685" y="1684782"/>
            <a:ext cx="131159" cy="116586"/>
          </a:xfrm>
          <a:prstGeom prst="rect">
            <a:avLst/>
          </a:prstGeom>
        </p:spPr>
      </p:pic>
      <p:sp>
        <p:nvSpPr>
          <p:cNvPr id="13" name="Shape 8"/>
          <p:cNvSpPr/>
          <p:nvPr/>
        </p:nvSpPr>
        <p:spPr>
          <a:xfrm>
            <a:off x="428625" y="2138660"/>
            <a:ext cx="3274209" cy="519708"/>
          </a:xfrm>
          <a:prstGeom prst="rect">
            <a:avLst/>
          </a:prstGeom>
          <a:solidFill>
            <a:srgbClr val="001D33">
              <a:alpha val="30000"/>
            </a:srgbClr>
          </a:solidFill>
          <a:ln w="9144">
            <a:solidFill>
              <a:srgbClr val="E8EDF2">
                <a:alpha val="10000"/>
              </a:srgbClr>
            </a:solidFill>
            <a:prstDash val="solid"/>
          </a:ln>
        </p:spPr>
      </p:sp>
      <p:sp>
        <p:nvSpPr>
          <p:cNvPr id="14" name="Shape 9"/>
          <p:cNvSpPr/>
          <p:nvPr/>
        </p:nvSpPr>
        <p:spPr>
          <a:xfrm>
            <a:off x="571500" y="2255639"/>
            <a:ext cx="285750" cy="285750"/>
          </a:xfrm>
          <a:prstGeom prst="ellipse">
            <a:avLst/>
          </a:prstGeom>
          <a:solidFill>
            <a:srgbClr val="C0C0C0"/>
          </a:solidFill>
          <a:ln/>
        </p:spPr>
      </p:sp>
      <p:sp>
        <p:nvSpPr>
          <p:cNvPr id="15" name="Text 10"/>
          <p:cNvSpPr/>
          <p:nvPr/>
        </p:nvSpPr>
        <p:spPr>
          <a:xfrm>
            <a:off x="571500" y="2255639"/>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02B49"/>
                </a:solidFill>
                <a:latin typeface="Inter" pitchFamily="34" charset="0"/>
                <a:ea typeface="Inter" pitchFamily="34" charset="-122"/>
                <a:cs typeface="Inter" pitchFamily="34" charset="-120"/>
              </a:rPr>
              <a:t>2</a:t>
            </a:r>
            <a:endParaRPr lang="en-US" sz="885" dirty="0"/>
          </a:p>
        </p:txBody>
      </p:sp>
      <p:sp>
        <p:nvSpPr>
          <p:cNvPr id="16" name="Text 11"/>
          <p:cNvSpPr/>
          <p:nvPr/>
        </p:nvSpPr>
        <p:spPr>
          <a:xfrm>
            <a:off x="964406" y="2252960"/>
            <a:ext cx="2595553"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CEEMDAN-EWT-LSTM</a:t>
            </a:r>
            <a:endParaRPr lang="en-US" sz="784" dirty="0"/>
          </a:p>
        </p:txBody>
      </p:sp>
      <p:sp>
        <p:nvSpPr>
          <p:cNvPr id="17" name="Text 12"/>
          <p:cNvSpPr/>
          <p:nvPr/>
        </p:nvSpPr>
        <p:spPr>
          <a:xfrm>
            <a:off x="964406" y="2420838"/>
            <a:ext cx="2595553" cy="123230"/>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70000"/>
                  </a:srgbClr>
                </a:solidFill>
                <a:latin typeface="JetBrains Mono" pitchFamily="34" charset="0"/>
                <a:ea typeface="JetBrains Mono" pitchFamily="34" charset="-122"/>
                <a:cs typeface="JetBrains Mono" pitchFamily="34" charset="-120"/>
              </a:rPr>
              <a:t>MAPE: 1.69% | Determinístico</a:t>
            </a:r>
            <a:endParaRPr lang="en-US" sz="674" dirty="0"/>
          </a:p>
        </p:txBody>
      </p:sp>
      <p:sp>
        <p:nvSpPr>
          <p:cNvPr id="18" name="Shape 13"/>
          <p:cNvSpPr/>
          <p:nvPr/>
        </p:nvSpPr>
        <p:spPr>
          <a:xfrm>
            <a:off x="428625" y="2794099"/>
            <a:ext cx="3274209" cy="519708"/>
          </a:xfrm>
          <a:prstGeom prst="rect">
            <a:avLst/>
          </a:prstGeom>
          <a:solidFill>
            <a:srgbClr val="001D33">
              <a:alpha val="30000"/>
            </a:srgbClr>
          </a:solidFill>
          <a:ln w="9144">
            <a:solidFill>
              <a:srgbClr val="E8EDF2">
                <a:alpha val="10000"/>
              </a:srgbClr>
            </a:solidFill>
            <a:prstDash val="solid"/>
          </a:ln>
        </p:spPr>
      </p:sp>
      <p:sp>
        <p:nvSpPr>
          <p:cNvPr id="19" name="Shape 14"/>
          <p:cNvSpPr/>
          <p:nvPr/>
        </p:nvSpPr>
        <p:spPr>
          <a:xfrm>
            <a:off x="571500" y="2911078"/>
            <a:ext cx="285750" cy="285750"/>
          </a:xfrm>
          <a:prstGeom prst="ellipse">
            <a:avLst/>
          </a:prstGeom>
          <a:solidFill>
            <a:srgbClr val="CD7F32"/>
          </a:solidFill>
          <a:ln/>
        </p:spPr>
      </p:sp>
      <p:sp>
        <p:nvSpPr>
          <p:cNvPr id="20" name="Text 15"/>
          <p:cNvSpPr/>
          <p:nvPr/>
        </p:nvSpPr>
        <p:spPr>
          <a:xfrm>
            <a:off x="571500" y="2911078"/>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02B49"/>
                </a:solidFill>
                <a:latin typeface="Inter" pitchFamily="34" charset="0"/>
                <a:ea typeface="Inter" pitchFamily="34" charset="-122"/>
                <a:cs typeface="Inter" pitchFamily="34" charset="-120"/>
              </a:rPr>
              <a:t>3</a:t>
            </a:r>
            <a:endParaRPr lang="en-US" sz="885" dirty="0"/>
          </a:p>
        </p:txBody>
      </p:sp>
      <p:sp>
        <p:nvSpPr>
          <p:cNvPr id="21" name="Text 16"/>
          <p:cNvSpPr/>
          <p:nvPr/>
        </p:nvSpPr>
        <p:spPr>
          <a:xfrm>
            <a:off x="964406" y="2908399"/>
            <a:ext cx="2595553"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Bi-LSTM (Benchmark)</a:t>
            </a:r>
            <a:endParaRPr lang="en-US" sz="784" dirty="0"/>
          </a:p>
        </p:txBody>
      </p:sp>
      <p:sp>
        <p:nvSpPr>
          <p:cNvPr id="22" name="Text 17"/>
          <p:cNvSpPr/>
          <p:nvPr/>
        </p:nvSpPr>
        <p:spPr>
          <a:xfrm>
            <a:off x="964406" y="3076277"/>
            <a:ext cx="2595553" cy="123230"/>
          </a:xfrm>
          <a:prstGeom prst="rect">
            <a:avLst/>
          </a:prstGeom>
          <a:noFill/>
          <a:ln/>
        </p:spPr>
        <p:txBody>
          <a:bodyPr wrap="none" lIns="0" tIns="0" rIns="0" bIns="0" rtlCol="0" anchor="t">
            <a:spAutoFit/>
          </a:bodyPr>
          <a:lstStyle/>
          <a:p>
            <a:pPr algn="l" indent="0" marL="0">
              <a:lnSpc>
                <a:spcPts val="900"/>
              </a:lnSpc>
              <a:buNone/>
            </a:pPr>
            <a:r>
              <a:rPr lang="en-US" sz="674" dirty="0">
                <a:solidFill>
                  <a:srgbClr val="E8EDF2">
                    <a:alpha val="70000"/>
                  </a:srgbClr>
                </a:solidFill>
                <a:latin typeface="JetBrains Mono" pitchFamily="34" charset="0"/>
                <a:ea typeface="JetBrains Mono" pitchFamily="34" charset="-122"/>
                <a:cs typeface="JetBrains Mono" pitchFamily="34" charset="-120"/>
              </a:rPr>
              <a:t>MAPE: 4.35% | Baseline</a:t>
            </a:r>
            <a:endParaRPr lang="en-US" sz="674" dirty="0"/>
          </a:p>
        </p:txBody>
      </p:sp>
      <p:sp>
        <p:nvSpPr>
          <p:cNvPr id="23" name="Shape 18"/>
          <p:cNvSpPr/>
          <p:nvPr/>
        </p:nvSpPr>
        <p:spPr>
          <a:xfrm>
            <a:off x="428625" y="3592413"/>
            <a:ext cx="3274209" cy="814388"/>
          </a:xfrm>
          <a:prstGeom prst="rect">
            <a:avLst/>
          </a:prstGeom>
          <a:solidFill>
            <a:srgbClr val="000000">
              <a:alpha val="20000"/>
            </a:srgbClr>
          </a:solidFill>
          <a:ln/>
        </p:spPr>
      </p:sp>
      <p:sp>
        <p:nvSpPr>
          <p:cNvPr id="24" name="Shape 19"/>
          <p:cNvSpPr/>
          <p:nvPr/>
        </p:nvSpPr>
        <p:spPr>
          <a:xfrm>
            <a:off x="428625" y="3592413"/>
            <a:ext cx="28575" cy="814388"/>
          </a:xfrm>
          <a:prstGeom prst="rect">
            <a:avLst/>
          </a:prstGeom>
          <a:solidFill>
            <a:srgbClr val="F2C94C"/>
          </a:solidFill>
          <a:ln/>
        </p:spPr>
      </p:sp>
      <p:sp>
        <p:nvSpPr>
          <p:cNvPr id="25" name="Text 20"/>
          <p:cNvSpPr/>
          <p:nvPr/>
        </p:nvSpPr>
        <p:spPr>
          <a:xfrm>
            <a:off x="428625" y="3592413"/>
            <a:ext cx="3274209" cy="814388"/>
          </a:xfrm>
          <a:prstGeom prst="rect">
            <a:avLst/>
          </a:prstGeom>
          <a:noFill/>
          <a:ln/>
        </p:spPr>
        <p:txBody>
          <a:bodyPr wrap="square" lIns="127508" tIns="127508" rIns="127508" bIns="127508" rtlCol="0" anchor="t">
            <a:spAutoFit/>
          </a:bodyPr>
          <a:lstStyle/>
          <a:p>
            <a:pPr algn="l" indent="0" marL="0">
              <a:lnSpc>
                <a:spcPts val="1200"/>
              </a:lnSpc>
              <a:buNone/>
            </a:pPr>
            <a:pPr algn="l" indent="0" marL="0">
              <a:lnSpc>
                <a:spcPts val="1200"/>
              </a:lnSpc>
              <a:buNone/>
            </a:pPr>
            <a:r>
              <a:rPr lang="en-US" sz="683" b="1" dirty="0">
                <a:solidFill>
                  <a:srgbClr val="E8EDF2">
                    <a:alpha val="90000"/>
                  </a:srgbClr>
                </a:solidFill>
                <a:latin typeface="Inter" pitchFamily="34" charset="0"/>
                <a:ea typeface="Inter" pitchFamily="34" charset="-122"/>
                <a:cs typeface="Inter" pitchFamily="34" charset="-120"/>
              </a:rPr>
              <a:t>Insight:</a:t>
            </a:r>
            <a:pPr algn="l" indent="0" marL="0">
              <a:lnSpc>
                <a:spcPts val="1200"/>
              </a:lnSpc>
              <a:buNone/>
            </a:pPr>
            <a:r>
              <a:rPr lang="en-US" sz="727" dirty="0">
                <a:solidFill>
                  <a:srgbClr val="E8EDF2">
                    <a:alpha val="90000"/>
                  </a:srgbClr>
                </a:solidFill>
                <a:latin typeface="Inter" pitchFamily="34" charset="0"/>
                <a:ea typeface="Inter" pitchFamily="34" charset="-122"/>
                <a:cs typeface="Inter" pitchFamily="34" charset="-120"/>
              </a:rPr>
              <a:t> Embora o modelo híbrido LSTM tenha um erro </a:t>
            </a:r>
            <a:pPr algn="l" indent="0" marL="0">
              <a:lnSpc>
                <a:spcPts val="1200"/>
              </a:lnSpc>
              <a:buNone/>
            </a:pPr>
            <a:r>
              <a:rPr lang="en-US" sz="727" dirty="0">
                <a:solidFill>
                  <a:srgbClr val="E8EDF2">
                    <a:alpha val="90000"/>
                  </a:srgbClr>
                </a:solidFill>
                <a:latin typeface="Inter" pitchFamily="34" charset="0"/>
                <a:ea typeface="Inter" pitchFamily="34" charset="-122"/>
                <a:cs typeface="Inter" pitchFamily="34" charset="-120"/>
              </a:rPr>
              <a:t>marginalmente menor (0.1%), o </a:t>
            </a:r>
            <a:pPr algn="l" indent="0" marL="0">
              <a:lnSpc>
                <a:spcPts val="1200"/>
              </a:lnSpc>
              <a:buNone/>
            </a:pPr>
            <a:r>
              <a:rPr lang="en-US" sz="683" b="1" dirty="0">
                <a:solidFill>
                  <a:srgbClr val="E8EDF2">
                    <a:alpha val="90000"/>
                  </a:srgbClr>
                </a:solidFill>
                <a:latin typeface="Inter" pitchFamily="34" charset="0"/>
                <a:ea typeface="Inter" pitchFamily="34" charset="-122"/>
                <a:cs typeface="Inter" pitchFamily="34" charset="-120"/>
              </a:rPr>
              <a:t>TFT Aggregator</a:t>
            </a:r>
            <a:pPr algn="l" indent="0" marL="0">
              <a:lnSpc>
                <a:spcPts val="1200"/>
              </a:lnSpc>
              <a:buNone/>
            </a:pPr>
            <a:r>
              <a:rPr lang="en-US" sz="727" dirty="0">
                <a:solidFill>
                  <a:srgbClr val="E8EDF2">
                    <a:alpha val="90000"/>
                  </a:srgbClr>
                </a:solidFill>
                <a:latin typeface="Inter" pitchFamily="34" charset="0"/>
                <a:ea typeface="Inter" pitchFamily="34" charset="-122"/>
                <a:cs typeface="Inter" pitchFamily="34" charset="-120"/>
              </a:rPr>
              <a:t> foi escolhido </a:t>
            </a:r>
            <a:pPr algn="l" indent="0" marL="0">
              <a:lnSpc>
                <a:spcPts val="1200"/>
              </a:lnSpc>
              <a:buNone/>
            </a:pPr>
            <a:r>
              <a:rPr lang="en-US" sz="727" dirty="0">
                <a:solidFill>
                  <a:srgbClr val="E8EDF2">
                    <a:alpha val="90000"/>
                  </a:srgbClr>
                </a:solidFill>
                <a:latin typeface="Inter" pitchFamily="34" charset="0"/>
                <a:ea typeface="Inter" pitchFamily="34" charset="-122"/>
                <a:cs typeface="Inter" pitchFamily="34" charset="-120"/>
              </a:rPr>
              <a:t>por fornecer intervalos de confiança (P10-P90) essenciais para </a:t>
            </a:r>
            <a:pPr algn="l" indent="0" marL="0">
              <a:lnSpc>
                <a:spcPts val="1200"/>
              </a:lnSpc>
              <a:buNone/>
            </a:pPr>
            <a:r>
              <a:rPr lang="en-US" sz="727" dirty="0">
                <a:solidFill>
                  <a:srgbClr val="E8EDF2">
                    <a:alpha val="90000"/>
                  </a:srgbClr>
                </a:solidFill>
                <a:latin typeface="Inter" pitchFamily="34" charset="0"/>
                <a:ea typeface="Inter" pitchFamily="34" charset="-122"/>
                <a:cs typeface="Inter" pitchFamily="34" charset="-120"/>
              </a:rPr>
              <a:t>a gestão de risco, com custo computacional muito inferior.</a:t>
            </a:r>
            <a:endParaRPr lang="en-US" sz="727" dirty="0"/>
          </a:p>
        </p:txBody>
      </p:sp>
      <p:sp>
        <p:nvSpPr>
          <p:cNvPr id="26" name="Shape 21"/>
          <p:cNvSpPr/>
          <p:nvPr/>
        </p:nvSpPr>
        <p:spPr>
          <a:xfrm>
            <a:off x="4131459" y="1169789"/>
            <a:ext cx="4583888" cy="3571875"/>
          </a:xfrm>
          <a:prstGeom prst="rect">
            <a:avLst/>
          </a:prstGeom>
          <a:solidFill>
            <a:srgbClr val="F2C94C">
              <a:alpha val="5000"/>
            </a:srgbClr>
          </a:solidFill>
          <a:ln w="18288">
            <a:solidFill>
              <a:srgbClr val="F2C94C">
                <a:alpha val="50000"/>
              </a:srgbClr>
            </a:solidFill>
            <a:prstDash val="dash"/>
          </a:ln>
        </p:spPr>
      </p:sp>
      <p:pic>
        <p:nvPicPr>
          <p:cNvPr id="27" name="Image 2" descr="preencoded.png">    </p:cNvPr>
          <p:cNvPicPr>
            <a:picLocks noChangeAspect="1"/>
          </p:cNvPicPr>
          <p:nvPr/>
        </p:nvPicPr>
        <p:blipFill>
          <a:blip r:embed="rId3">
            <a:alphaModFix amt="80000"/>
          </a:blip>
          <a:stretch>
            <a:fillRect/>
          </a:stretch>
        </p:blipFill>
        <p:spPr>
          <a:xfrm>
            <a:off x="6223378" y="2433340"/>
            <a:ext cx="400050" cy="400050"/>
          </a:xfrm>
          <a:prstGeom prst="rect">
            <a:avLst/>
          </a:prstGeom>
        </p:spPr>
      </p:pic>
      <p:sp>
        <p:nvSpPr>
          <p:cNvPr id="28" name="Text 22"/>
          <p:cNvSpPr/>
          <p:nvPr/>
        </p:nvSpPr>
        <p:spPr>
          <a:xfrm>
            <a:off x="5235755" y="2976265"/>
            <a:ext cx="2375297"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Tabela 6.3 da Dissertação</a:t>
            </a:r>
            <a:endParaRPr lang="en-US" sz="987" dirty="0"/>
          </a:p>
        </p:txBody>
      </p:sp>
      <p:sp>
        <p:nvSpPr>
          <p:cNvPr id="29" name="Text 23"/>
          <p:cNvSpPr/>
          <p:nvPr/>
        </p:nvSpPr>
        <p:spPr>
          <a:xfrm>
            <a:off x="4818459" y="3220938"/>
            <a:ext cx="3209888"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Comparativo detalhado de métricas (MAPE, RMSE, R²) entre os melhores modelos</a:t>
            </a:r>
            <a:endParaRPr lang="en-US" sz="780" dirty="0"/>
          </a:p>
        </p:txBody>
      </p:sp>
      <p:sp>
        <p:nvSpPr>
          <p:cNvPr id="30" name="Text 24"/>
          <p:cNvSpPr/>
          <p:nvPr/>
        </p:nvSpPr>
        <p:spPr>
          <a:xfrm>
            <a:off x="4131459" y="4827389"/>
            <a:ext cx="4583888"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TRADE-OFF: INTERVALOS DE CONFIANÇA</a:t>
            </a:r>
            <a:endParaRPr lang="en-US" sz="1808" dirty="0"/>
          </a:p>
        </p:txBody>
      </p:sp>
      <p:sp>
        <p:nvSpPr>
          <p:cNvPr id="7" name="Shape 3"/>
          <p:cNvSpPr/>
          <p:nvPr/>
        </p:nvSpPr>
        <p:spPr>
          <a:xfrm>
            <a:off x="428625" y="1169789"/>
            <a:ext cx="3416554" cy="980480"/>
          </a:xfrm>
          <a:prstGeom prst="rect">
            <a:avLst/>
          </a:prstGeom>
          <a:solidFill>
            <a:srgbClr val="001D33">
              <a:alpha val="30000"/>
            </a:srgbClr>
          </a:solidFill>
          <a:ln/>
        </p:spPr>
      </p:sp>
      <p:sp>
        <p:nvSpPr>
          <p:cNvPr id="8" name="Shape 4"/>
          <p:cNvSpPr/>
          <p:nvPr/>
        </p:nvSpPr>
        <p:spPr>
          <a:xfrm>
            <a:off x="428625" y="1169789"/>
            <a:ext cx="35719" cy="980480"/>
          </a:xfrm>
          <a:prstGeom prst="rect">
            <a:avLst/>
          </a:prstGeom>
          <a:solidFill>
            <a:srgbClr val="2D9CDB"/>
          </a:solidFill>
          <a:ln/>
        </p:spPr>
      </p:sp>
      <p:pic>
        <p:nvPicPr>
          <p:cNvPr id="9" name="Image 1" descr="preencoded.png">    </p:cNvPr>
          <p:cNvPicPr>
            <a:picLocks noChangeAspect="1"/>
          </p:cNvPicPr>
          <p:nvPr/>
        </p:nvPicPr>
        <p:blipFill>
          <a:blip r:embed="rId2"/>
          <a:stretch>
            <a:fillRect/>
          </a:stretch>
        </p:blipFill>
        <p:spPr>
          <a:xfrm>
            <a:off x="571500" y="1313557"/>
            <a:ext cx="171450" cy="171450"/>
          </a:xfrm>
          <a:prstGeom prst="rect">
            <a:avLst/>
          </a:prstGeom>
        </p:spPr>
      </p:pic>
      <p:sp>
        <p:nvSpPr>
          <p:cNvPr id="10" name="Text 5"/>
          <p:cNvSpPr/>
          <p:nvPr/>
        </p:nvSpPr>
        <p:spPr>
          <a:xfrm>
            <a:off x="814388" y="1312664"/>
            <a:ext cx="1484114"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2D9CDB"/>
                </a:solidFill>
                <a:latin typeface="Montserrat" pitchFamily="34" charset="0"/>
                <a:ea typeface="Montserrat" pitchFamily="34" charset="-122"/>
                <a:cs typeface="Montserrat" pitchFamily="34" charset="-120"/>
              </a:rPr>
              <a:t>LSTM (Conservador)</a:t>
            </a:r>
            <a:endParaRPr lang="en-US" sz="987" dirty="0"/>
          </a:p>
        </p:txBody>
      </p:sp>
      <p:sp>
        <p:nvSpPr>
          <p:cNvPr id="11" name="Text 6"/>
          <p:cNvSpPr/>
          <p:nvPr/>
        </p:nvSpPr>
        <p:spPr>
          <a:xfrm>
            <a:off x="571500" y="1557338"/>
            <a:ext cx="3130804" cy="450056"/>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90000"/>
                  </a:srgbClr>
                </a:solidFill>
                <a:latin typeface="Inter" pitchFamily="34" charset="0"/>
                <a:ea typeface="Inter" pitchFamily="34" charset="-122"/>
                <a:cs typeface="Inter" pitchFamily="34" charset="-120"/>
              </a:rPr>
              <a:t>Gera intervalos de confiança </a:t>
            </a:r>
            <a:pPr algn="l" indent="0" marL="0">
              <a:lnSpc>
                <a:spcPts val="1200"/>
              </a:lnSpc>
              <a:buNone/>
            </a:pPr>
            <a:r>
              <a:rPr lang="en-US" sz="734" b="1" dirty="0">
                <a:solidFill>
                  <a:srgbClr val="E8EDF2">
                    <a:alpha val="90000"/>
                  </a:srgbClr>
                </a:solidFill>
                <a:latin typeface="Inter" pitchFamily="34" charset="0"/>
                <a:ea typeface="Inter" pitchFamily="34" charset="-122"/>
                <a:cs typeface="Inter" pitchFamily="34" charset="-120"/>
              </a:rPr>
              <a:t>largos</a:t>
            </a:r>
            <a:pPr algn="l" indent="0" marL="0">
              <a:lnSpc>
                <a:spcPts val="1200"/>
              </a:lnSpc>
              <a:buNone/>
            </a:pPr>
            <a:r>
              <a:rPr lang="en-US" sz="780" dirty="0">
                <a:solidFill>
                  <a:srgbClr val="E8EDF2">
                    <a:alpha val="90000"/>
                  </a:srgbClr>
                </a:solidFill>
                <a:latin typeface="Inter" pitchFamily="34" charset="0"/>
                <a:ea typeface="Inter" pitchFamily="34" charset="-122"/>
                <a:cs typeface="Inter" pitchFamily="34" charset="-120"/>
              </a:rPr>
              <a:t>. Cobre a maioria dos </a:t>
            </a:r>
            <a:pPr algn="l" indent="0" marL="0">
              <a:lnSpc>
                <a:spcPts val="1200"/>
              </a:lnSpc>
              <a:buNone/>
            </a:pPr>
            <a:r>
              <a:rPr lang="en-US" sz="780" dirty="0">
                <a:solidFill>
                  <a:srgbClr val="E8EDF2">
                    <a:alpha val="90000"/>
                  </a:srgbClr>
                </a:solidFill>
                <a:latin typeface="Inter" pitchFamily="34" charset="0"/>
                <a:ea typeface="Inter" pitchFamily="34" charset="-122"/>
                <a:cs typeface="Inter" pitchFamily="34" charset="-120"/>
              </a:rPr>
              <a:t>cenários reais, mas oferece pouca precisão para tomada de </a:t>
            </a:r>
            <a:pPr algn="l" indent="0" marL="0">
              <a:lnSpc>
                <a:spcPts val="1200"/>
              </a:lnSpc>
              <a:buNone/>
            </a:pPr>
            <a:r>
              <a:rPr lang="en-US" sz="780" dirty="0">
                <a:solidFill>
                  <a:srgbClr val="E8EDF2">
                    <a:alpha val="90000"/>
                  </a:srgbClr>
                </a:solidFill>
                <a:latin typeface="Inter" pitchFamily="34" charset="0"/>
                <a:ea typeface="Inter" pitchFamily="34" charset="-122"/>
                <a:cs typeface="Inter" pitchFamily="34" charset="-120"/>
              </a:rPr>
              <a:t>decisão (muito ruído).</a:t>
            </a:r>
            <a:endParaRPr lang="en-US" sz="780" dirty="0"/>
          </a:p>
        </p:txBody>
      </p:sp>
      <p:sp>
        <p:nvSpPr>
          <p:cNvPr id="12" name="Shape 7"/>
          <p:cNvSpPr/>
          <p:nvPr/>
        </p:nvSpPr>
        <p:spPr>
          <a:xfrm>
            <a:off x="428625" y="2328863"/>
            <a:ext cx="3416554" cy="980480"/>
          </a:xfrm>
          <a:prstGeom prst="rect">
            <a:avLst/>
          </a:prstGeom>
          <a:solidFill>
            <a:srgbClr val="001D33">
              <a:alpha val="30000"/>
            </a:srgbClr>
          </a:solidFill>
          <a:ln/>
        </p:spPr>
      </p:sp>
      <p:sp>
        <p:nvSpPr>
          <p:cNvPr id="13" name="Shape 8"/>
          <p:cNvSpPr/>
          <p:nvPr/>
        </p:nvSpPr>
        <p:spPr>
          <a:xfrm>
            <a:off x="428625" y="2328863"/>
            <a:ext cx="35719" cy="980480"/>
          </a:xfrm>
          <a:prstGeom prst="rect">
            <a:avLst/>
          </a:prstGeom>
          <a:solidFill>
            <a:srgbClr val="F2C94C"/>
          </a:solidFill>
          <a:ln/>
        </p:spPr>
      </p:sp>
      <p:pic>
        <p:nvPicPr>
          <p:cNvPr id="14" name="Image 2" descr="preencoded.png">    </p:cNvPr>
          <p:cNvPicPr>
            <a:picLocks noChangeAspect="1"/>
          </p:cNvPicPr>
          <p:nvPr/>
        </p:nvPicPr>
        <p:blipFill>
          <a:blip r:embed="rId3"/>
          <a:stretch>
            <a:fillRect/>
          </a:stretch>
        </p:blipFill>
        <p:spPr>
          <a:xfrm>
            <a:off x="571500" y="2472630"/>
            <a:ext cx="171450" cy="171450"/>
          </a:xfrm>
          <a:prstGeom prst="rect">
            <a:avLst/>
          </a:prstGeom>
        </p:spPr>
      </p:pic>
      <p:sp>
        <p:nvSpPr>
          <p:cNvPr id="15" name="Text 9"/>
          <p:cNvSpPr/>
          <p:nvPr/>
        </p:nvSpPr>
        <p:spPr>
          <a:xfrm>
            <a:off x="814388" y="2471738"/>
            <a:ext cx="1137642"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TFT (Confiante)</a:t>
            </a:r>
            <a:endParaRPr lang="en-US" sz="987" dirty="0"/>
          </a:p>
        </p:txBody>
      </p:sp>
      <p:sp>
        <p:nvSpPr>
          <p:cNvPr id="16" name="Text 10"/>
          <p:cNvSpPr/>
          <p:nvPr/>
        </p:nvSpPr>
        <p:spPr>
          <a:xfrm>
            <a:off x="571500" y="2716411"/>
            <a:ext cx="3130804" cy="450056"/>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alpha val="90000"/>
                  </a:srgbClr>
                </a:solidFill>
                <a:latin typeface="Inter" pitchFamily="34" charset="0"/>
                <a:ea typeface="Inter" pitchFamily="34" charset="-122"/>
                <a:cs typeface="Inter" pitchFamily="34" charset="-120"/>
              </a:rPr>
              <a:t>Gera intervalos </a:t>
            </a:r>
            <a:pPr algn="l" indent="0" marL="0">
              <a:lnSpc>
                <a:spcPts val="1200"/>
              </a:lnSpc>
              <a:buNone/>
            </a:pPr>
            <a:r>
              <a:rPr lang="en-US" sz="734" b="1" dirty="0">
                <a:solidFill>
                  <a:srgbClr val="E8EDF2">
                    <a:alpha val="90000"/>
                  </a:srgbClr>
                </a:solidFill>
                <a:latin typeface="Inter" pitchFamily="34" charset="0"/>
                <a:ea typeface="Inter" pitchFamily="34" charset="-122"/>
                <a:cs typeface="Inter" pitchFamily="34" charset="-120"/>
              </a:rPr>
              <a:t>estreitos e precisos</a:t>
            </a:r>
            <a:pPr algn="l" indent="0" marL="0">
              <a:lnSpc>
                <a:spcPts val="1200"/>
              </a:lnSpc>
              <a:buNone/>
            </a:pPr>
            <a:r>
              <a:rPr lang="en-US" sz="780" dirty="0">
                <a:solidFill>
                  <a:srgbClr val="E8EDF2">
                    <a:alpha val="90000"/>
                  </a:srgbClr>
                </a:solidFill>
                <a:latin typeface="Inter" pitchFamily="34" charset="0"/>
                <a:ea typeface="Inter" pitchFamily="34" charset="-122"/>
                <a:cs typeface="Inter" pitchFamily="34" charset="-120"/>
              </a:rPr>
              <a:t>. O modelo "confia" </a:t>
            </a:r>
            <a:pPr algn="l" indent="0" marL="0">
              <a:lnSpc>
                <a:spcPts val="1200"/>
              </a:lnSpc>
              <a:buNone/>
            </a:pPr>
            <a:r>
              <a:rPr lang="en-US" sz="780" dirty="0">
                <a:solidFill>
                  <a:srgbClr val="E8EDF2">
                    <a:alpha val="90000"/>
                  </a:srgbClr>
                </a:solidFill>
                <a:latin typeface="Inter" pitchFamily="34" charset="0"/>
                <a:ea typeface="Inter" pitchFamily="34" charset="-122"/>
                <a:cs typeface="Inter" pitchFamily="34" charset="-120"/>
              </a:rPr>
              <a:t>muito em sua previsão, o que aumenta o risco de o valor </a:t>
            </a:r>
            <a:pPr algn="l" indent="0" marL="0">
              <a:lnSpc>
                <a:spcPts val="1200"/>
              </a:lnSpc>
              <a:buNone/>
            </a:pPr>
            <a:r>
              <a:rPr lang="en-US" sz="780" dirty="0">
                <a:solidFill>
                  <a:srgbClr val="E8EDF2">
                    <a:alpha val="90000"/>
                  </a:srgbClr>
                </a:solidFill>
                <a:latin typeface="Inter" pitchFamily="34" charset="0"/>
                <a:ea typeface="Inter" pitchFamily="34" charset="-122"/>
                <a:cs typeface="Inter" pitchFamily="34" charset="-120"/>
              </a:rPr>
              <a:t>real cair fora da banda (underestimation).</a:t>
            </a:r>
            <a:endParaRPr lang="en-US" sz="780" dirty="0"/>
          </a:p>
        </p:txBody>
      </p:sp>
      <p:sp>
        <p:nvSpPr>
          <p:cNvPr id="17" name="Shape 11"/>
          <p:cNvSpPr/>
          <p:nvPr/>
        </p:nvSpPr>
        <p:spPr>
          <a:xfrm>
            <a:off x="428625" y="4113014"/>
            <a:ext cx="3416554" cy="592931"/>
          </a:xfrm>
          <a:prstGeom prst="rect">
            <a:avLst/>
          </a:prstGeom>
          <a:solidFill>
            <a:srgbClr val="EB5757">
              <a:alpha val="10000"/>
            </a:srgbClr>
          </a:solidFill>
          <a:ln w="9144">
            <a:solidFill>
              <a:srgbClr val="EB5757"/>
            </a:solidFill>
            <a:prstDash val="dash"/>
          </a:ln>
        </p:spPr>
      </p:sp>
      <p:pic>
        <p:nvPicPr>
          <p:cNvPr id="18" name="Image 3" descr="preencoded.png">    </p:cNvPr>
          <p:cNvPicPr>
            <a:picLocks noChangeAspect="1"/>
          </p:cNvPicPr>
          <p:nvPr/>
        </p:nvPicPr>
        <p:blipFill>
          <a:blip r:embed="rId4"/>
          <a:stretch>
            <a:fillRect/>
          </a:stretch>
        </p:blipFill>
        <p:spPr>
          <a:xfrm>
            <a:off x="535781" y="4330898"/>
            <a:ext cx="171450" cy="171450"/>
          </a:xfrm>
          <a:prstGeom prst="rect">
            <a:avLst/>
          </a:prstGeom>
        </p:spPr>
      </p:pic>
      <p:sp>
        <p:nvSpPr>
          <p:cNvPr id="19" name="Text 12"/>
          <p:cNvSpPr/>
          <p:nvPr/>
        </p:nvSpPr>
        <p:spPr>
          <a:xfrm>
            <a:off x="814388" y="4234458"/>
            <a:ext cx="2923635" cy="364331"/>
          </a:xfrm>
          <a:prstGeom prst="rect">
            <a:avLst/>
          </a:prstGeom>
          <a:noFill/>
          <a:ln/>
        </p:spPr>
        <p:txBody>
          <a:bodyPr wrap="square" lIns="0" tIns="0" rIns="0" bIns="0" rtlCol="0" anchor="t">
            <a:spAutoFit/>
          </a:bodyPr>
          <a:lstStyle/>
          <a:p>
            <a:pPr algn="l" indent="0" marL="0">
              <a:lnSpc>
                <a:spcPts val="900"/>
              </a:lnSpc>
              <a:buNone/>
            </a:pPr>
            <a:pPr algn="l" indent="0" marL="0">
              <a:lnSpc>
                <a:spcPts val="900"/>
              </a:lnSpc>
              <a:buNone/>
            </a:pPr>
            <a:r>
              <a:rPr lang="en-US" sz="683" b="1" dirty="0">
                <a:solidFill>
                  <a:srgbClr val="E8EDF2"/>
                </a:solidFill>
                <a:latin typeface="Inter" pitchFamily="34" charset="0"/>
                <a:ea typeface="Inter" pitchFamily="34" charset="-122"/>
                <a:cs typeface="Inter" pitchFamily="34" charset="-120"/>
              </a:rPr>
              <a:t>Consequência:</a:t>
            </a:r>
            <a:pPr algn="l" indent="0" marL="0">
              <a:lnSpc>
                <a:spcPts val="900"/>
              </a:lnSpc>
              <a:buNone/>
            </a:pPr>
            <a:r>
              <a:rPr lang="en-US" sz="683" b="1" dirty="0">
                <a:solidFill>
                  <a:srgbClr val="E8EDF2"/>
                </a:solidFill>
                <a:latin typeface="Inter" pitchFamily="34" charset="0"/>
                <a:ea typeface="Inter" pitchFamily="34" charset="-122"/>
                <a:cs typeface="Inter" pitchFamily="34" charset="-120"/>
              </a:rPr>
              <a:t> A alta confiança do TFT exige uma </a:t>
            </a:r>
            <a:pPr algn="l" indent="0" marL="0">
              <a:lnSpc>
                <a:spcPts val="900"/>
              </a:lnSpc>
              <a:buNone/>
            </a:pPr>
            <a:r>
              <a:rPr lang="en-US" sz="683" b="1" dirty="0">
                <a:solidFill>
                  <a:srgbClr val="E8EDF2"/>
                </a:solidFill>
                <a:latin typeface="Inter" pitchFamily="34" charset="0"/>
                <a:ea typeface="Inter" pitchFamily="34" charset="-122"/>
                <a:cs typeface="Inter" pitchFamily="34" charset="-120"/>
              </a:rPr>
              <a:t>calibração externa (Safety Factor) para garantir a segurança </a:t>
            </a:r>
            <a:pPr algn="l" indent="0" marL="0">
              <a:lnSpc>
                <a:spcPts val="900"/>
              </a:lnSpc>
              <a:buNone/>
            </a:pPr>
            <a:r>
              <a:rPr lang="en-US" sz="683" b="1" dirty="0">
                <a:solidFill>
                  <a:srgbClr val="E8EDF2"/>
                </a:solidFill>
                <a:latin typeface="Inter" pitchFamily="34" charset="0"/>
                <a:ea typeface="Inter" pitchFamily="34" charset="-122"/>
                <a:cs typeface="Inter" pitchFamily="34" charset="-120"/>
              </a:rPr>
              <a:t>operacional sem perder a precisão.</a:t>
            </a:r>
            <a:endParaRPr lang="en-US" sz="683" dirty="0"/>
          </a:p>
        </p:txBody>
      </p:sp>
      <p:sp>
        <p:nvSpPr>
          <p:cNvPr id="20" name="Shape 13"/>
          <p:cNvSpPr/>
          <p:nvPr/>
        </p:nvSpPr>
        <p:spPr>
          <a:xfrm>
            <a:off x="4273804" y="1169789"/>
            <a:ext cx="4441543" cy="3536156"/>
          </a:xfrm>
          <a:prstGeom prst="rect">
            <a:avLst/>
          </a:prstGeom>
          <a:solidFill>
            <a:srgbClr val="F2C94C">
              <a:alpha val="5000"/>
            </a:srgbClr>
          </a:solidFill>
          <a:ln w="18288">
            <a:solidFill>
              <a:srgbClr val="F2C94C">
                <a:alpha val="50000"/>
              </a:srgbClr>
            </a:solidFill>
            <a:prstDash val="dash"/>
          </a:ln>
        </p:spPr>
      </p:sp>
      <p:pic>
        <p:nvPicPr>
          <p:cNvPr id="21" name="Image 4" descr="preencoded.png">    </p:cNvPr>
          <p:cNvPicPr>
            <a:picLocks noChangeAspect="1"/>
          </p:cNvPicPr>
          <p:nvPr/>
        </p:nvPicPr>
        <p:blipFill>
          <a:blip r:embed="rId5">
            <a:alphaModFix amt="80000"/>
          </a:blip>
          <a:stretch>
            <a:fillRect/>
          </a:stretch>
        </p:blipFill>
        <p:spPr>
          <a:xfrm>
            <a:off x="6294537" y="2415480"/>
            <a:ext cx="400050" cy="400050"/>
          </a:xfrm>
          <a:prstGeom prst="rect">
            <a:avLst/>
          </a:prstGeom>
        </p:spPr>
      </p:pic>
      <p:sp>
        <p:nvSpPr>
          <p:cNvPr id="22" name="Text 14"/>
          <p:cNvSpPr/>
          <p:nvPr/>
        </p:nvSpPr>
        <p:spPr>
          <a:xfrm>
            <a:off x="5314057" y="2958405"/>
            <a:ext cx="2361009"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6.3 da Dissertação</a:t>
            </a:r>
            <a:endParaRPr lang="en-US" sz="987" dirty="0"/>
          </a:p>
        </p:txBody>
      </p:sp>
      <p:sp>
        <p:nvSpPr>
          <p:cNvPr id="23" name="Text 15"/>
          <p:cNvSpPr/>
          <p:nvPr/>
        </p:nvSpPr>
        <p:spPr>
          <a:xfrm>
            <a:off x="4946545" y="3203079"/>
            <a:ext cx="3096034"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Comparação visual das bandas de confiança entre LSTM e TFT</a:t>
            </a:r>
            <a:endParaRPr lang="en-US" sz="780" dirty="0"/>
          </a:p>
        </p:txBody>
      </p:sp>
      <p:sp>
        <p:nvSpPr>
          <p:cNvPr id="24" name="Text 16"/>
          <p:cNvSpPr/>
          <p:nvPr/>
        </p:nvSpPr>
        <p:spPr>
          <a:xfrm>
            <a:off x="4273804" y="4791670"/>
            <a:ext cx="4441543"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PREVISÕES DO MODELO PROPOSTO</a:t>
            </a:r>
            <a:endParaRPr lang="en-US" sz="1808" dirty="0"/>
          </a:p>
        </p:txBody>
      </p:sp>
      <p:sp>
        <p:nvSpPr>
          <p:cNvPr id="7" name="Text 3"/>
          <p:cNvSpPr/>
          <p:nvPr/>
        </p:nvSpPr>
        <p:spPr>
          <a:xfrm>
            <a:off x="428625" y="1098352"/>
            <a:ext cx="6429375"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E8EDF2">
                    <a:alpha val="90000"/>
                  </a:srgbClr>
                </a:solidFill>
                <a:latin typeface="Inter" pitchFamily="34" charset="0"/>
                <a:ea typeface="Inter" pitchFamily="34" charset="-122"/>
                <a:cs typeface="Inter" pitchFamily="34" charset="-120"/>
              </a:rPr>
              <a:t>O modelo demonstra robustez ao capturar a dinâmica de </a:t>
            </a:r>
            <a:pPr algn="l" indent="0" marL="0">
              <a:lnSpc>
                <a:spcPts val="1500"/>
              </a:lnSpc>
              <a:buNone/>
            </a:pPr>
            <a:r>
              <a:rPr lang="en-US" sz="885" b="1" dirty="0">
                <a:solidFill>
                  <a:srgbClr val="F2C94C"/>
                </a:solidFill>
                <a:latin typeface="Inter" pitchFamily="34" charset="0"/>
                <a:ea typeface="Inter" pitchFamily="34" charset="-122"/>
                <a:cs typeface="Inter" pitchFamily="34" charset="-120"/>
              </a:rPr>
              <a:t>Ramp Events</a:t>
            </a:r>
            <a:pPr algn="l" indent="0" marL="0">
              <a:lnSpc>
                <a:spcPts val="1500"/>
              </a:lnSpc>
              <a:buNone/>
            </a:pPr>
            <a:r>
              <a:rPr lang="en-US" sz="942" dirty="0">
                <a:solidFill>
                  <a:srgbClr val="E8EDF2">
                    <a:alpha val="90000"/>
                  </a:srgbClr>
                </a:solidFill>
                <a:latin typeface="Inter" pitchFamily="34" charset="0"/>
                <a:ea typeface="Inter" pitchFamily="34" charset="-122"/>
                <a:cs typeface="Inter" pitchFamily="34" charset="-120"/>
              </a:rPr>
              <a:t> (mudanças bruscas de potência) </a:t>
            </a:r>
            <a:pPr algn="l" indent="0" marL="0">
              <a:lnSpc>
                <a:spcPts val="1500"/>
              </a:lnSpc>
              <a:buNone/>
            </a:pPr>
            <a:r>
              <a:rPr lang="en-US" sz="942" dirty="0">
                <a:solidFill>
                  <a:srgbClr val="E8EDF2">
                    <a:alpha val="90000"/>
                  </a:srgbClr>
                </a:solidFill>
                <a:latin typeface="Inter" pitchFamily="34" charset="0"/>
                <a:ea typeface="Inter" pitchFamily="34" charset="-122"/>
                <a:cs typeface="Inter" pitchFamily="34" charset="-120"/>
              </a:rPr>
              <a:t>e fornece intervalos de confiança (P10-P90) bem calibrados, essenciais para a segurança operacional.</a:t>
            </a:r>
            <a:endParaRPr lang="en-US" sz="942" dirty="0"/>
          </a:p>
        </p:txBody>
      </p:sp>
      <p:sp>
        <p:nvSpPr>
          <p:cNvPr id="8" name="Shape 4"/>
          <p:cNvSpPr/>
          <p:nvPr/>
        </p:nvSpPr>
        <p:spPr>
          <a:xfrm>
            <a:off x="428625" y="1626989"/>
            <a:ext cx="2666991" cy="253603"/>
          </a:xfrm>
          <a:prstGeom prst="rect">
            <a:avLst/>
          </a:prstGeom>
          <a:solidFill>
            <a:srgbClr val="001D33">
              <a:alpha val="30000"/>
            </a:srgbClr>
          </a:solidFill>
          <a:ln/>
        </p:spPr>
      </p:sp>
      <p:sp>
        <p:nvSpPr>
          <p:cNvPr id="9" name="Shape 5"/>
          <p:cNvSpPr/>
          <p:nvPr/>
        </p:nvSpPr>
        <p:spPr>
          <a:xfrm>
            <a:off x="428625" y="1626989"/>
            <a:ext cx="21431" cy="253603"/>
          </a:xfrm>
          <a:prstGeom prst="rect">
            <a:avLst/>
          </a:prstGeom>
          <a:solidFill>
            <a:srgbClr val="F2C94C"/>
          </a:solidFill>
          <a:ln/>
        </p:spPr>
      </p:sp>
      <p:sp>
        <p:nvSpPr>
          <p:cNvPr id="10" name="Text 6"/>
          <p:cNvSpPr/>
          <p:nvPr/>
        </p:nvSpPr>
        <p:spPr>
          <a:xfrm>
            <a:off x="428625" y="1626989"/>
            <a:ext cx="2666991" cy="253603"/>
          </a:xfrm>
          <a:prstGeom prst="rect">
            <a:avLst/>
          </a:prstGeom>
          <a:noFill/>
          <a:ln/>
        </p:spPr>
        <p:txBody>
          <a:bodyPr wrap="square" lIns="68072" tIns="68072" rIns="68072" bIns="68072" rtlCol="0" anchor="t">
            <a:spAutoFit/>
          </a:bodyPr>
          <a:lstStyle/>
          <a:p>
            <a:pPr algn="ctr"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Horizonte t+10 min</a:t>
            </a:r>
            <a:endParaRPr lang="en-US" sz="784" dirty="0"/>
          </a:p>
        </p:txBody>
      </p:sp>
      <p:sp>
        <p:nvSpPr>
          <p:cNvPr id="11" name="Shape 7"/>
          <p:cNvSpPr/>
          <p:nvPr/>
        </p:nvSpPr>
        <p:spPr>
          <a:xfrm>
            <a:off x="428625" y="1937742"/>
            <a:ext cx="2666991" cy="2403872"/>
          </a:xfrm>
          <a:prstGeom prst="rect">
            <a:avLst/>
          </a:prstGeom>
          <a:solidFill>
            <a:srgbClr val="F2C94C">
              <a:alpha val="5000"/>
            </a:srgbClr>
          </a:solidFill>
          <a:ln w="18288">
            <a:solidFill>
              <a:srgbClr val="F2C94C">
                <a:alpha val="50000"/>
              </a:srgbClr>
            </a:solidFill>
            <a:prstDash val="dash"/>
          </a:ln>
        </p:spPr>
      </p:sp>
      <p:pic>
        <p:nvPicPr>
          <p:cNvPr id="12" name="Image 1" descr="preencoded.png">    </p:cNvPr>
          <p:cNvPicPr>
            <a:picLocks noChangeAspect="1"/>
          </p:cNvPicPr>
          <p:nvPr/>
        </p:nvPicPr>
        <p:blipFill>
          <a:blip r:embed="rId2">
            <a:alphaModFix amt="80000"/>
          </a:blip>
          <a:stretch>
            <a:fillRect/>
          </a:stretch>
        </p:blipFill>
        <p:spPr>
          <a:xfrm>
            <a:off x="1647806" y="2869109"/>
            <a:ext cx="228600" cy="228600"/>
          </a:xfrm>
          <a:prstGeom prst="rect">
            <a:avLst/>
          </a:prstGeom>
        </p:spPr>
      </p:pic>
      <p:sp>
        <p:nvSpPr>
          <p:cNvPr id="13" name="Text 8"/>
          <p:cNvSpPr/>
          <p:nvPr/>
        </p:nvSpPr>
        <p:spPr>
          <a:xfrm>
            <a:off x="1327231" y="3154859"/>
            <a:ext cx="869752" cy="121444"/>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F2C94C"/>
                </a:solidFill>
                <a:latin typeface="Montserrat" pitchFamily="34" charset="0"/>
                <a:ea typeface="Montserrat" pitchFamily="34" charset="-122"/>
                <a:cs typeface="Montserrat" pitchFamily="34" charset="-120"/>
              </a:rPr>
              <a:t>Inserir Figura 6.4</a:t>
            </a:r>
            <a:endParaRPr lang="en-US" sz="683" dirty="0"/>
          </a:p>
        </p:txBody>
      </p:sp>
      <p:sp>
        <p:nvSpPr>
          <p:cNvPr id="14" name="Text 9"/>
          <p:cNvSpPr/>
          <p:nvPr/>
        </p:nvSpPr>
        <p:spPr>
          <a:xfrm>
            <a:off x="957542" y="3304877"/>
            <a:ext cx="1609130" cy="105370"/>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E8EDF2">
                    <a:alpha val="60000"/>
                  </a:srgbClr>
                </a:solidFill>
                <a:latin typeface="Inter" pitchFamily="34" charset="0"/>
                <a:ea typeface="Inter" pitchFamily="34" charset="-122"/>
                <a:cs typeface="Inter" pitchFamily="34" charset="-120"/>
              </a:rPr>
              <a:t>Série temporal Real vs Prevista (10 min)</a:t>
            </a:r>
            <a:endParaRPr lang="en-US" sz="621" dirty="0"/>
          </a:p>
        </p:txBody>
      </p:sp>
      <p:sp>
        <p:nvSpPr>
          <p:cNvPr id="15" name="Shape 10"/>
          <p:cNvSpPr/>
          <p:nvPr/>
        </p:nvSpPr>
        <p:spPr>
          <a:xfrm>
            <a:off x="3238491" y="1626989"/>
            <a:ext cx="2666991" cy="253603"/>
          </a:xfrm>
          <a:prstGeom prst="rect">
            <a:avLst/>
          </a:prstGeom>
          <a:solidFill>
            <a:srgbClr val="001D33">
              <a:alpha val="30000"/>
            </a:srgbClr>
          </a:solidFill>
          <a:ln/>
        </p:spPr>
      </p:sp>
      <p:sp>
        <p:nvSpPr>
          <p:cNvPr id="16" name="Shape 11"/>
          <p:cNvSpPr/>
          <p:nvPr/>
        </p:nvSpPr>
        <p:spPr>
          <a:xfrm>
            <a:off x="3238491" y="1626989"/>
            <a:ext cx="21431" cy="253603"/>
          </a:xfrm>
          <a:prstGeom prst="rect">
            <a:avLst/>
          </a:prstGeom>
          <a:solidFill>
            <a:srgbClr val="F2C94C"/>
          </a:solidFill>
          <a:ln/>
        </p:spPr>
      </p:sp>
      <p:sp>
        <p:nvSpPr>
          <p:cNvPr id="17" name="Text 12"/>
          <p:cNvSpPr/>
          <p:nvPr/>
        </p:nvSpPr>
        <p:spPr>
          <a:xfrm>
            <a:off x="3238491" y="1626989"/>
            <a:ext cx="2666991" cy="253603"/>
          </a:xfrm>
          <a:prstGeom prst="rect">
            <a:avLst/>
          </a:prstGeom>
          <a:noFill/>
          <a:ln/>
        </p:spPr>
        <p:txBody>
          <a:bodyPr wrap="square" lIns="68072" tIns="68072" rIns="68072" bIns="68072" rtlCol="0" anchor="t">
            <a:spAutoFit/>
          </a:bodyPr>
          <a:lstStyle/>
          <a:p>
            <a:pPr algn="ctr"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Horizonte t+20 min</a:t>
            </a:r>
            <a:endParaRPr lang="en-US" sz="784" dirty="0"/>
          </a:p>
        </p:txBody>
      </p:sp>
      <p:sp>
        <p:nvSpPr>
          <p:cNvPr id="18" name="Shape 13"/>
          <p:cNvSpPr/>
          <p:nvPr/>
        </p:nvSpPr>
        <p:spPr>
          <a:xfrm>
            <a:off x="3238491" y="1937742"/>
            <a:ext cx="2666991" cy="2403872"/>
          </a:xfrm>
          <a:prstGeom prst="rect">
            <a:avLst/>
          </a:prstGeom>
          <a:solidFill>
            <a:srgbClr val="F2C94C">
              <a:alpha val="5000"/>
            </a:srgbClr>
          </a:solidFill>
          <a:ln w="18288">
            <a:solidFill>
              <a:srgbClr val="F2C94C">
                <a:alpha val="50000"/>
              </a:srgbClr>
            </a:solidFill>
            <a:prstDash val="dash"/>
          </a:ln>
        </p:spPr>
      </p:sp>
      <p:pic>
        <p:nvPicPr>
          <p:cNvPr id="19" name="Image 2" descr="preencoded.png">    </p:cNvPr>
          <p:cNvPicPr>
            <a:picLocks noChangeAspect="1"/>
          </p:cNvPicPr>
          <p:nvPr/>
        </p:nvPicPr>
        <p:blipFill>
          <a:blip r:embed="rId3">
            <a:alphaModFix amt="80000"/>
          </a:blip>
          <a:stretch>
            <a:fillRect/>
          </a:stretch>
        </p:blipFill>
        <p:spPr>
          <a:xfrm>
            <a:off x="4457672" y="2869109"/>
            <a:ext cx="228600" cy="228600"/>
          </a:xfrm>
          <a:prstGeom prst="rect">
            <a:avLst/>
          </a:prstGeom>
        </p:spPr>
      </p:pic>
      <p:sp>
        <p:nvSpPr>
          <p:cNvPr id="20" name="Text 14"/>
          <p:cNvSpPr/>
          <p:nvPr/>
        </p:nvSpPr>
        <p:spPr>
          <a:xfrm>
            <a:off x="4141561" y="3154859"/>
            <a:ext cx="860822" cy="121444"/>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F2C94C"/>
                </a:solidFill>
                <a:latin typeface="Montserrat" pitchFamily="34" charset="0"/>
                <a:ea typeface="Montserrat" pitchFamily="34" charset="-122"/>
                <a:cs typeface="Montserrat" pitchFamily="34" charset="-120"/>
              </a:rPr>
              <a:t>Inserir Figura 6.5</a:t>
            </a:r>
            <a:endParaRPr lang="en-US" sz="683" dirty="0"/>
          </a:p>
        </p:txBody>
      </p:sp>
      <p:sp>
        <p:nvSpPr>
          <p:cNvPr id="21" name="Text 15"/>
          <p:cNvSpPr/>
          <p:nvPr/>
        </p:nvSpPr>
        <p:spPr>
          <a:xfrm>
            <a:off x="3759371" y="3304877"/>
            <a:ext cx="1625203" cy="105370"/>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E8EDF2">
                    <a:alpha val="60000"/>
                  </a:srgbClr>
                </a:solidFill>
                <a:latin typeface="Inter" pitchFamily="34" charset="0"/>
                <a:ea typeface="Inter" pitchFamily="34" charset="-122"/>
                <a:cs typeface="Inter" pitchFamily="34" charset="-120"/>
              </a:rPr>
              <a:t>Série temporal Real vs Prevista (20 min)</a:t>
            </a:r>
            <a:endParaRPr lang="en-US" sz="621" dirty="0"/>
          </a:p>
        </p:txBody>
      </p:sp>
      <p:sp>
        <p:nvSpPr>
          <p:cNvPr id="22" name="Shape 16"/>
          <p:cNvSpPr/>
          <p:nvPr/>
        </p:nvSpPr>
        <p:spPr>
          <a:xfrm>
            <a:off x="6048356" y="1626989"/>
            <a:ext cx="2666991" cy="253603"/>
          </a:xfrm>
          <a:prstGeom prst="rect">
            <a:avLst/>
          </a:prstGeom>
          <a:solidFill>
            <a:srgbClr val="001D33">
              <a:alpha val="30000"/>
            </a:srgbClr>
          </a:solidFill>
          <a:ln/>
        </p:spPr>
      </p:sp>
      <p:sp>
        <p:nvSpPr>
          <p:cNvPr id="23" name="Shape 17"/>
          <p:cNvSpPr/>
          <p:nvPr/>
        </p:nvSpPr>
        <p:spPr>
          <a:xfrm>
            <a:off x="6048356" y="1626989"/>
            <a:ext cx="21431" cy="253603"/>
          </a:xfrm>
          <a:prstGeom prst="rect">
            <a:avLst/>
          </a:prstGeom>
          <a:solidFill>
            <a:srgbClr val="F2C94C"/>
          </a:solidFill>
          <a:ln/>
        </p:spPr>
      </p:sp>
      <p:sp>
        <p:nvSpPr>
          <p:cNvPr id="24" name="Text 18"/>
          <p:cNvSpPr/>
          <p:nvPr/>
        </p:nvSpPr>
        <p:spPr>
          <a:xfrm>
            <a:off x="6048356" y="1626989"/>
            <a:ext cx="2666991" cy="253603"/>
          </a:xfrm>
          <a:prstGeom prst="rect">
            <a:avLst/>
          </a:prstGeom>
          <a:noFill/>
          <a:ln/>
        </p:spPr>
        <p:txBody>
          <a:bodyPr wrap="square" lIns="68072" tIns="68072" rIns="68072" bIns="68072" rtlCol="0" anchor="t">
            <a:spAutoFit/>
          </a:bodyPr>
          <a:lstStyle/>
          <a:p>
            <a:pPr algn="ctr"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Horizonte t+30 min</a:t>
            </a:r>
            <a:endParaRPr lang="en-US" sz="784" dirty="0"/>
          </a:p>
        </p:txBody>
      </p:sp>
      <p:sp>
        <p:nvSpPr>
          <p:cNvPr id="25" name="Shape 19"/>
          <p:cNvSpPr/>
          <p:nvPr/>
        </p:nvSpPr>
        <p:spPr>
          <a:xfrm>
            <a:off x="6048356" y="1937742"/>
            <a:ext cx="2666991" cy="2403872"/>
          </a:xfrm>
          <a:prstGeom prst="rect">
            <a:avLst/>
          </a:prstGeom>
          <a:solidFill>
            <a:srgbClr val="F2C94C">
              <a:alpha val="5000"/>
            </a:srgbClr>
          </a:solidFill>
          <a:ln w="18288">
            <a:solidFill>
              <a:srgbClr val="F2C94C">
                <a:alpha val="50000"/>
              </a:srgbClr>
            </a:solidFill>
            <a:prstDash val="dash"/>
          </a:ln>
        </p:spPr>
      </p:sp>
      <p:pic>
        <p:nvPicPr>
          <p:cNvPr id="26" name="Image 3" descr="preencoded.png">    </p:cNvPr>
          <p:cNvPicPr>
            <a:picLocks noChangeAspect="1"/>
          </p:cNvPicPr>
          <p:nvPr/>
        </p:nvPicPr>
        <p:blipFill>
          <a:blip r:embed="rId4">
            <a:alphaModFix amt="80000"/>
          </a:blip>
          <a:stretch>
            <a:fillRect/>
          </a:stretch>
        </p:blipFill>
        <p:spPr>
          <a:xfrm>
            <a:off x="7267538" y="2869109"/>
            <a:ext cx="228600" cy="228600"/>
          </a:xfrm>
          <a:prstGeom prst="rect">
            <a:avLst/>
          </a:prstGeom>
        </p:spPr>
      </p:pic>
      <p:sp>
        <p:nvSpPr>
          <p:cNvPr id="27" name="Text 20"/>
          <p:cNvSpPr/>
          <p:nvPr/>
        </p:nvSpPr>
        <p:spPr>
          <a:xfrm>
            <a:off x="6950534" y="3154859"/>
            <a:ext cx="862608" cy="121444"/>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F2C94C"/>
                </a:solidFill>
                <a:latin typeface="Montserrat" pitchFamily="34" charset="0"/>
                <a:ea typeface="Montserrat" pitchFamily="34" charset="-122"/>
                <a:cs typeface="Montserrat" pitchFamily="34" charset="-120"/>
              </a:rPr>
              <a:t>Inserir Figura 6.6</a:t>
            </a:r>
            <a:endParaRPr lang="en-US" sz="683" dirty="0"/>
          </a:p>
        </p:txBody>
      </p:sp>
      <p:sp>
        <p:nvSpPr>
          <p:cNvPr id="28" name="Text 21"/>
          <p:cNvSpPr/>
          <p:nvPr/>
        </p:nvSpPr>
        <p:spPr>
          <a:xfrm>
            <a:off x="6568343" y="3304877"/>
            <a:ext cx="1626989" cy="105370"/>
          </a:xfrm>
          <a:prstGeom prst="rect">
            <a:avLst/>
          </a:prstGeom>
          <a:noFill/>
          <a:ln/>
        </p:spPr>
        <p:txBody>
          <a:bodyPr wrap="none" lIns="0" tIns="0" rIns="0" bIns="0" rtlCol="0" anchor="t">
            <a:spAutoFit/>
          </a:bodyPr>
          <a:lstStyle/>
          <a:p>
            <a:pPr algn="ctr" indent="0" marL="0">
              <a:lnSpc>
                <a:spcPts val="800"/>
              </a:lnSpc>
              <a:buNone/>
            </a:pPr>
            <a:r>
              <a:rPr lang="en-US" sz="621" dirty="0">
                <a:solidFill>
                  <a:srgbClr val="E8EDF2">
                    <a:alpha val="60000"/>
                  </a:srgbClr>
                </a:solidFill>
                <a:latin typeface="Inter" pitchFamily="34" charset="0"/>
                <a:ea typeface="Inter" pitchFamily="34" charset="-122"/>
                <a:cs typeface="Inter" pitchFamily="34" charset="-120"/>
              </a:rPr>
              <a:t>Série temporal Real vs Prevista (30 min)</a:t>
            </a:r>
            <a:endParaRPr lang="en-US" sz="621" dirty="0"/>
          </a:p>
        </p:txBody>
      </p:sp>
      <p:sp>
        <p:nvSpPr>
          <p:cNvPr id="29" name="Text 22"/>
          <p:cNvSpPr/>
          <p:nvPr/>
        </p:nvSpPr>
        <p:spPr>
          <a:xfrm>
            <a:off x="428625" y="4455914"/>
            <a:ext cx="8286750"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ANÁLISE DE REGRESSÃO</a:t>
            </a:r>
            <a:endParaRPr lang="en-US" sz="1808" dirty="0"/>
          </a:p>
        </p:txBody>
      </p:sp>
      <p:sp>
        <p:nvSpPr>
          <p:cNvPr id="7" name="Text 3"/>
          <p:cNvSpPr/>
          <p:nvPr/>
        </p:nvSpPr>
        <p:spPr>
          <a:xfrm>
            <a:off x="428625" y="1516094"/>
            <a:ext cx="3416554" cy="51435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A análise de dispersão (Scatter Plot) confirma a alta aderência do modelo aos dados reais, com pontos fortemente agrupados ao redor da linha ideal (y=x).</a:t>
            </a:r>
            <a:endParaRPr lang="en-US" sz="834" dirty="0"/>
          </a:p>
        </p:txBody>
      </p:sp>
      <p:sp>
        <p:nvSpPr>
          <p:cNvPr id="8" name="Shape 4"/>
          <p:cNvSpPr/>
          <p:nvPr/>
        </p:nvSpPr>
        <p:spPr>
          <a:xfrm>
            <a:off x="428625" y="2201894"/>
            <a:ext cx="3416554" cy="405408"/>
          </a:xfrm>
          <a:prstGeom prst="rect">
            <a:avLst/>
          </a:prstGeom>
          <a:solidFill>
            <a:srgbClr val="001D33">
              <a:alpha val="30000"/>
            </a:srgbClr>
          </a:solidFill>
          <a:ln/>
        </p:spPr>
      </p:sp>
      <p:sp>
        <p:nvSpPr>
          <p:cNvPr id="9" name="Shape 5"/>
          <p:cNvSpPr/>
          <p:nvPr/>
        </p:nvSpPr>
        <p:spPr>
          <a:xfrm>
            <a:off x="428625" y="2600158"/>
            <a:ext cx="3416554" cy="7144"/>
          </a:xfrm>
          <a:prstGeom prst="rect">
            <a:avLst/>
          </a:prstGeom>
          <a:solidFill>
            <a:srgbClr val="FBEFC9"/>
          </a:solidFill>
          <a:ln/>
        </p:spPr>
      </p:sp>
      <p:sp>
        <p:nvSpPr>
          <p:cNvPr id="10" name="Text 6"/>
          <p:cNvSpPr/>
          <p:nvPr/>
        </p:nvSpPr>
        <p:spPr>
          <a:xfrm>
            <a:off x="571500" y="2334946"/>
            <a:ext cx="842963"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Horizonte t+10</a:t>
            </a:r>
            <a:endParaRPr lang="en-US" sz="784" dirty="0"/>
          </a:p>
        </p:txBody>
      </p:sp>
      <p:sp>
        <p:nvSpPr>
          <p:cNvPr id="11" name="Text 7"/>
          <p:cNvSpPr/>
          <p:nvPr/>
        </p:nvSpPr>
        <p:spPr>
          <a:xfrm>
            <a:off x="2562876" y="2291190"/>
            <a:ext cx="1139428"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JetBrains Mono" pitchFamily="34" charset="0"/>
                <a:ea typeface="JetBrains Mono" pitchFamily="34" charset="-122"/>
                <a:cs typeface="JetBrains Mono" pitchFamily="34" charset="-120"/>
              </a:rPr>
              <a:t>R² = 0.9905</a:t>
            </a:r>
            <a:endParaRPr lang="en-US" sz="1193" dirty="0"/>
          </a:p>
        </p:txBody>
      </p:sp>
      <p:sp>
        <p:nvSpPr>
          <p:cNvPr id="12" name="Shape 8"/>
          <p:cNvSpPr/>
          <p:nvPr/>
        </p:nvSpPr>
        <p:spPr>
          <a:xfrm>
            <a:off x="428625" y="2689454"/>
            <a:ext cx="3416554" cy="405408"/>
          </a:xfrm>
          <a:prstGeom prst="rect">
            <a:avLst/>
          </a:prstGeom>
          <a:solidFill>
            <a:srgbClr val="001D33">
              <a:alpha val="30000"/>
            </a:srgbClr>
          </a:solidFill>
          <a:ln/>
        </p:spPr>
      </p:sp>
      <p:sp>
        <p:nvSpPr>
          <p:cNvPr id="13" name="Shape 9"/>
          <p:cNvSpPr/>
          <p:nvPr/>
        </p:nvSpPr>
        <p:spPr>
          <a:xfrm>
            <a:off x="428625" y="3087719"/>
            <a:ext cx="3416554" cy="7144"/>
          </a:xfrm>
          <a:prstGeom prst="rect">
            <a:avLst/>
          </a:prstGeom>
          <a:solidFill>
            <a:srgbClr val="FBEFC9"/>
          </a:solidFill>
          <a:ln/>
        </p:spPr>
      </p:sp>
      <p:sp>
        <p:nvSpPr>
          <p:cNvPr id="14" name="Text 10"/>
          <p:cNvSpPr/>
          <p:nvPr/>
        </p:nvSpPr>
        <p:spPr>
          <a:xfrm>
            <a:off x="571500" y="2822507"/>
            <a:ext cx="866180"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Horizonte t+20</a:t>
            </a:r>
            <a:endParaRPr lang="en-US" sz="784" dirty="0"/>
          </a:p>
        </p:txBody>
      </p:sp>
      <p:sp>
        <p:nvSpPr>
          <p:cNvPr id="15" name="Text 11"/>
          <p:cNvSpPr/>
          <p:nvPr/>
        </p:nvSpPr>
        <p:spPr>
          <a:xfrm>
            <a:off x="2562876" y="2778751"/>
            <a:ext cx="1139428"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JetBrains Mono" pitchFamily="34" charset="0"/>
                <a:ea typeface="JetBrains Mono" pitchFamily="34" charset="-122"/>
                <a:cs typeface="JetBrains Mono" pitchFamily="34" charset="-120"/>
              </a:rPr>
              <a:t>R² = 0.9812</a:t>
            </a:r>
            <a:endParaRPr lang="en-US" sz="1193" dirty="0"/>
          </a:p>
        </p:txBody>
      </p:sp>
      <p:sp>
        <p:nvSpPr>
          <p:cNvPr id="16" name="Shape 12"/>
          <p:cNvSpPr/>
          <p:nvPr/>
        </p:nvSpPr>
        <p:spPr>
          <a:xfrm>
            <a:off x="428625" y="3177015"/>
            <a:ext cx="3416554" cy="405408"/>
          </a:xfrm>
          <a:prstGeom prst="rect">
            <a:avLst/>
          </a:prstGeom>
          <a:solidFill>
            <a:srgbClr val="001D33">
              <a:alpha val="30000"/>
            </a:srgbClr>
          </a:solidFill>
          <a:ln/>
        </p:spPr>
      </p:sp>
      <p:sp>
        <p:nvSpPr>
          <p:cNvPr id="17" name="Shape 13"/>
          <p:cNvSpPr/>
          <p:nvPr/>
        </p:nvSpPr>
        <p:spPr>
          <a:xfrm>
            <a:off x="428625" y="3575279"/>
            <a:ext cx="3416554" cy="7144"/>
          </a:xfrm>
          <a:prstGeom prst="rect">
            <a:avLst/>
          </a:prstGeom>
          <a:solidFill>
            <a:srgbClr val="FBEFC9"/>
          </a:solidFill>
          <a:ln/>
        </p:spPr>
      </p:sp>
      <p:sp>
        <p:nvSpPr>
          <p:cNvPr id="18" name="Text 14"/>
          <p:cNvSpPr/>
          <p:nvPr/>
        </p:nvSpPr>
        <p:spPr>
          <a:xfrm>
            <a:off x="571500" y="3310068"/>
            <a:ext cx="866180"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Horizonte t+30</a:t>
            </a:r>
            <a:endParaRPr lang="en-US" sz="784" dirty="0"/>
          </a:p>
        </p:txBody>
      </p:sp>
      <p:sp>
        <p:nvSpPr>
          <p:cNvPr id="19" name="Text 15"/>
          <p:cNvSpPr/>
          <p:nvPr/>
        </p:nvSpPr>
        <p:spPr>
          <a:xfrm>
            <a:off x="2562876" y="3266312"/>
            <a:ext cx="1139428"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2C94C"/>
                </a:solidFill>
                <a:latin typeface="JetBrains Mono" pitchFamily="34" charset="0"/>
                <a:ea typeface="JetBrains Mono" pitchFamily="34" charset="-122"/>
                <a:cs typeface="JetBrains Mono" pitchFamily="34" charset="-120"/>
              </a:rPr>
              <a:t>R² = 0.9781</a:t>
            </a:r>
            <a:endParaRPr lang="en-US" sz="1193" dirty="0"/>
          </a:p>
        </p:txBody>
      </p:sp>
      <p:sp>
        <p:nvSpPr>
          <p:cNvPr id="20" name="Shape 16"/>
          <p:cNvSpPr/>
          <p:nvPr/>
        </p:nvSpPr>
        <p:spPr>
          <a:xfrm>
            <a:off x="428625" y="3750301"/>
            <a:ext cx="3416554" cy="634315"/>
          </a:xfrm>
          <a:prstGeom prst="rect">
            <a:avLst/>
          </a:prstGeom>
          <a:solidFill>
            <a:srgbClr val="F2C94C">
              <a:alpha val="5000"/>
            </a:srgbClr>
          </a:solidFill>
          <a:ln/>
        </p:spPr>
      </p:sp>
      <p:sp>
        <p:nvSpPr>
          <p:cNvPr id="21" name="Shape 17"/>
          <p:cNvSpPr/>
          <p:nvPr/>
        </p:nvSpPr>
        <p:spPr>
          <a:xfrm>
            <a:off x="428625" y="3750301"/>
            <a:ext cx="28575" cy="634315"/>
          </a:xfrm>
          <a:prstGeom prst="rect">
            <a:avLst/>
          </a:prstGeom>
          <a:solidFill>
            <a:srgbClr val="F2C94C"/>
          </a:solidFill>
          <a:ln/>
        </p:spPr>
      </p:sp>
      <p:sp>
        <p:nvSpPr>
          <p:cNvPr id="22" name="Text 18"/>
          <p:cNvSpPr/>
          <p:nvPr/>
        </p:nvSpPr>
        <p:spPr>
          <a:xfrm>
            <a:off x="428625" y="3750301"/>
            <a:ext cx="3416554" cy="634315"/>
          </a:xfrm>
          <a:prstGeom prst="rect">
            <a:avLst/>
          </a:prstGeom>
          <a:noFill/>
          <a:ln/>
        </p:spPr>
        <p:txBody>
          <a:bodyPr wrap="square" lIns="127508" tIns="127508" rIns="127508" bIns="127508" rtlCol="0" anchor="t">
            <a:spAutoFit/>
          </a:bodyPr>
          <a:lstStyle/>
          <a:p>
            <a:pPr algn="l" indent="0" marL="0">
              <a:lnSpc>
                <a:spcPts val="1100"/>
              </a:lnSpc>
              <a:buNone/>
            </a:pPr>
            <a:pPr algn="l" indent="0" marL="0">
              <a:lnSpc>
                <a:spcPts val="1100"/>
              </a:lnSpc>
              <a:buNone/>
            </a:pPr>
            <a:r>
              <a:rPr lang="en-US" sz="683" b="1" dirty="0">
                <a:solidFill>
                  <a:srgbClr val="E8EDF2">
                    <a:alpha val="80000"/>
                  </a:srgbClr>
                </a:solidFill>
                <a:latin typeface="Inter" pitchFamily="34" charset="0"/>
                <a:ea typeface="Inter" pitchFamily="34" charset="-122"/>
                <a:cs typeface="Inter" pitchFamily="34" charset="-120"/>
              </a:rPr>
              <a:t>Interpretação:</a:t>
            </a:r>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 A degradação da performance com o aumento do </a:t>
            </a:r>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horizonte é mínima (&lt; 1.3%), demonstrando a estabilidade do </a:t>
            </a:r>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modelo proposto para previsões de médio prazo.</a:t>
            </a:r>
            <a:endParaRPr lang="en-US" sz="727" dirty="0"/>
          </a:p>
        </p:txBody>
      </p:sp>
      <p:sp>
        <p:nvSpPr>
          <p:cNvPr id="23" name="Shape 19"/>
          <p:cNvSpPr/>
          <p:nvPr/>
        </p:nvSpPr>
        <p:spPr>
          <a:xfrm>
            <a:off x="4273804" y="1169789"/>
            <a:ext cx="4441543" cy="3571875"/>
          </a:xfrm>
          <a:prstGeom prst="rect">
            <a:avLst/>
          </a:prstGeom>
          <a:solidFill>
            <a:srgbClr val="F2C94C">
              <a:alpha val="5000"/>
            </a:srgbClr>
          </a:solidFill>
          <a:ln w="18288">
            <a:solidFill>
              <a:srgbClr val="F2C94C">
                <a:alpha val="50000"/>
              </a:srgbClr>
            </a:solidFill>
            <a:prstDash val="dash"/>
          </a:ln>
        </p:spPr>
      </p:sp>
      <p:pic>
        <p:nvPicPr>
          <p:cNvPr id="24" name="Image 1" descr="preencoded.png">    </p:cNvPr>
          <p:cNvPicPr>
            <a:picLocks noChangeAspect="1"/>
          </p:cNvPicPr>
          <p:nvPr/>
        </p:nvPicPr>
        <p:blipFill>
          <a:blip r:embed="rId2">
            <a:alphaModFix amt="80000"/>
          </a:blip>
          <a:stretch>
            <a:fillRect/>
          </a:stretch>
        </p:blipFill>
        <p:spPr>
          <a:xfrm>
            <a:off x="6244530" y="2433340"/>
            <a:ext cx="500063" cy="400050"/>
          </a:xfrm>
          <a:prstGeom prst="rect">
            <a:avLst/>
          </a:prstGeom>
        </p:spPr>
      </p:pic>
      <p:sp>
        <p:nvSpPr>
          <p:cNvPr id="25" name="Text 20"/>
          <p:cNvSpPr/>
          <p:nvPr/>
        </p:nvSpPr>
        <p:spPr>
          <a:xfrm>
            <a:off x="5314057" y="2976265"/>
            <a:ext cx="2361009"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6.7 da Dissertação</a:t>
            </a:r>
            <a:endParaRPr lang="en-US" sz="987" dirty="0"/>
          </a:p>
        </p:txBody>
      </p:sp>
      <p:sp>
        <p:nvSpPr>
          <p:cNvPr id="26" name="Text 21"/>
          <p:cNvSpPr/>
          <p:nvPr/>
        </p:nvSpPr>
        <p:spPr>
          <a:xfrm>
            <a:off x="4923690" y="3220938"/>
            <a:ext cx="3141743"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Scatter plots de Regressão (Actual vs Predicted) para os 3 horizontes</a:t>
            </a:r>
            <a:endParaRPr lang="en-US" sz="780" dirty="0"/>
          </a:p>
        </p:txBody>
      </p:sp>
      <p:sp>
        <p:nvSpPr>
          <p:cNvPr id="27" name="Text 22"/>
          <p:cNvSpPr/>
          <p:nvPr/>
        </p:nvSpPr>
        <p:spPr>
          <a:xfrm>
            <a:off x="4273804" y="4827389"/>
            <a:ext cx="4441543"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VISUALIZAÇÃO 3D DA DECOMPOSIÇÃO</a:t>
            </a:r>
            <a:endParaRPr lang="en-US" sz="1808" dirty="0"/>
          </a:p>
        </p:txBody>
      </p:sp>
      <p:sp>
        <p:nvSpPr>
          <p:cNvPr id="7" name="Text 3"/>
          <p:cNvSpPr/>
          <p:nvPr/>
        </p:nvSpPr>
        <p:spPr>
          <a:xfrm>
            <a:off x="428625" y="1098352"/>
            <a:ext cx="7143750"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E8EDF2">
                    <a:alpha val="90000"/>
                  </a:srgbClr>
                </a:solidFill>
                <a:latin typeface="Inter" pitchFamily="34" charset="0"/>
                <a:ea typeface="Inter" pitchFamily="34" charset="-122"/>
                <a:cs typeface="Inter" pitchFamily="34" charset="-120"/>
              </a:rPr>
              <a:t>A análise espectral tridimensional confirma a eficácia do método híbrido em separar componentes estocásticos (ruído de alta frequência) de componentes determinísticos (tendência de baixa frequência).</a:t>
            </a:r>
            <a:endParaRPr lang="en-US" sz="942" dirty="0"/>
          </a:p>
        </p:txBody>
      </p:sp>
      <p:sp>
        <p:nvSpPr>
          <p:cNvPr id="8" name="Shape 4"/>
          <p:cNvSpPr/>
          <p:nvPr/>
        </p:nvSpPr>
        <p:spPr>
          <a:xfrm>
            <a:off x="1357313" y="1698427"/>
            <a:ext cx="6429375" cy="2344936"/>
          </a:xfrm>
          <a:prstGeom prst="rect">
            <a:avLst/>
          </a:prstGeom>
          <a:solidFill>
            <a:srgbClr val="F2C94C">
              <a:alpha val="5000"/>
            </a:srgbClr>
          </a:solidFill>
          <a:ln w="18288">
            <a:solidFill>
              <a:srgbClr val="F2C94C">
                <a:alpha val="50000"/>
              </a:srgbClr>
            </a:solidFill>
            <a:prstDash val="dash"/>
          </a:ln>
        </p:spPr>
      </p:sp>
      <p:pic>
        <p:nvPicPr>
          <p:cNvPr id="9" name="Image 1" descr="preencoded.png">    </p:cNvPr>
          <p:cNvPicPr>
            <a:picLocks noChangeAspect="1"/>
          </p:cNvPicPr>
          <p:nvPr/>
        </p:nvPicPr>
        <p:blipFill>
          <a:blip r:embed="rId2">
            <a:alphaModFix amt="80000"/>
          </a:blip>
          <a:stretch>
            <a:fillRect/>
          </a:stretch>
        </p:blipFill>
        <p:spPr>
          <a:xfrm>
            <a:off x="4379119" y="2466380"/>
            <a:ext cx="385763" cy="342900"/>
          </a:xfrm>
          <a:prstGeom prst="rect">
            <a:avLst/>
          </a:prstGeom>
        </p:spPr>
      </p:pic>
      <p:sp>
        <p:nvSpPr>
          <p:cNvPr id="10" name="Text 5"/>
          <p:cNvSpPr/>
          <p:nvPr/>
        </p:nvSpPr>
        <p:spPr>
          <a:xfrm>
            <a:off x="3387030" y="2916436"/>
            <a:ext cx="2369939"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6.8 da Dissertação</a:t>
            </a:r>
            <a:endParaRPr lang="en-US" sz="987" dirty="0"/>
          </a:p>
        </p:txBody>
      </p:sp>
      <p:sp>
        <p:nvSpPr>
          <p:cNvPr id="11" name="Text 6"/>
          <p:cNvSpPr/>
          <p:nvPr/>
        </p:nvSpPr>
        <p:spPr>
          <a:xfrm>
            <a:off x="2963763" y="3146822"/>
            <a:ext cx="3216473" cy="128588"/>
          </a:xfrm>
          <a:prstGeom prst="rect">
            <a:avLst/>
          </a:prstGeom>
          <a:noFill/>
          <a:ln/>
        </p:spPr>
        <p:txBody>
          <a:bodyPr wrap="non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Plot 3D mostrando a evolução temporal das IMFs decompostas</a:t>
            </a:r>
            <a:endParaRPr lang="en-US" sz="780" dirty="0"/>
          </a:p>
        </p:txBody>
      </p:sp>
      <p:sp>
        <p:nvSpPr>
          <p:cNvPr id="12" name="Text 7"/>
          <p:cNvSpPr/>
          <p:nvPr/>
        </p:nvSpPr>
        <p:spPr>
          <a:xfrm>
            <a:off x="1725216" y="4257675"/>
            <a:ext cx="1698427"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80000"/>
                  </a:srgbClr>
                </a:solidFill>
                <a:latin typeface="Inter" pitchFamily="34" charset="0"/>
                <a:ea typeface="Inter" pitchFamily="34" charset="-122"/>
                <a:cs typeface="Inter" pitchFamily="34" charset="-120"/>
              </a:rPr>
              <a:t>Alta Frequência (Ruído/Turbulência)</a:t>
            </a:r>
            <a:endParaRPr lang="en-US" sz="727" dirty="0"/>
          </a:p>
        </p:txBody>
      </p:sp>
      <p:sp>
        <p:nvSpPr>
          <p:cNvPr id="13" name="Text 8"/>
          <p:cNvSpPr/>
          <p:nvPr/>
        </p:nvSpPr>
        <p:spPr>
          <a:xfrm>
            <a:off x="3852267" y="4257675"/>
            <a:ext cx="187880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80000"/>
                  </a:srgbClr>
                </a:solidFill>
                <a:latin typeface="Inter" pitchFamily="34" charset="0"/>
                <a:ea typeface="Inter" pitchFamily="34" charset="-122"/>
                <a:cs typeface="Inter" pitchFamily="34" charset="-120"/>
              </a:rPr>
              <a:t>Média Frequência (Sazonalidade Diária)</a:t>
            </a:r>
            <a:endParaRPr lang="en-US" sz="727" dirty="0"/>
          </a:p>
        </p:txBody>
      </p:sp>
      <p:sp>
        <p:nvSpPr>
          <p:cNvPr id="14" name="Text 9"/>
          <p:cNvSpPr/>
          <p:nvPr/>
        </p:nvSpPr>
        <p:spPr>
          <a:xfrm>
            <a:off x="6159698" y="4257675"/>
            <a:ext cx="1401961"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80000"/>
                  </a:srgbClr>
                </a:solidFill>
                <a:latin typeface="Inter" pitchFamily="34" charset="0"/>
                <a:ea typeface="Inter" pitchFamily="34" charset="-122"/>
                <a:cs typeface="Inter" pitchFamily="34" charset="-120"/>
              </a:rPr>
              <a:t>Baixa Frequência (Tendência)</a:t>
            </a:r>
            <a:endParaRPr lang="en-US" sz="727" dirty="0"/>
          </a:p>
        </p:txBody>
      </p:sp>
      <p:sp>
        <p:nvSpPr>
          <p:cNvPr id="15" name="Text 10"/>
          <p:cNvSpPr/>
          <p:nvPr/>
        </p:nvSpPr>
        <p:spPr>
          <a:xfrm>
            <a:off x="3692426" y="4593431"/>
            <a:ext cx="1759148"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41127"/>
          </a:xfrm>
          <a:prstGeom prst="rect">
            <a:avLst/>
          </a:prstGeom>
          <a:solidFill>
            <a:srgbClr val="000000">
              <a:alpha val="0"/>
            </a:srgbClr>
          </a:solidFill>
          <a:ln/>
        </p:spPr>
      </p:sp>
      <p:sp>
        <p:nvSpPr>
          <p:cNvPr id="5" name="Shape 1"/>
          <p:cNvSpPr/>
          <p:nvPr/>
        </p:nvSpPr>
        <p:spPr>
          <a:xfrm>
            <a:off x="428625" y="855464"/>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INTERPRETABILIDADE (XAI): ATENÇÃO TEMPORAL</a:t>
            </a:r>
            <a:endParaRPr lang="en-US" sz="1808" dirty="0"/>
          </a:p>
        </p:txBody>
      </p:sp>
      <p:sp>
        <p:nvSpPr>
          <p:cNvPr id="7" name="Shape 3"/>
          <p:cNvSpPr/>
          <p:nvPr/>
        </p:nvSpPr>
        <p:spPr>
          <a:xfrm>
            <a:off x="428625" y="1241617"/>
            <a:ext cx="3333731" cy="1247589"/>
          </a:xfrm>
          <a:prstGeom prst="rect">
            <a:avLst/>
          </a:prstGeom>
          <a:solidFill>
            <a:srgbClr val="001D33">
              <a:alpha val="30000"/>
            </a:srgbClr>
          </a:solidFill>
          <a:ln/>
        </p:spPr>
      </p:sp>
      <p:sp>
        <p:nvSpPr>
          <p:cNvPr id="8" name="Shape 4"/>
          <p:cNvSpPr/>
          <p:nvPr/>
        </p:nvSpPr>
        <p:spPr>
          <a:xfrm>
            <a:off x="428625" y="1241617"/>
            <a:ext cx="28575" cy="1247589"/>
          </a:xfrm>
          <a:prstGeom prst="rect">
            <a:avLst/>
          </a:prstGeom>
          <a:solidFill>
            <a:srgbClr val="F2C94C"/>
          </a:solidFill>
          <a:ln/>
        </p:spPr>
      </p:sp>
      <p:pic>
        <p:nvPicPr>
          <p:cNvPr id="9" name="Image 1" descr="preencoded.png">    </p:cNvPr>
          <p:cNvPicPr>
            <a:picLocks noChangeAspect="1"/>
          </p:cNvPicPr>
          <p:nvPr/>
        </p:nvPicPr>
        <p:blipFill>
          <a:blip r:embed="rId2"/>
          <a:stretch>
            <a:fillRect/>
          </a:stretch>
        </p:blipFill>
        <p:spPr>
          <a:xfrm>
            <a:off x="571500" y="1399673"/>
            <a:ext cx="142875" cy="142875"/>
          </a:xfrm>
          <a:prstGeom prst="rect">
            <a:avLst/>
          </a:prstGeom>
        </p:spPr>
      </p:pic>
      <p:sp>
        <p:nvSpPr>
          <p:cNvPr id="10" name="Text 5"/>
          <p:cNvSpPr/>
          <p:nvPr/>
        </p:nvSpPr>
        <p:spPr>
          <a:xfrm>
            <a:off x="785813" y="1384492"/>
            <a:ext cx="1739503"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Abrindo a "Caixa Preta"</a:t>
            </a:r>
            <a:endParaRPr lang="en-US" sz="987" dirty="0"/>
          </a:p>
        </p:txBody>
      </p:sp>
      <p:sp>
        <p:nvSpPr>
          <p:cNvPr id="11" name="Text 6"/>
          <p:cNvSpPr/>
          <p:nvPr/>
        </p:nvSpPr>
        <p:spPr>
          <a:xfrm>
            <a:off x="571500" y="1614878"/>
            <a:ext cx="3047981" cy="731453"/>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O mecanismo de </a:t>
            </a:r>
            <a:pPr algn="l"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Multi-Head Attention</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do TFT permite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visualizar exatamente quais passos de tempo passados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o modelo considerou mais relevantes para fazer a </a:t>
            </a:r>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previsão futura.</a:t>
            </a:r>
            <a:endParaRPr lang="en-US" sz="834" dirty="0"/>
          </a:p>
        </p:txBody>
      </p:sp>
      <p:sp>
        <p:nvSpPr>
          <p:cNvPr id="12" name="Text 7"/>
          <p:cNvSpPr/>
          <p:nvPr/>
        </p:nvSpPr>
        <p:spPr>
          <a:xfrm>
            <a:off x="428625" y="2689231"/>
            <a:ext cx="3333731"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60000"/>
                  </a:srgbClr>
                </a:solidFill>
                <a:latin typeface="JetBrains Mono" pitchFamily="34" charset="0"/>
                <a:ea typeface="JetBrains Mono" pitchFamily="34" charset="-122"/>
                <a:cs typeface="JetBrains Mono" pitchFamily="34" charset="-120"/>
              </a:rPr>
              <a:t>DESCOBERTA CHAVE</a:t>
            </a:r>
            <a:endParaRPr lang="en-US" sz="727" dirty="0"/>
          </a:p>
        </p:txBody>
      </p:sp>
      <p:sp>
        <p:nvSpPr>
          <p:cNvPr id="13" name="Text 8"/>
          <p:cNvSpPr/>
          <p:nvPr/>
        </p:nvSpPr>
        <p:spPr>
          <a:xfrm>
            <a:off x="428625" y="2864253"/>
            <a:ext cx="3333731" cy="621506"/>
          </a:xfrm>
          <a:prstGeom prst="rect">
            <a:avLst/>
          </a:prstGeom>
          <a:noFill/>
          <a:ln/>
        </p:spPr>
        <p:txBody>
          <a:bodyPr wrap="square" lIns="102108"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Para prever eventos de rampa (queda brusca), o </a:t>
            </a:r>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modelo foca intensamente nos instantes </a:t>
            </a:r>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t-6 a t-4</a:t>
            </a:r>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 (40 a 60 min atrás), identificando o início da </a:t>
            </a:r>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tendência de mudança.</a:t>
            </a:r>
            <a:endParaRPr lang="en-US" sz="885" dirty="0"/>
          </a:p>
        </p:txBody>
      </p:sp>
      <p:sp>
        <p:nvSpPr>
          <p:cNvPr id="14" name="Text 9"/>
          <p:cNvSpPr/>
          <p:nvPr/>
        </p:nvSpPr>
        <p:spPr>
          <a:xfrm>
            <a:off x="428625" y="3685784"/>
            <a:ext cx="3333731"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60000"/>
                  </a:srgbClr>
                </a:solidFill>
                <a:latin typeface="JetBrains Mono" pitchFamily="34" charset="0"/>
                <a:ea typeface="JetBrains Mono" pitchFamily="34" charset="-122"/>
                <a:cs typeface="JetBrains Mono" pitchFamily="34" charset="-120"/>
              </a:rPr>
              <a:t>VALIDAÇÃO FÍSICA</a:t>
            </a:r>
            <a:endParaRPr lang="en-US" sz="727" dirty="0"/>
          </a:p>
        </p:txBody>
      </p:sp>
      <p:sp>
        <p:nvSpPr>
          <p:cNvPr id="15" name="Text 10"/>
          <p:cNvSpPr/>
          <p:nvPr/>
        </p:nvSpPr>
        <p:spPr>
          <a:xfrm>
            <a:off x="428625" y="3860806"/>
            <a:ext cx="3333731" cy="466130"/>
          </a:xfrm>
          <a:prstGeom prst="rect">
            <a:avLst/>
          </a:prstGeom>
          <a:noFill/>
          <a:ln/>
        </p:spPr>
        <p:txBody>
          <a:bodyPr wrap="square" lIns="102108" tIns="0" rIns="0" bIns="0" rtlCol="0" anchor="t">
            <a:spAutoFit/>
          </a:bodyPr>
          <a:lstStyle/>
          <a:p>
            <a:pPr algn="l" indent="0" marL="0">
              <a:lnSpc>
                <a:spcPts val="1200"/>
              </a:lnSpc>
              <a:buNone/>
            </a:pPr>
            <a:r>
              <a:rPr lang="en-US" sz="885" b="1" dirty="0">
                <a:solidFill>
                  <a:srgbClr val="E8EDF2"/>
                </a:solidFill>
                <a:latin typeface="Inter" pitchFamily="34" charset="0"/>
                <a:ea typeface="Inter" pitchFamily="34" charset="-122"/>
                <a:cs typeface="Inter" pitchFamily="34" charset="-120"/>
              </a:rPr>
              <a:t>Isso confirma que o modelo aprendeu a dinâmica causal do vento, e não apenas correlações espúrias.</a:t>
            </a:r>
            <a:endParaRPr lang="en-US" sz="885" dirty="0"/>
          </a:p>
        </p:txBody>
      </p:sp>
      <p:sp>
        <p:nvSpPr>
          <p:cNvPr id="16" name="Shape 11"/>
          <p:cNvSpPr/>
          <p:nvPr/>
        </p:nvSpPr>
        <p:spPr>
          <a:xfrm>
            <a:off x="4048106" y="1069777"/>
            <a:ext cx="4667269" cy="3429000"/>
          </a:xfrm>
          <a:prstGeom prst="rect">
            <a:avLst/>
          </a:prstGeom>
          <a:solidFill>
            <a:srgbClr val="F2C94C">
              <a:alpha val="5000"/>
            </a:srgbClr>
          </a:solidFill>
          <a:ln w="18288">
            <a:solidFill>
              <a:srgbClr val="F2C94C">
                <a:alpha val="50000"/>
              </a:srgbClr>
            </a:solidFill>
            <a:prstDash val="dash"/>
          </a:ln>
        </p:spPr>
      </p:sp>
      <p:pic>
        <p:nvPicPr>
          <p:cNvPr id="17" name="Image 2" descr="preencoded.png">    </p:cNvPr>
          <p:cNvPicPr>
            <a:picLocks noChangeAspect="1"/>
          </p:cNvPicPr>
          <p:nvPr/>
        </p:nvPicPr>
        <p:blipFill>
          <a:blip r:embed="rId3">
            <a:alphaModFix amt="80000"/>
          </a:blip>
          <a:stretch>
            <a:fillRect/>
          </a:stretch>
        </p:blipFill>
        <p:spPr>
          <a:xfrm>
            <a:off x="6156713" y="2276177"/>
            <a:ext cx="450056" cy="400050"/>
          </a:xfrm>
          <a:prstGeom prst="rect">
            <a:avLst/>
          </a:prstGeom>
        </p:spPr>
      </p:pic>
      <p:sp>
        <p:nvSpPr>
          <p:cNvPr id="18" name="Text 12"/>
          <p:cNvSpPr/>
          <p:nvPr/>
        </p:nvSpPr>
        <p:spPr>
          <a:xfrm>
            <a:off x="5199450" y="2804815"/>
            <a:ext cx="2364581"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6.9 da Dissertação</a:t>
            </a:r>
            <a:endParaRPr lang="en-US" sz="987" dirty="0"/>
          </a:p>
        </p:txBody>
      </p:sp>
      <p:sp>
        <p:nvSpPr>
          <p:cNvPr id="19" name="Text 13"/>
          <p:cNvSpPr/>
          <p:nvPr/>
        </p:nvSpPr>
        <p:spPr>
          <a:xfrm>
            <a:off x="4686272" y="3035201"/>
            <a:ext cx="3390909"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Mapa de calor dos pesos de atenção temporal durante um evento de rampa</a:t>
            </a:r>
            <a:endParaRPr lang="en-US" sz="780" dirty="0"/>
          </a:p>
        </p:txBody>
      </p:sp>
      <p:sp>
        <p:nvSpPr>
          <p:cNvPr id="20" name="Text 14"/>
          <p:cNvSpPr/>
          <p:nvPr/>
        </p:nvSpPr>
        <p:spPr>
          <a:xfrm>
            <a:off x="4048106" y="4584502"/>
            <a:ext cx="4667269"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CALIBRAÇÃO DE RISCO: P10 SAFETY FACTOR</a:t>
            </a:r>
            <a:endParaRPr lang="en-US" sz="1808" dirty="0"/>
          </a:p>
        </p:txBody>
      </p:sp>
      <p:sp>
        <p:nvSpPr>
          <p:cNvPr id="7" name="Shape 3"/>
          <p:cNvSpPr/>
          <p:nvPr/>
        </p:nvSpPr>
        <p:spPr>
          <a:xfrm>
            <a:off x="428625" y="1169789"/>
            <a:ext cx="3604329" cy="821531"/>
          </a:xfrm>
          <a:prstGeom prst="rect">
            <a:avLst/>
          </a:prstGeom>
          <a:solidFill>
            <a:srgbClr val="001D33">
              <a:alpha val="30000"/>
            </a:srgbClr>
          </a:solidFill>
          <a:ln/>
        </p:spPr>
      </p:sp>
      <p:sp>
        <p:nvSpPr>
          <p:cNvPr id="8" name="Shape 4"/>
          <p:cNvSpPr/>
          <p:nvPr/>
        </p:nvSpPr>
        <p:spPr>
          <a:xfrm>
            <a:off x="428625" y="1169789"/>
            <a:ext cx="28575" cy="821531"/>
          </a:xfrm>
          <a:prstGeom prst="rect">
            <a:avLst/>
          </a:prstGeom>
          <a:solidFill>
            <a:srgbClr val="F2C94C"/>
          </a:solidFill>
          <a:ln/>
        </p:spPr>
      </p:sp>
      <p:sp>
        <p:nvSpPr>
          <p:cNvPr id="9" name="Text 5"/>
          <p:cNvSpPr/>
          <p:nvPr/>
        </p:nvSpPr>
        <p:spPr>
          <a:xfrm>
            <a:off x="571500" y="1312664"/>
            <a:ext cx="3318579"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Fator de Segurança (SF = 0.65)</a:t>
            </a:r>
            <a:endParaRPr lang="en-US" sz="885" dirty="0"/>
          </a:p>
        </p:txBody>
      </p:sp>
      <p:sp>
        <p:nvSpPr>
          <p:cNvPr id="10" name="Text 6"/>
          <p:cNvSpPr/>
          <p:nvPr/>
        </p:nvSpPr>
        <p:spPr>
          <a:xfrm>
            <a:off x="571500" y="1526977"/>
            <a:ext cx="3318579"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Multiplicador aplicado ao limite inferior (P10) da previsão para tornar o gatilho do gerador mais sensível e conservador.</a:t>
            </a:r>
            <a:endParaRPr lang="en-US" sz="780" dirty="0"/>
          </a:p>
        </p:txBody>
      </p:sp>
      <p:sp>
        <p:nvSpPr>
          <p:cNvPr id="11" name="Shape 7"/>
          <p:cNvSpPr/>
          <p:nvPr/>
        </p:nvSpPr>
        <p:spPr>
          <a:xfrm>
            <a:off x="428625" y="2205633"/>
            <a:ext cx="3604329" cy="1048345"/>
          </a:xfrm>
          <a:prstGeom prst="rect">
            <a:avLst/>
          </a:prstGeom>
          <a:solidFill>
            <a:srgbClr val="FFFFFF">
              <a:alpha val="5000"/>
            </a:srgbClr>
          </a:solidFill>
          <a:ln/>
        </p:spPr>
      </p:sp>
      <p:pic>
        <p:nvPicPr>
          <p:cNvPr id="12" name="Image 1" descr="preencoded.png">    </p:cNvPr>
          <p:cNvPicPr>
            <a:picLocks noChangeAspect="1"/>
          </p:cNvPicPr>
          <p:nvPr/>
        </p:nvPicPr>
        <p:blipFill>
          <a:blip r:embed="rId2"/>
          <a:stretch>
            <a:fillRect/>
          </a:stretch>
        </p:blipFill>
        <p:spPr>
          <a:xfrm>
            <a:off x="571500" y="2357438"/>
            <a:ext cx="75009" cy="100013"/>
          </a:xfrm>
          <a:prstGeom prst="rect">
            <a:avLst/>
          </a:prstGeom>
        </p:spPr>
      </p:pic>
      <p:sp>
        <p:nvSpPr>
          <p:cNvPr id="13" name="Text 8"/>
          <p:cNvSpPr/>
          <p:nvPr/>
        </p:nvSpPr>
        <p:spPr>
          <a:xfrm>
            <a:off x="703659" y="2348508"/>
            <a:ext cx="996553"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8EDF2">
                    <a:alpha val="60000"/>
                  </a:srgbClr>
                </a:solidFill>
                <a:latin typeface="Inter" pitchFamily="34" charset="0"/>
                <a:ea typeface="Inter" pitchFamily="34" charset="-122"/>
                <a:cs typeface="Inter" pitchFamily="34" charset="-120"/>
              </a:rPr>
              <a:t>BLACKOUTS TOTAIS</a:t>
            </a:r>
            <a:endParaRPr lang="en-US" sz="683" dirty="0"/>
          </a:p>
        </p:txBody>
      </p:sp>
      <p:sp>
        <p:nvSpPr>
          <p:cNvPr id="14" name="Text 9"/>
          <p:cNvSpPr/>
          <p:nvPr/>
        </p:nvSpPr>
        <p:spPr>
          <a:xfrm>
            <a:off x="571500" y="2597646"/>
            <a:ext cx="639366"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E8EDF2"/>
                </a:solidFill>
                <a:latin typeface="Inter" pitchFamily="34" charset="0"/>
                <a:ea typeface="Inter" pitchFamily="34" charset="-122"/>
                <a:cs typeface="Inter" pitchFamily="34" charset="-120"/>
              </a:rPr>
              <a:t>Sem Calibração</a:t>
            </a:r>
            <a:endParaRPr lang="en-US" sz="621" dirty="0"/>
          </a:p>
        </p:txBody>
      </p:sp>
      <p:sp>
        <p:nvSpPr>
          <p:cNvPr id="15" name="Text 10"/>
          <p:cNvSpPr/>
          <p:nvPr/>
        </p:nvSpPr>
        <p:spPr>
          <a:xfrm>
            <a:off x="571500" y="2717304"/>
            <a:ext cx="639366" cy="189309"/>
          </a:xfrm>
          <a:prstGeom prst="rect">
            <a:avLst/>
          </a:prstGeom>
          <a:noFill/>
          <a:ln/>
        </p:spPr>
        <p:txBody>
          <a:bodyPr wrap="none" lIns="0" tIns="0" rIns="0" bIns="0" rtlCol="0" anchor="t">
            <a:spAutoFit/>
          </a:bodyPr>
          <a:lstStyle/>
          <a:p>
            <a:pPr algn="l" indent="0" marL="0">
              <a:lnSpc>
                <a:spcPts val="1400"/>
              </a:lnSpc>
              <a:buNone/>
            </a:pPr>
            <a:r>
              <a:rPr lang="en-US" sz="987" b="1" strike="sngStrike" dirty="0">
                <a:solidFill>
                  <a:srgbClr val="EB5757">
                    <a:alpha val="70000"/>
                  </a:srgbClr>
                </a:solidFill>
                <a:latin typeface="JetBrains Mono" pitchFamily="34" charset="0"/>
                <a:ea typeface="JetBrains Mono" pitchFamily="34" charset="-122"/>
                <a:cs typeface="JetBrains Mono" pitchFamily="34" charset="-120"/>
              </a:rPr>
              <a:t>47</a:t>
            </a:r>
            <a:endParaRPr lang="en-US" sz="987" dirty="0"/>
          </a:p>
        </p:txBody>
      </p:sp>
      <p:pic>
        <p:nvPicPr>
          <p:cNvPr id="16" name="Image 2" descr="preencoded.png">    </p:cNvPr>
          <p:cNvPicPr>
            <a:picLocks noChangeAspect="1"/>
          </p:cNvPicPr>
          <p:nvPr/>
        </p:nvPicPr>
        <p:blipFill>
          <a:blip r:embed="rId3"/>
          <a:stretch>
            <a:fillRect/>
          </a:stretch>
        </p:blipFill>
        <p:spPr>
          <a:xfrm>
            <a:off x="2226311" y="2680692"/>
            <a:ext cx="125016" cy="142875"/>
          </a:xfrm>
          <a:prstGeom prst="rect">
            <a:avLst/>
          </a:prstGeom>
        </p:spPr>
      </p:pic>
      <p:sp>
        <p:nvSpPr>
          <p:cNvPr id="17" name="Text 11"/>
          <p:cNvSpPr/>
          <p:nvPr/>
        </p:nvSpPr>
        <p:spPr>
          <a:xfrm>
            <a:off x="3366771" y="2541389"/>
            <a:ext cx="523280"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E8EDF2"/>
                </a:solidFill>
                <a:latin typeface="Inter" pitchFamily="34" charset="0"/>
                <a:ea typeface="Inter" pitchFamily="34" charset="-122"/>
                <a:cs typeface="Inter" pitchFamily="34" charset="-120"/>
              </a:rPr>
              <a:t>Com SF 0.65</a:t>
            </a:r>
            <a:endParaRPr lang="en-US" sz="621" dirty="0"/>
          </a:p>
        </p:txBody>
      </p:sp>
      <p:sp>
        <p:nvSpPr>
          <p:cNvPr id="18" name="Text 12"/>
          <p:cNvSpPr/>
          <p:nvPr/>
        </p:nvSpPr>
        <p:spPr>
          <a:xfrm>
            <a:off x="3366771" y="2661047"/>
            <a:ext cx="523280" cy="301823"/>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27AE60"/>
                </a:solidFill>
                <a:latin typeface="JetBrains Mono" pitchFamily="34" charset="0"/>
                <a:ea typeface="JetBrains Mono" pitchFamily="34" charset="-122"/>
                <a:cs typeface="JetBrains Mono" pitchFamily="34" charset="-120"/>
              </a:rPr>
              <a:t>3</a:t>
            </a:r>
            <a:endParaRPr lang="en-US" sz="1602" dirty="0"/>
          </a:p>
        </p:txBody>
      </p:sp>
      <p:sp>
        <p:nvSpPr>
          <p:cNvPr id="19" name="Text 13"/>
          <p:cNvSpPr/>
          <p:nvPr/>
        </p:nvSpPr>
        <p:spPr>
          <a:xfrm>
            <a:off x="571500" y="2998589"/>
            <a:ext cx="3318579" cy="112514"/>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27AE60"/>
                </a:solidFill>
                <a:latin typeface="Inter" pitchFamily="34" charset="0"/>
                <a:ea typeface="Inter" pitchFamily="34" charset="-122"/>
                <a:cs typeface="Inter" pitchFamily="34" charset="-120"/>
              </a:rPr>
              <a:t>93% de Redução</a:t>
            </a:r>
            <a:endParaRPr lang="en-US" sz="634" dirty="0"/>
          </a:p>
        </p:txBody>
      </p:sp>
      <p:sp>
        <p:nvSpPr>
          <p:cNvPr id="20" name="Shape 14"/>
          <p:cNvSpPr/>
          <p:nvPr/>
        </p:nvSpPr>
        <p:spPr>
          <a:xfrm>
            <a:off x="428625" y="3468291"/>
            <a:ext cx="3604329" cy="1048345"/>
          </a:xfrm>
          <a:prstGeom prst="rect">
            <a:avLst/>
          </a:prstGeom>
          <a:solidFill>
            <a:srgbClr val="FFFFFF">
              <a:alpha val="5000"/>
            </a:srgbClr>
          </a:solidFill>
          <a:ln/>
        </p:spPr>
      </p:sp>
      <p:pic>
        <p:nvPicPr>
          <p:cNvPr id="21" name="Image 3" descr="preencoded.png">    </p:cNvPr>
          <p:cNvPicPr>
            <a:picLocks noChangeAspect="1"/>
          </p:cNvPicPr>
          <p:nvPr/>
        </p:nvPicPr>
        <p:blipFill>
          <a:blip r:embed="rId4"/>
          <a:stretch>
            <a:fillRect/>
          </a:stretch>
        </p:blipFill>
        <p:spPr>
          <a:xfrm>
            <a:off x="571500" y="3620095"/>
            <a:ext cx="62508" cy="100013"/>
          </a:xfrm>
          <a:prstGeom prst="rect">
            <a:avLst/>
          </a:prstGeom>
        </p:spPr>
      </p:pic>
      <p:sp>
        <p:nvSpPr>
          <p:cNvPr id="22" name="Text 15"/>
          <p:cNvSpPr/>
          <p:nvPr/>
        </p:nvSpPr>
        <p:spPr>
          <a:xfrm>
            <a:off x="691158" y="3611166"/>
            <a:ext cx="1257300"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8EDF2">
                    <a:alpha val="60000"/>
                  </a:srgbClr>
                </a:solidFill>
                <a:latin typeface="Inter" pitchFamily="34" charset="0"/>
                <a:ea typeface="Inter" pitchFamily="34" charset="-122"/>
                <a:cs typeface="Inter" pitchFamily="34" charset="-120"/>
              </a:rPr>
              <a:t>CUSTO TOTAL ESTIMADO</a:t>
            </a:r>
            <a:endParaRPr lang="en-US" sz="683" dirty="0"/>
          </a:p>
        </p:txBody>
      </p:sp>
      <p:sp>
        <p:nvSpPr>
          <p:cNvPr id="23" name="Text 16"/>
          <p:cNvSpPr/>
          <p:nvPr/>
        </p:nvSpPr>
        <p:spPr>
          <a:xfrm>
            <a:off x="571500" y="3860304"/>
            <a:ext cx="639366"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E8EDF2"/>
                </a:solidFill>
                <a:latin typeface="Inter" pitchFamily="34" charset="0"/>
                <a:ea typeface="Inter" pitchFamily="34" charset="-122"/>
                <a:cs typeface="Inter" pitchFamily="34" charset="-120"/>
              </a:rPr>
              <a:t>Sem Calibração</a:t>
            </a:r>
            <a:endParaRPr lang="en-US" sz="621" dirty="0"/>
          </a:p>
        </p:txBody>
      </p:sp>
      <p:sp>
        <p:nvSpPr>
          <p:cNvPr id="24" name="Text 17"/>
          <p:cNvSpPr/>
          <p:nvPr/>
        </p:nvSpPr>
        <p:spPr>
          <a:xfrm>
            <a:off x="571500" y="3979962"/>
            <a:ext cx="639366" cy="189309"/>
          </a:xfrm>
          <a:prstGeom prst="rect">
            <a:avLst/>
          </a:prstGeom>
          <a:noFill/>
          <a:ln/>
        </p:spPr>
        <p:txBody>
          <a:bodyPr wrap="none" lIns="0" tIns="0" rIns="0" bIns="0" rtlCol="0" anchor="t">
            <a:spAutoFit/>
          </a:bodyPr>
          <a:lstStyle/>
          <a:p>
            <a:pPr algn="l" indent="0" marL="0">
              <a:lnSpc>
                <a:spcPts val="1400"/>
              </a:lnSpc>
              <a:buNone/>
            </a:pPr>
            <a:r>
              <a:rPr lang="en-US" sz="987" b="1" strike="sngStrike" dirty="0">
                <a:solidFill>
                  <a:srgbClr val="EB5757">
                    <a:alpha val="70000"/>
                  </a:srgbClr>
                </a:solidFill>
                <a:latin typeface="JetBrains Mono" pitchFamily="34" charset="0"/>
                <a:ea typeface="JetBrains Mono" pitchFamily="34" charset="-122"/>
                <a:cs typeface="JetBrains Mono" pitchFamily="34" charset="-120"/>
              </a:rPr>
              <a:t>$5.1M</a:t>
            </a:r>
            <a:endParaRPr lang="en-US" sz="987" dirty="0"/>
          </a:p>
        </p:txBody>
      </p:sp>
      <p:pic>
        <p:nvPicPr>
          <p:cNvPr id="25" name="Image 4" descr="preencoded.png">    </p:cNvPr>
          <p:cNvPicPr>
            <a:picLocks noChangeAspect="1"/>
          </p:cNvPicPr>
          <p:nvPr/>
        </p:nvPicPr>
        <p:blipFill>
          <a:blip r:embed="rId5"/>
          <a:stretch>
            <a:fillRect/>
          </a:stretch>
        </p:blipFill>
        <p:spPr>
          <a:xfrm>
            <a:off x="2144157" y="3943350"/>
            <a:ext cx="125016" cy="142875"/>
          </a:xfrm>
          <a:prstGeom prst="rect">
            <a:avLst/>
          </a:prstGeom>
        </p:spPr>
      </p:pic>
      <p:sp>
        <p:nvSpPr>
          <p:cNvPr id="26" name="Text 18"/>
          <p:cNvSpPr/>
          <p:nvPr/>
        </p:nvSpPr>
        <p:spPr>
          <a:xfrm>
            <a:off x="3202465" y="3804047"/>
            <a:ext cx="687586" cy="105370"/>
          </a:xfrm>
          <a:prstGeom prst="rect">
            <a:avLst/>
          </a:prstGeom>
          <a:noFill/>
          <a:ln/>
        </p:spPr>
        <p:txBody>
          <a:bodyPr wrap="none" lIns="0" tIns="0" rIns="0" bIns="0" rtlCol="0" anchor="t">
            <a:spAutoFit/>
          </a:bodyPr>
          <a:lstStyle/>
          <a:p>
            <a:pPr algn="l" indent="0" marL="0">
              <a:lnSpc>
                <a:spcPts val="800"/>
              </a:lnSpc>
              <a:buNone/>
            </a:pPr>
            <a:r>
              <a:rPr lang="en-US" sz="621" dirty="0">
                <a:solidFill>
                  <a:srgbClr val="E8EDF2"/>
                </a:solidFill>
                <a:latin typeface="Inter" pitchFamily="34" charset="0"/>
                <a:ea typeface="Inter" pitchFamily="34" charset="-122"/>
                <a:cs typeface="Inter" pitchFamily="34" charset="-120"/>
              </a:rPr>
              <a:t>Com SF 0.65</a:t>
            </a:r>
            <a:endParaRPr lang="en-US" sz="621" dirty="0"/>
          </a:p>
        </p:txBody>
      </p:sp>
      <p:sp>
        <p:nvSpPr>
          <p:cNvPr id="27" name="Text 19"/>
          <p:cNvSpPr/>
          <p:nvPr/>
        </p:nvSpPr>
        <p:spPr>
          <a:xfrm>
            <a:off x="3202465" y="3923705"/>
            <a:ext cx="687586" cy="301823"/>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27AE60"/>
                </a:solidFill>
                <a:latin typeface="JetBrains Mono" pitchFamily="34" charset="0"/>
                <a:ea typeface="JetBrains Mono" pitchFamily="34" charset="-122"/>
                <a:cs typeface="JetBrains Mono" pitchFamily="34" charset="-120"/>
              </a:rPr>
              <a:t>$677k</a:t>
            </a:r>
            <a:endParaRPr lang="en-US" sz="1602" dirty="0"/>
          </a:p>
        </p:txBody>
      </p:sp>
      <p:sp>
        <p:nvSpPr>
          <p:cNvPr id="28" name="Text 20"/>
          <p:cNvSpPr/>
          <p:nvPr/>
        </p:nvSpPr>
        <p:spPr>
          <a:xfrm>
            <a:off x="571500" y="4261247"/>
            <a:ext cx="3318579" cy="112514"/>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27AE60"/>
                </a:solidFill>
                <a:latin typeface="Inter" pitchFamily="34" charset="0"/>
                <a:ea typeface="Inter" pitchFamily="34" charset="-122"/>
                <a:cs typeface="Inter" pitchFamily="34" charset="-120"/>
              </a:rPr>
              <a:t>Economia Massiva</a:t>
            </a:r>
            <a:endParaRPr lang="en-US" sz="634" dirty="0"/>
          </a:p>
        </p:txBody>
      </p:sp>
      <p:sp>
        <p:nvSpPr>
          <p:cNvPr id="29" name="Shape 21"/>
          <p:cNvSpPr/>
          <p:nvPr/>
        </p:nvSpPr>
        <p:spPr>
          <a:xfrm>
            <a:off x="4390141" y="1169789"/>
            <a:ext cx="4325234" cy="1559123"/>
          </a:xfrm>
          <a:prstGeom prst="rect">
            <a:avLst/>
          </a:prstGeom>
          <a:solidFill>
            <a:srgbClr val="F2C94C">
              <a:alpha val="5000"/>
            </a:srgbClr>
          </a:solidFill>
          <a:ln w="18288">
            <a:solidFill>
              <a:srgbClr val="F2C94C">
                <a:alpha val="50000"/>
              </a:srgbClr>
            </a:solidFill>
            <a:prstDash val="dash"/>
          </a:ln>
        </p:spPr>
      </p:sp>
      <p:pic>
        <p:nvPicPr>
          <p:cNvPr id="30" name="Image 5" descr="preencoded.png">    </p:cNvPr>
          <p:cNvPicPr>
            <a:picLocks noChangeAspect="1"/>
          </p:cNvPicPr>
          <p:nvPr/>
        </p:nvPicPr>
        <p:blipFill>
          <a:blip r:embed="rId6">
            <a:alphaModFix amt="80000"/>
          </a:blip>
          <a:stretch>
            <a:fillRect/>
          </a:stretch>
        </p:blipFill>
        <p:spPr>
          <a:xfrm>
            <a:off x="6438444" y="1648420"/>
            <a:ext cx="228600" cy="228600"/>
          </a:xfrm>
          <a:prstGeom prst="rect">
            <a:avLst/>
          </a:prstGeom>
        </p:spPr>
      </p:pic>
      <p:sp>
        <p:nvSpPr>
          <p:cNvPr id="31" name="Text 22"/>
          <p:cNvSpPr/>
          <p:nvPr/>
        </p:nvSpPr>
        <p:spPr>
          <a:xfrm>
            <a:off x="6034822" y="1948458"/>
            <a:ext cx="1035844"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Figura 6.10</a:t>
            </a:r>
            <a:endParaRPr lang="en-US" sz="784" dirty="0"/>
          </a:p>
        </p:txBody>
      </p:sp>
      <p:sp>
        <p:nvSpPr>
          <p:cNvPr id="32" name="Text 23"/>
          <p:cNvSpPr/>
          <p:nvPr/>
        </p:nvSpPr>
        <p:spPr>
          <a:xfrm>
            <a:off x="5344557" y="2123480"/>
            <a:ext cx="2416373"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Análise de sensibilidade do Safety Factor vs. Blackouts</a:t>
            </a:r>
            <a:endParaRPr lang="en-US" sz="674" dirty="0"/>
          </a:p>
        </p:txBody>
      </p:sp>
      <p:sp>
        <p:nvSpPr>
          <p:cNvPr id="33" name="Shape 24"/>
          <p:cNvSpPr/>
          <p:nvPr/>
        </p:nvSpPr>
        <p:spPr>
          <a:xfrm>
            <a:off x="4390141" y="2857500"/>
            <a:ext cx="4325234" cy="1573411"/>
          </a:xfrm>
          <a:prstGeom prst="rect">
            <a:avLst/>
          </a:prstGeom>
          <a:solidFill>
            <a:srgbClr val="F2C94C">
              <a:alpha val="5000"/>
            </a:srgbClr>
          </a:solidFill>
          <a:ln w="18288">
            <a:solidFill>
              <a:srgbClr val="F2C94C">
                <a:alpha val="50000"/>
              </a:srgbClr>
            </a:solidFill>
            <a:prstDash val="dash"/>
          </a:ln>
        </p:spPr>
      </p:sp>
      <p:pic>
        <p:nvPicPr>
          <p:cNvPr id="34" name="Image 6" descr="preencoded.png">    </p:cNvPr>
          <p:cNvPicPr>
            <a:picLocks noChangeAspect="1"/>
          </p:cNvPicPr>
          <p:nvPr/>
        </p:nvPicPr>
        <p:blipFill>
          <a:blip r:embed="rId7">
            <a:alphaModFix amt="80000"/>
          </a:blip>
          <a:stretch>
            <a:fillRect/>
          </a:stretch>
        </p:blipFill>
        <p:spPr>
          <a:xfrm>
            <a:off x="6438444" y="3357563"/>
            <a:ext cx="228600" cy="228600"/>
          </a:xfrm>
          <a:prstGeom prst="rect">
            <a:avLst/>
          </a:prstGeom>
        </p:spPr>
      </p:pic>
      <p:sp>
        <p:nvSpPr>
          <p:cNvPr id="35" name="Text 25"/>
          <p:cNvSpPr/>
          <p:nvPr/>
        </p:nvSpPr>
        <p:spPr>
          <a:xfrm>
            <a:off x="6049110" y="3657600"/>
            <a:ext cx="1007269" cy="139303"/>
          </a:xfrm>
          <a:prstGeom prst="rect">
            <a:avLst/>
          </a:prstGeom>
          <a:noFill/>
          <a:ln/>
        </p:spPr>
        <p:txBody>
          <a:bodyPr wrap="none" lIns="0" tIns="0" rIns="0" bIns="0" rtlCol="0" anchor="t">
            <a:spAutoFit/>
          </a:bodyPr>
          <a:lstStyle/>
          <a:p>
            <a:pPr algn="ctr"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Inserir Tabela 6.4</a:t>
            </a:r>
            <a:endParaRPr lang="en-US" sz="784" dirty="0"/>
          </a:p>
        </p:txBody>
      </p:sp>
      <p:sp>
        <p:nvSpPr>
          <p:cNvPr id="36" name="Text 26"/>
          <p:cNvSpPr/>
          <p:nvPr/>
        </p:nvSpPr>
        <p:spPr>
          <a:xfrm>
            <a:off x="5499041" y="3832622"/>
            <a:ext cx="2107406" cy="112514"/>
          </a:xfrm>
          <a:prstGeom prst="rect">
            <a:avLst/>
          </a:prstGeom>
          <a:noFill/>
          <a:ln/>
        </p:spPr>
        <p:txBody>
          <a:bodyPr wrap="none" lIns="0" tIns="0" rIns="0" bIns="0" rtlCol="0" anchor="t">
            <a:spAutoFit/>
          </a:bodyPr>
          <a:lstStyle/>
          <a:p>
            <a:pPr algn="ctr" indent="0" marL="0">
              <a:lnSpc>
                <a:spcPts val="900"/>
              </a:lnSpc>
              <a:buNone/>
            </a:pPr>
            <a:r>
              <a:rPr lang="en-US" sz="674" dirty="0">
                <a:solidFill>
                  <a:srgbClr val="E8EDF2">
                    <a:alpha val="60000"/>
                  </a:srgbClr>
                </a:solidFill>
                <a:latin typeface="Inter" pitchFamily="34" charset="0"/>
                <a:ea typeface="Inter" pitchFamily="34" charset="-122"/>
                <a:cs typeface="Inter" pitchFamily="34" charset="-120"/>
              </a:rPr>
              <a:t>Resultados numéricos detalhados da calibração</a:t>
            </a:r>
            <a:endParaRPr lang="en-US" sz="674" dirty="0"/>
          </a:p>
        </p:txBody>
      </p:sp>
      <p:sp>
        <p:nvSpPr>
          <p:cNvPr id="37" name="Text 27"/>
          <p:cNvSpPr/>
          <p:nvPr/>
        </p:nvSpPr>
        <p:spPr>
          <a:xfrm>
            <a:off x="4390141" y="4609505"/>
            <a:ext cx="4325234" cy="96441"/>
          </a:xfrm>
          <a:prstGeom prst="rect">
            <a:avLst/>
          </a:prstGeom>
          <a:noFill/>
          <a:ln/>
        </p:spPr>
        <p:txBody>
          <a:bodyPr wrap="none" lIns="0" tIns="0" rIns="0" bIns="0" rtlCol="0" anchor="t">
            <a:spAutoFit/>
          </a:bodyPr>
          <a:lstStyle/>
          <a:p>
            <a:pPr algn="ctr" indent="0" marL="0">
              <a:lnSpc>
                <a:spcPts val="700"/>
              </a:lnSpc>
              <a:buNone/>
            </a:pPr>
            <a:r>
              <a:rPr lang="en-US" sz="568"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568"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COMPARAÇÃO DE CUSTOS OPERACIONAIS</a:t>
            </a:r>
            <a:endParaRPr lang="en-US" sz="1808" dirty="0"/>
          </a:p>
        </p:txBody>
      </p:sp>
      <p:sp>
        <p:nvSpPr>
          <p:cNvPr id="7" name="Shape 3"/>
          <p:cNvSpPr/>
          <p:nvPr/>
        </p:nvSpPr>
        <p:spPr>
          <a:xfrm>
            <a:off x="428625" y="1169789"/>
            <a:ext cx="3416554" cy="1060847"/>
          </a:xfrm>
          <a:prstGeom prst="rect">
            <a:avLst/>
          </a:prstGeom>
          <a:solidFill>
            <a:srgbClr val="EB5757">
              <a:alpha val="10000"/>
            </a:srgbClr>
          </a:solidFill>
          <a:ln/>
        </p:spPr>
      </p:sp>
      <p:sp>
        <p:nvSpPr>
          <p:cNvPr id="8" name="Shape 4"/>
          <p:cNvSpPr/>
          <p:nvPr/>
        </p:nvSpPr>
        <p:spPr>
          <a:xfrm>
            <a:off x="428625" y="1169789"/>
            <a:ext cx="42863" cy="1060847"/>
          </a:xfrm>
          <a:prstGeom prst="rect">
            <a:avLst/>
          </a:prstGeom>
          <a:solidFill>
            <a:srgbClr val="EB5757"/>
          </a:solidFill>
          <a:ln/>
        </p:spPr>
      </p:sp>
      <p:sp>
        <p:nvSpPr>
          <p:cNvPr id="9" name="Text 5"/>
          <p:cNvSpPr/>
          <p:nvPr/>
        </p:nvSpPr>
        <p:spPr>
          <a:xfrm>
            <a:off x="571500" y="1312664"/>
            <a:ext cx="3130804"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B5757"/>
                </a:solidFill>
                <a:latin typeface="Montserrat" pitchFamily="34" charset="0"/>
                <a:ea typeface="Montserrat" pitchFamily="34" charset="-122"/>
                <a:cs typeface="Montserrat" pitchFamily="34" charset="-120"/>
              </a:rPr>
              <a:t>MODELOS BENCHMARK (SEM DECOMP.)</a:t>
            </a:r>
            <a:endParaRPr lang="en-US" sz="683" dirty="0"/>
          </a:p>
        </p:txBody>
      </p:sp>
      <p:sp>
        <p:nvSpPr>
          <p:cNvPr id="10" name="Text 6"/>
          <p:cNvSpPr/>
          <p:nvPr/>
        </p:nvSpPr>
        <p:spPr>
          <a:xfrm>
            <a:off x="571500" y="1469827"/>
            <a:ext cx="3130804"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E8EDF2"/>
                </a:solidFill>
                <a:latin typeface="JetBrains Mono" pitchFamily="34" charset="0"/>
                <a:ea typeface="JetBrains Mono" pitchFamily="34" charset="-122"/>
                <a:cs typeface="JetBrains Mono" pitchFamily="34" charset="-120"/>
              </a:rPr>
              <a:t>&gt; $5,000,000</a:t>
            </a:r>
            <a:endParaRPr lang="en-US" sz="1808" dirty="0"/>
          </a:p>
        </p:txBody>
      </p:sp>
      <p:sp>
        <p:nvSpPr>
          <p:cNvPr id="11" name="Text 7"/>
          <p:cNvSpPr/>
          <p:nvPr/>
        </p:nvSpPr>
        <p:spPr>
          <a:xfrm>
            <a:off x="571500" y="1844873"/>
            <a:ext cx="3130804"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E8EDF2">
                    <a:alpha val="80000"/>
                  </a:srgbClr>
                </a:solidFill>
                <a:latin typeface="Inter" pitchFamily="34" charset="0"/>
                <a:ea typeface="Inter" pitchFamily="34" charset="-122"/>
                <a:cs typeface="Inter" pitchFamily="34" charset="-120"/>
              </a:rPr>
              <a:t>Alto custo devido à incapacidade de prever ramp-downs, resultando em múltiplos blackouts ($100k cada).</a:t>
            </a:r>
            <a:endParaRPr lang="en-US" sz="727" dirty="0"/>
          </a:p>
        </p:txBody>
      </p:sp>
      <p:sp>
        <p:nvSpPr>
          <p:cNvPr id="12" name="Shape 8"/>
          <p:cNvSpPr/>
          <p:nvPr/>
        </p:nvSpPr>
        <p:spPr>
          <a:xfrm>
            <a:off x="428625" y="2444948"/>
            <a:ext cx="3416554" cy="1060847"/>
          </a:xfrm>
          <a:prstGeom prst="rect">
            <a:avLst/>
          </a:prstGeom>
          <a:solidFill>
            <a:srgbClr val="27AE60">
              <a:alpha val="10000"/>
            </a:srgbClr>
          </a:solidFill>
          <a:ln/>
        </p:spPr>
      </p:sp>
      <p:sp>
        <p:nvSpPr>
          <p:cNvPr id="13" name="Shape 9"/>
          <p:cNvSpPr/>
          <p:nvPr/>
        </p:nvSpPr>
        <p:spPr>
          <a:xfrm>
            <a:off x="428625" y="2444948"/>
            <a:ext cx="42863" cy="1060847"/>
          </a:xfrm>
          <a:prstGeom prst="rect">
            <a:avLst/>
          </a:prstGeom>
          <a:solidFill>
            <a:srgbClr val="27AE60"/>
          </a:solidFill>
          <a:ln/>
        </p:spPr>
      </p:sp>
      <p:sp>
        <p:nvSpPr>
          <p:cNvPr id="14" name="Text 10"/>
          <p:cNvSpPr/>
          <p:nvPr/>
        </p:nvSpPr>
        <p:spPr>
          <a:xfrm>
            <a:off x="571500" y="2587823"/>
            <a:ext cx="3130804"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27AE60"/>
                </a:solidFill>
                <a:latin typeface="Montserrat" pitchFamily="34" charset="0"/>
                <a:ea typeface="Montserrat" pitchFamily="34" charset="-122"/>
                <a:cs typeface="Montserrat" pitchFamily="34" charset="-120"/>
              </a:rPr>
              <a:t>MODELO PROPOSTO (CALIBRADO)</a:t>
            </a:r>
            <a:endParaRPr lang="en-US" sz="683" dirty="0"/>
          </a:p>
        </p:txBody>
      </p:sp>
      <p:sp>
        <p:nvSpPr>
          <p:cNvPr id="15" name="Text 11"/>
          <p:cNvSpPr/>
          <p:nvPr/>
        </p:nvSpPr>
        <p:spPr>
          <a:xfrm>
            <a:off x="571500" y="2744986"/>
            <a:ext cx="3130804" cy="339328"/>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E8EDF2"/>
                </a:solidFill>
                <a:latin typeface="JetBrains Mono" pitchFamily="34" charset="0"/>
                <a:ea typeface="JetBrains Mono" pitchFamily="34" charset="-122"/>
                <a:cs typeface="JetBrains Mono" pitchFamily="34" charset="-120"/>
              </a:rPr>
              <a:t>~ $677,000</a:t>
            </a:r>
            <a:endParaRPr lang="en-US" sz="1808" dirty="0"/>
          </a:p>
        </p:txBody>
      </p:sp>
      <p:sp>
        <p:nvSpPr>
          <p:cNvPr id="16" name="Text 12"/>
          <p:cNvSpPr/>
          <p:nvPr/>
        </p:nvSpPr>
        <p:spPr>
          <a:xfrm>
            <a:off x="571500" y="3120033"/>
            <a:ext cx="3130804" cy="242888"/>
          </a:xfrm>
          <a:prstGeom prst="rect">
            <a:avLst/>
          </a:prstGeom>
          <a:noFill/>
          <a:ln/>
        </p:spPr>
        <p:txBody>
          <a:bodyPr wrap="square" lIns="0" tIns="0" rIns="0" bIns="0" rtlCol="0" anchor="t">
            <a:spAutoFit/>
          </a:bodyPr>
          <a:lstStyle/>
          <a:p>
            <a:pPr algn="l" indent="0" marL="0">
              <a:lnSpc>
                <a:spcPts val="900"/>
              </a:lnSpc>
              <a:buNone/>
            </a:pPr>
            <a:r>
              <a:rPr lang="en-US" sz="727" dirty="0">
                <a:solidFill>
                  <a:srgbClr val="E8EDF2">
                    <a:alpha val="80000"/>
                  </a:srgbClr>
                </a:solidFill>
                <a:latin typeface="Inter" pitchFamily="34" charset="0"/>
                <a:ea typeface="Inter" pitchFamily="34" charset="-122"/>
                <a:cs typeface="Inter" pitchFamily="34" charset="-120"/>
              </a:rPr>
              <a:t>Equilíbrio ótimo. Reduz blackouts em 93% mantendo o uso do gerador sob controle.</a:t>
            </a:r>
            <a:endParaRPr lang="en-US" sz="727" dirty="0"/>
          </a:p>
        </p:txBody>
      </p:sp>
      <p:sp>
        <p:nvSpPr>
          <p:cNvPr id="17" name="Shape 13"/>
          <p:cNvSpPr/>
          <p:nvPr/>
        </p:nvSpPr>
        <p:spPr>
          <a:xfrm>
            <a:off x="428625" y="3791545"/>
            <a:ext cx="3416554" cy="528638"/>
          </a:xfrm>
          <a:prstGeom prst="rect">
            <a:avLst/>
          </a:prstGeom>
          <a:solidFill>
            <a:srgbClr val="F2C94C">
              <a:alpha val="10000"/>
            </a:srgbClr>
          </a:solidFill>
          <a:ln w="9144">
            <a:solidFill>
              <a:srgbClr val="F2C94C">
                <a:alpha val="30000"/>
              </a:srgbClr>
            </a:solidFill>
            <a:prstDash val="solid"/>
          </a:ln>
        </p:spPr>
      </p:sp>
      <p:pic>
        <p:nvPicPr>
          <p:cNvPr id="18" name="Image 1" descr="preencoded.png">    </p:cNvPr>
          <p:cNvPicPr>
            <a:picLocks noChangeAspect="1"/>
          </p:cNvPicPr>
          <p:nvPr/>
        </p:nvPicPr>
        <p:blipFill>
          <a:blip r:embed="rId2"/>
          <a:stretch>
            <a:fillRect/>
          </a:stretch>
        </p:blipFill>
        <p:spPr>
          <a:xfrm>
            <a:off x="535781" y="3948708"/>
            <a:ext cx="225028" cy="200025"/>
          </a:xfrm>
          <a:prstGeom prst="rect">
            <a:avLst/>
          </a:prstGeom>
        </p:spPr>
      </p:pic>
      <p:sp>
        <p:nvSpPr>
          <p:cNvPr id="19" name="Text 14"/>
          <p:cNvSpPr/>
          <p:nvPr/>
        </p:nvSpPr>
        <p:spPr>
          <a:xfrm>
            <a:off x="867966" y="3898702"/>
            <a:ext cx="2870057" cy="300038"/>
          </a:xfrm>
          <a:prstGeom prst="rect">
            <a:avLst/>
          </a:prstGeom>
          <a:noFill/>
          <a:ln/>
        </p:spPr>
        <p:txBody>
          <a:bodyPr wrap="square" lIns="0" tIns="0" rIns="0" bIns="0" rtlCol="0" anchor="t">
            <a:spAutoFit/>
          </a:bodyPr>
          <a:lstStyle/>
          <a:p>
            <a:pPr algn="l" indent="0" marL="0">
              <a:lnSpc>
                <a:spcPts val="1200"/>
              </a:lnSpc>
              <a:buNone/>
            </a:pPr>
            <a:r>
              <a:rPr lang="en-US" sz="780" dirty="0">
                <a:solidFill>
                  <a:srgbClr val="E8EDF2"/>
                </a:solidFill>
                <a:latin typeface="Inter" pitchFamily="34" charset="0"/>
                <a:ea typeface="Inter" pitchFamily="34" charset="-122"/>
                <a:cs typeface="Inter" pitchFamily="34" charset="-120"/>
              </a:rPr>
              <a:t>A precisão do modelo traduz-se diretamente em uma </a:t>
            </a:r>
            <a:pPr algn="l" indent="0" marL="0">
              <a:lnSpc>
                <a:spcPts val="1200"/>
              </a:lnSpc>
              <a:buNone/>
            </a:pPr>
            <a:r>
              <a:rPr lang="en-US" sz="734" b="1" dirty="0">
                <a:solidFill>
                  <a:srgbClr val="E8EDF2"/>
                </a:solidFill>
                <a:latin typeface="Inter" pitchFamily="34" charset="0"/>
                <a:ea typeface="Inter" pitchFamily="34" charset="-122"/>
                <a:cs typeface="Inter" pitchFamily="34" charset="-120"/>
              </a:rPr>
              <a:t>economia de milhões de dólares</a:t>
            </a:r>
            <a:pPr algn="l" indent="0" marL="0">
              <a:lnSpc>
                <a:spcPts val="1200"/>
              </a:lnSpc>
              <a:buNone/>
            </a:pPr>
            <a:r>
              <a:rPr lang="en-US" sz="780" dirty="0">
                <a:solidFill>
                  <a:srgbClr val="E8EDF2"/>
                </a:solidFill>
                <a:latin typeface="Inter" pitchFamily="34" charset="0"/>
                <a:ea typeface="Inter" pitchFamily="34" charset="-122"/>
                <a:cs typeface="Inter" pitchFamily="34" charset="-120"/>
              </a:rPr>
              <a:t> por ano de operação.</a:t>
            </a:r>
            <a:endParaRPr lang="en-US" sz="780" dirty="0"/>
          </a:p>
        </p:txBody>
      </p:sp>
      <p:sp>
        <p:nvSpPr>
          <p:cNvPr id="20" name="Shape 15"/>
          <p:cNvSpPr/>
          <p:nvPr/>
        </p:nvSpPr>
        <p:spPr>
          <a:xfrm>
            <a:off x="4273804" y="1169789"/>
            <a:ext cx="4441543" cy="3571875"/>
          </a:xfrm>
          <a:prstGeom prst="rect">
            <a:avLst/>
          </a:prstGeom>
          <a:solidFill>
            <a:srgbClr val="F2C94C">
              <a:alpha val="5000"/>
            </a:srgbClr>
          </a:solidFill>
          <a:ln w="18288">
            <a:solidFill>
              <a:srgbClr val="F2C94C">
                <a:alpha val="50000"/>
              </a:srgbClr>
            </a:solidFill>
            <a:prstDash val="dash"/>
          </a:ln>
        </p:spPr>
      </p:sp>
      <p:pic>
        <p:nvPicPr>
          <p:cNvPr id="21" name="Image 2" descr="preencoded.png">    </p:cNvPr>
          <p:cNvPicPr>
            <a:picLocks noChangeAspect="1"/>
          </p:cNvPicPr>
          <p:nvPr/>
        </p:nvPicPr>
        <p:blipFill>
          <a:blip r:embed="rId3">
            <a:alphaModFix amt="80000"/>
          </a:blip>
          <a:stretch>
            <a:fillRect/>
          </a:stretch>
        </p:blipFill>
        <p:spPr>
          <a:xfrm>
            <a:off x="6344543" y="2433340"/>
            <a:ext cx="300038" cy="400050"/>
          </a:xfrm>
          <a:prstGeom prst="rect">
            <a:avLst/>
          </a:prstGeom>
        </p:spPr>
      </p:pic>
      <p:sp>
        <p:nvSpPr>
          <p:cNvPr id="22" name="Text 16"/>
          <p:cNvSpPr/>
          <p:nvPr/>
        </p:nvSpPr>
        <p:spPr>
          <a:xfrm>
            <a:off x="5307806" y="2976265"/>
            <a:ext cx="2373511"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Tabela 6.5 da Dissertação</a:t>
            </a:r>
            <a:endParaRPr lang="en-US" sz="987" dirty="0"/>
          </a:p>
        </p:txBody>
      </p:sp>
      <p:sp>
        <p:nvSpPr>
          <p:cNvPr id="23" name="Text 17"/>
          <p:cNvSpPr/>
          <p:nvPr/>
        </p:nvSpPr>
        <p:spPr>
          <a:xfrm>
            <a:off x="4946545" y="3220938"/>
            <a:ext cx="3096034"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Detalhamento dos custos (OpEx, Startups, Blackouts) para cada estratégia</a:t>
            </a:r>
            <a:endParaRPr lang="en-US" sz="780" dirty="0"/>
          </a:p>
        </p:txBody>
      </p:sp>
      <p:sp>
        <p:nvSpPr>
          <p:cNvPr id="24" name="Text 18"/>
          <p:cNvSpPr/>
          <p:nvPr/>
        </p:nvSpPr>
        <p:spPr>
          <a:xfrm>
            <a:off x="4273804" y="4827389"/>
            <a:ext cx="4441543"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TRADE-OFF: PERFORMANCE VS. CUSTO</a:t>
            </a:r>
            <a:endParaRPr lang="en-US" sz="1808" dirty="0"/>
          </a:p>
        </p:txBody>
      </p:sp>
      <p:sp>
        <p:nvSpPr>
          <p:cNvPr id="7" name="Shape 3"/>
          <p:cNvSpPr/>
          <p:nvPr/>
        </p:nvSpPr>
        <p:spPr>
          <a:xfrm>
            <a:off x="428625" y="1734145"/>
            <a:ext cx="3491117" cy="721519"/>
          </a:xfrm>
          <a:prstGeom prst="rect">
            <a:avLst/>
          </a:prstGeom>
          <a:solidFill>
            <a:srgbClr val="001D33">
              <a:alpha val="30000"/>
            </a:srgbClr>
          </a:solidFill>
          <a:ln/>
        </p:spPr>
      </p:sp>
      <p:sp>
        <p:nvSpPr>
          <p:cNvPr id="8" name="Shape 4"/>
          <p:cNvSpPr/>
          <p:nvPr/>
        </p:nvSpPr>
        <p:spPr>
          <a:xfrm>
            <a:off x="428625" y="1734145"/>
            <a:ext cx="28575" cy="721519"/>
          </a:xfrm>
          <a:prstGeom prst="rect">
            <a:avLst/>
          </a:prstGeom>
          <a:solidFill>
            <a:srgbClr val="F2C94C"/>
          </a:solidFill>
          <a:ln/>
        </p:spPr>
      </p:sp>
      <p:sp>
        <p:nvSpPr>
          <p:cNvPr id="9" name="Text 5"/>
          <p:cNvSpPr/>
          <p:nvPr/>
        </p:nvSpPr>
        <p:spPr>
          <a:xfrm>
            <a:off x="514350" y="1819870"/>
            <a:ext cx="3319667"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Análise de Pareto</a:t>
            </a:r>
            <a:endParaRPr lang="en-US" sz="885" dirty="0"/>
          </a:p>
        </p:txBody>
      </p:sp>
      <p:sp>
        <p:nvSpPr>
          <p:cNvPr id="10" name="Text 6"/>
          <p:cNvSpPr/>
          <p:nvPr/>
        </p:nvSpPr>
        <p:spPr>
          <a:xfrm>
            <a:off x="514350" y="2048470"/>
            <a:ext cx="3319667" cy="321469"/>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Ao plotar o Erro (Eixo X) contra o Custo (Eixo Y), identificamos claramente quais modelos são viáveis para operação real.</a:t>
            </a:r>
            <a:endParaRPr lang="en-US" sz="780" dirty="0"/>
          </a:p>
        </p:txBody>
      </p:sp>
      <p:pic>
        <p:nvPicPr>
          <p:cNvPr id="11" name="Image 1" descr="preencoded.png">    </p:cNvPr>
          <p:cNvPicPr>
            <a:picLocks noChangeAspect="1"/>
          </p:cNvPicPr>
          <p:nvPr/>
        </p:nvPicPr>
        <p:blipFill>
          <a:blip r:embed="rId2"/>
          <a:stretch>
            <a:fillRect/>
          </a:stretch>
        </p:blipFill>
        <p:spPr>
          <a:xfrm>
            <a:off x="507206" y="2778919"/>
            <a:ext cx="214313" cy="171450"/>
          </a:xfrm>
          <a:prstGeom prst="rect">
            <a:avLst/>
          </a:prstGeom>
        </p:spPr>
      </p:pic>
      <p:sp>
        <p:nvSpPr>
          <p:cNvPr id="12" name="Text 7"/>
          <p:cNvSpPr/>
          <p:nvPr/>
        </p:nvSpPr>
        <p:spPr>
          <a:xfrm>
            <a:off x="807244" y="2677120"/>
            <a:ext cx="3033917"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EB5757"/>
                </a:solidFill>
                <a:latin typeface="Inter" pitchFamily="34" charset="0"/>
                <a:ea typeface="Inter" pitchFamily="34" charset="-122"/>
                <a:cs typeface="Inter" pitchFamily="34" charset="-120"/>
              </a:rPr>
              <a:t>ZONA DE INVIABILIDADE</a:t>
            </a:r>
            <a:endParaRPr lang="en-US" sz="683" dirty="0"/>
          </a:p>
        </p:txBody>
      </p:sp>
      <p:sp>
        <p:nvSpPr>
          <p:cNvPr id="13" name="Text 8"/>
          <p:cNvSpPr/>
          <p:nvPr/>
        </p:nvSpPr>
        <p:spPr>
          <a:xfrm>
            <a:off x="807244" y="2827139"/>
            <a:ext cx="3033917" cy="225028"/>
          </a:xfrm>
          <a:prstGeom prst="rect">
            <a:avLst/>
          </a:prstGeom>
          <a:noFill/>
          <a:ln/>
        </p:spPr>
        <p:txBody>
          <a:bodyPr wrap="square" lIns="0" tIns="0" rIns="0" bIns="0" rtlCol="0" anchor="t">
            <a:spAutoFit/>
          </a:bodyPr>
          <a:lstStyle/>
          <a:p>
            <a:pPr algn="l" indent="0" marL="0">
              <a:lnSpc>
                <a:spcPts val="900"/>
              </a:lnSpc>
              <a:buNone/>
            </a:pPr>
            <a:r>
              <a:rPr lang="en-US" sz="674" dirty="0">
                <a:solidFill>
                  <a:srgbClr val="E8EDF2">
                    <a:alpha val="70000"/>
                  </a:srgbClr>
                </a:solidFill>
                <a:latin typeface="Inter" pitchFamily="34" charset="0"/>
                <a:ea typeface="Inter" pitchFamily="34" charset="-122"/>
                <a:cs typeface="Inter" pitchFamily="34" charset="-120"/>
              </a:rPr>
              <a:t>Modelos Benchmark (Alto Erro + Alto Custo). Inaceitáveis para a indústria.</a:t>
            </a:r>
            <a:endParaRPr lang="en-US" sz="674" dirty="0"/>
          </a:p>
        </p:txBody>
      </p:sp>
      <p:sp>
        <p:nvSpPr>
          <p:cNvPr id="14" name="Shape 9"/>
          <p:cNvSpPr/>
          <p:nvPr/>
        </p:nvSpPr>
        <p:spPr>
          <a:xfrm>
            <a:off x="428625" y="3216473"/>
            <a:ext cx="3491117" cy="532209"/>
          </a:xfrm>
          <a:prstGeom prst="rect">
            <a:avLst/>
          </a:prstGeom>
          <a:solidFill>
            <a:srgbClr val="27AE60">
              <a:alpha val="10000"/>
            </a:srgbClr>
          </a:solidFill>
          <a:ln w="9144">
            <a:solidFill>
              <a:srgbClr val="27AE60"/>
            </a:solidFill>
            <a:prstDash val="solid"/>
          </a:ln>
        </p:spPr>
      </p:sp>
      <p:pic>
        <p:nvPicPr>
          <p:cNvPr id="15" name="Image 2" descr="preencoded.png">    </p:cNvPr>
          <p:cNvPicPr>
            <a:picLocks noChangeAspect="1"/>
          </p:cNvPicPr>
          <p:nvPr/>
        </p:nvPicPr>
        <p:blipFill>
          <a:blip r:embed="rId3"/>
          <a:stretch>
            <a:fillRect/>
          </a:stretch>
        </p:blipFill>
        <p:spPr>
          <a:xfrm>
            <a:off x="500063" y="3396853"/>
            <a:ext cx="214313" cy="171450"/>
          </a:xfrm>
          <a:prstGeom prst="rect">
            <a:avLst/>
          </a:prstGeom>
        </p:spPr>
      </p:pic>
      <p:sp>
        <p:nvSpPr>
          <p:cNvPr id="16" name="Text 10"/>
          <p:cNvSpPr/>
          <p:nvPr/>
        </p:nvSpPr>
        <p:spPr>
          <a:xfrm>
            <a:off x="800100" y="3295055"/>
            <a:ext cx="3048205" cy="121444"/>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27AE60"/>
                </a:solidFill>
                <a:latin typeface="Inter" pitchFamily="34" charset="0"/>
                <a:ea typeface="Inter" pitchFamily="34" charset="-122"/>
                <a:cs typeface="Inter" pitchFamily="34" charset="-120"/>
              </a:rPr>
              <a:t>ZONA ÓTIMA (SWEET SPOT)</a:t>
            </a:r>
            <a:endParaRPr lang="en-US" sz="683" dirty="0"/>
          </a:p>
        </p:txBody>
      </p:sp>
      <p:sp>
        <p:nvSpPr>
          <p:cNvPr id="17" name="Text 11"/>
          <p:cNvSpPr/>
          <p:nvPr/>
        </p:nvSpPr>
        <p:spPr>
          <a:xfrm>
            <a:off x="800100" y="3445073"/>
            <a:ext cx="3048205" cy="225028"/>
          </a:xfrm>
          <a:prstGeom prst="rect">
            <a:avLst/>
          </a:prstGeom>
          <a:noFill/>
          <a:ln/>
        </p:spPr>
        <p:txBody>
          <a:bodyPr wrap="square" lIns="0" tIns="0" rIns="0" bIns="0" rtlCol="0" anchor="t">
            <a:spAutoFit/>
          </a:bodyPr>
          <a:lstStyle/>
          <a:p>
            <a:pPr algn="l" indent="0" marL="0">
              <a:lnSpc>
                <a:spcPts val="900"/>
              </a:lnSpc>
              <a:buNone/>
            </a:pPr>
            <a:r>
              <a:rPr lang="en-US" sz="674" dirty="0">
                <a:solidFill>
                  <a:srgbClr val="E8EDF2">
                    <a:alpha val="70000"/>
                  </a:srgbClr>
                </a:solidFill>
                <a:latin typeface="Inter" pitchFamily="34" charset="0"/>
                <a:ea typeface="Inter" pitchFamily="34" charset="-122"/>
                <a:cs typeface="Inter" pitchFamily="34" charset="-120"/>
              </a:rPr>
              <a:t>Modelo Proposto (Baixo Erro + Baixo Custo). Único candidato no quadrante inferior esquerdo.</a:t>
            </a:r>
            <a:endParaRPr lang="en-US" sz="674" dirty="0"/>
          </a:p>
        </p:txBody>
      </p:sp>
      <p:sp>
        <p:nvSpPr>
          <p:cNvPr id="18" name="Shape 12"/>
          <p:cNvSpPr/>
          <p:nvPr/>
        </p:nvSpPr>
        <p:spPr>
          <a:xfrm>
            <a:off x="4176917" y="1169789"/>
            <a:ext cx="4538458" cy="3143250"/>
          </a:xfrm>
          <a:prstGeom prst="rect">
            <a:avLst/>
          </a:prstGeom>
          <a:solidFill>
            <a:srgbClr val="F2C94C">
              <a:alpha val="5000"/>
            </a:srgbClr>
          </a:solidFill>
          <a:ln w="18288">
            <a:solidFill>
              <a:srgbClr val="F2C94C">
                <a:alpha val="50000"/>
              </a:srgbClr>
            </a:solidFill>
            <a:prstDash val="dash"/>
          </a:ln>
        </p:spPr>
      </p:sp>
      <p:sp>
        <p:nvSpPr>
          <p:cNvPr id="19" name="Text 13"/>
          <p:cNvSpPr/>
          <p:nvPr/>
        </p:nvSpPr>
        <p:spPr>
          <a:xfrm>
            <a:off x="5255819" y="2444948"/>
            <a:ext cx="2380655"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2C94C"/>
                </a:solidFill>
                <a:latin typeface="Montserrat" pitchFamily="34" charset="0"/>
                <a:ea typeface="Montserrat" pitchFamily="34" charset="-122"/>
                <a:cs typeface="Montserrat" pitchFamily="34" charset="-120"/>
              </a:rPr>
              <a:t>Inserir Figura 6.11 da Dissertação</a:t>
            </a:r>
            <a:endParaRPr lang="en-US" sz="987" dirty="0"/>
          </a:p>
        </p:txBody>
      </p:sp>
      <p:sp>
        <p:nvSpPr>
          <p:cNvPr id="20" name="Text 14"/>
          <p:cNvSpPr/>
          <p:nvPr/>
        </p:nvSpPr>
        <p:spPr>
          <a:xfrm>
            <a:off x="4767923" y="2675334"/>
            <a:ext cx="3356446" cy="257175"/>
          </a:xfrm>
          <a:prstGeom prst="rect">
            <a:avLst/>
          </a:prstGeom>
          <a:noFill/>
          <a:ln/>
        </p:spPr>
        <p:txBody>
          <a:bodyPr wrap="square" lIns="0" tIns="0" rIns="0" bIns="0" rtlCol="0" anchor="t">
            <a:spAutoFit/>
          </a:bodyPr>
          <a:lstStyle/>
          <a:p>
            <a:pPr algn="ctr" indent="0" marL="0">
              <a:lnSpc>
                <a:spcPts val="1000"/>
              </a:lnSpc>
              <a:buNone/>
            </a:pPr>
            <a:r>
              <a:rPr lang="en-US" sz="780" dirty="0">
                <a:solidFill>
                  <a:srgbClr val="E8EDF2">
                    <a:alpha val="60000"/>
                  </a:srgbClr>
                </a:solidFill>
                <a:latin typeface="Inter" pitchFamily="34" charset="0"/>
                <a:ea typeface="Inter" pitchFamily="34" charset="-122"/>
                <a:cs typeface="Inter" pitchFamily="34" charset="-120"/>
              </a:rPr>
              <a:t>Scatter plot mostrando a posição relativa de cada modelo (Custo vs. MAPE)</a:t>
            </a:r>
            <a:endParaRPr lang="en-US" sz="780" dirty="0"/>
          </a:p>
        </p:txBody>
      </p:sp>
      <p:sp>
        <p:nvSpPr>
          <p:cNvPr id="21" name="Text 15"/>
          <p:cNvSpPr/>
          <p:nvPr/>
        </p:nvSpPr>
        <p:spPr>
          <a:xfrm>
            <a:off x="5566572" y="3018234"/>
            <a:ext cx="1759148" cy="105370"/>
          </a:xfrm>
          <a:prstGeom prst="rect">
            <a:avLst/>
          </a:prstGeom>
          <a:noFill/>
          <a:ln/>
        </p:spPr>
        <p:txBody>
          <a:bodyPr wrap="none" lIns="0" tIns="0" rIns="0" bIns="0" rtlCol="0" anchor="t">
            <a:spAutoFit/>
          </a:bodyPr>
          <a:lstStyle/>
          <a:p>
            <a:pPr algn="ctr" indent="0" marL="0">
              <a:lnSpc>
                <a:spcPts val="800"/>
              </a:lnSpc>
              <a:buNone/>
            </a:pPr>
            <a:r>
              <a:rPr lang="en-US" sz="621" i="1" dirty="0">
                <a:solidFill>
                  <a:srgbClr val="E8EDF2">
                    <a:alpha val="40000"/>
                  </a:srgbClr>
                </a:solidFill>
                <a:latin typeface="Inter" pitchFamily="34" charset="0"/>
                <a:ea typeface="Inter" pitchFamily="34" charset="-122"/>
                <a:cs typeface="Inter" pitchFamily="34" charset="-120"/>
              </a:rPr>
              <a:t>Fonte: Dissertação, Capítulo 6 (Resultados)</a:t>
            </a:r>
            <a:endParaRPr lang="en-US" sz="62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785813" y="1222307"/>
            <a:ext cx="8358188" cy="1285875"/>
          </a:xfrm>
          <a:prstGeom prst="rect">
            <a:avLst/>
          </a:prstGeom>
          <a:noFill/>
          <a:ln/>
        </p:spPr>
        <p:txBody>
          <a:bodyPr wrap="none" lIns="0" tIns="0" rIns="0" bIns="0" rtlCol="0" anchor="t">
            <a:spAutoFit/>
          </a:bodyPr>
          <a:lstStyle/>
          <a:p>
            <a:pPr algn="l" indent="0" marL="0">
              <a:lnSpc>
                <a:spcPts val="10100"/>
              </a:lnSpc>
              <a:buNone/>
            </a:pPr>
            <a:r>
              <a:rPr lang="en-US" dirty="0">
                <a:solidFill>
                  <a:srgbClr val="000000"/>
                </a:solidFill>
              </a:rPr>
              <a:t>07</a:t>
            </a:r>
            <a:endParaRPr lang="en-US" dirty="0"/>
          </a:p>
        </p:txBody>
      </p:sp>
      <p:sp>
        <p:nvSpPr>
          <p:cNvPr id="5" name="Text 1"/>
          <p:cNvSpPr/>
          <p:nvPr/>
        </p:nvSpPr>
        <p:spPr>
          <a:xfrm>
            <a:off x="857250" y="2222432"/>
            <a:ext cx="6429375" cy="1005818"/>
          </a:xfrm>
          <a:prstGeom prst="rect">
            <a:avLst/>
          </a:prstGeom>
          <a:noFill/>
          <a:ln/>
        </p:spPr>
        <p:txBody>
          <a:bodyPr wrap="square" lIns="0" tIns="0" rIns="0" bIns="0" rtlCol="0" anchor="t">
            <a:spAutoFit/>
          </a:bodyPr>
          <a:lstStyle/>
          <a:p>
            <a:pPr algn="l" indent="0" marL="0">
              <a:lnSpc>
                <a:spcPts val="4000"/>
              </a:lnSpc>
              <a:buNone/>
            </a:pPr>
            <a:r>
              <a:rPr lang="en-US" sz="3294" b="1" dirty="0">
                <a:solidFill>
                  <a:srgbClr val="E8EDF2"/>
                </a:solidFill>
                <a:latin typeface="Montserrat" pitchFamily="34" charset="0"/>
                <a:ea typeface="Montserrat" pitchFamily="34" charset="-122"/>
                <a:cs typeface="Montserrat" pitchFamily="34" charset="-120"/>
              </a:rPr>
              <a:t>CONCLUSÃO E</a:t>
            </a:r>
            <a:pPr algn="l" indent="0" marL="0">
              <a:lnSpc>
                <a:spcPts val="4000"/>
              </a:lnSpc>
              <a:buNone/>
            </a:pPr>
            <a:r>
              <a:rPr lang="en-US" sz="3294" b="1" dirty="0">
                <a:solidFill>
                  <a:srgbClr val="E8EDF2"/>
                </a:solidFill>
                <a:latin typeface="Montserrat" pitchFamily="34" charset="0"/>
                <a:ea typeface="Montserrat" pitchFamily="34" charset="-122"/>
                <a:cs typeface="Montserrat" pitchFamily="34" charset="-120"/>
              </a:rPr>
              <a:t>
</a:t>
            </a:r>
            <a:pPr algn="l" indent="0" marL="0">
              <a:lnSpc>
                <a:spcPts val="4000"/>
              </a:lnSpc>
              <a:buNone/>
            </a:pPr>
            <a:r>
              <a:rPr lang="en-US" sz="3294" b="1" dirty="0">
                <a:solidFill>
                  <a:srgbClr val="E8EDF2"/>
                </a:solidFill>
                <a:latin typeface="Montserrat" pitchFamily="34" charset="0"/>
                <a:ea typeface="Montserrat" pitchFamily="34" charset="-122"/>
                <a:cs typeface="Montserrat" pitchFamily="34" charset="-120"/>
              </a:rPr>
              <a:t>TRABALHOS FUTUROS</a:t>
            </a:r>
            <a:endParaRPr lang="en-US" sz="3294" dirty="0"/>
          </a:p>
        </p:txBody>
      </p:sp>
      <p:sp>
        <p:nvSpPr>
          <p:cNvPr id="6" name="Text 2"/>
          <p:cNvSpPr/>
          <p:nvPr/>
        </p:nvSpPr>
        <p:spPr>
          <a:xfrm>
            <a:off x="857250" y="3714024"/>
            <a:ext cx="8286750" cy="207169"/>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E8EDF2">
                    <a:alpha val="70000"/>
                  </a:srgbClr>
                </a:solidFill>
                <a:latin typeface="Inter" pitchFamily="34" charset="0"/>
                <a:ea typeface="Inter" pitchFamily="34" charset="-122"/>
                <a:cs typeface="Inter" pitchFamily="34" charset="-120"/>
              </a:rPr>
              <a:t>Síntese dos resultados e próximos passos</a:t>
            </a:r>
            <a:endParaRPr lang="en-US" sz="1269"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SÍNTESE DAS CONTRIBUIÇÕES</a:t>
            </a:r>
            <a:endParaRPr lang="en-US" sz="1808" dirty="0"/>
          </a:p>
        </p:txBody>
      </p:sp>
      <p:sp>
        <p:nvSpPr>
          <p:cNvPr id="7" name="Shape 3"/>
          <p:cNvSpPr/>
          <p:nvPr/>
        </p:nvSpPr>
        <p:spPr>
          <a:xfrm>
            <a:off x="428625" y="1241227"/>
            <a:ext cx="2619356" cy="3214688"/>
          </a:xfrm>
          <a:prstGeom prst="rect">
            <a:avLst/>
          </a:prstGeom>
          <a:solidFill>
            <a:srgbClr val="001D33">
              <a:alpha val="30000"/>
            </a:srgbClr>
          </a:solidFill>
          <a:ln w="9144">
            <a:solidFill>
              <a:srgbClr val="F2C94C">
                <a:alpha val="20000"/>
              </a:srgbClr>
            </a:solidFill>
            <a:prstDash val="solid"/>
          </a:ln>
        </p:spPr>
      </p:sp>
      <p:sp>
        <p:nvSpPr>
          <p:cNvPr id="8" name="Shape 4"/>
          <p:cNvSpPr/>
          <p:nvPr/>
        </p:nvSpPr>
        <p:spPr>
          <a:xfrm>
            <a:off x="428625" y="1241227"/>
            <a:ext cx="2605041" cy="28575"/>
          </a:xfrm>
          <a:prstGeom prst="rect">
            <a:avLst/>
          </a:prstGeom>
          <a:solidFill>
            <a:srgbClr val="F2C94C"/>
          </a:solidFill>
          <a:ln/>
        </p:spPr>
      </p:sp>
      <p:sp>
        <p:nvSpPr>
          <p:cNvPr id="9" name="Shape 5"/>
          <p:cNvSpPr/>
          <p:nvPr/>
        </p:nvSpPr>
        <p:spPr>
          <a:xfrm>
            <a:off x="1452553" y="1455539"/>
            <a:ext cx="571500" cy="571500"/>
          </a:xfrm>
          <a:prstGeom prst="ellipse">
            <a:avLst/>
          </a:prstGeom>
          <a:solidFill>
            <a:srgbClr val="F2C94C">
              <a:alpha val="10000"/>
            </a:srgbClr>
          </a:solidFill>
          <a:ln w="18288">
            <a:solidFill>
              <a:srgbClr val="F2C94C"/>
            </a:solidFill>
            <a:prstDash val="solid"/>
          </a:ln>
        </p:spPr>
      </p:sp>
      <p:pic>
        <p:nvPicPr>
          <p:cNvPr id="10" name="Image 1" descr="preencoded.png">    </p:cNvPr>
          <p:cNvPicPr>
            <a:picLocks noChangeAspect="1"/>
          </p:cNvPicPr>
          <p:nvPr/>
        </p:nvPicPr>
        <p:blipFill>
          <a:blip r:embed="rId2"/>
          <a:stretch>
            <a:fillRect/>
          </a:stretch>
        </p:blipFill>
        <p:spPr>
          <a:xfrm>
            <a:off x="1577569" y="1612702"/>
            <a:ext cx="321469" cy="257175"/>
          </a:xfrm>
          <a:prstGeom prst="rect">
            <a:avLst/>
          </a:prstGeom>
        </p:spPr>
      </p:pic>
      <p:sp>
        <p:nvSpPr>
          <p:cNvPr id="11" name="Text 6"/>
          <p:cNvSpPr/>
          <p:nvPr/>
        </p:nvSpPr>
        <p:spPr>
          <a:xfrm>
            <a:off x="777469" y="2205633"/>
            <a:ext cx="1921669"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Modelo Híbrido Avançado</a:t>
            </a:r>
            <a:endParaRPr lang="en-US" sz="987" dirty="0"/>
          </a:p>
        </p:txBody>
      </p:sp>
      <p:sp>
        <p:nvSpPr>
          <p:cNvPr id="12" name="Text 7"/>
          <p:cNvSpPr/>
          <p:nvPr/>
        </p:nvSpPr>
        <p:spPr>
          <a:xfrm>
            <a:off x="571500" y="2669977"/>
            <a:ext cx="2333606" cy="685800"/>
          </a:xfrm>
          <a:prstGeom prst="rect">
            <a:avLst/>
          </a:prstGeom>
          <a:noFill/>
          <a:ln/>
        </p:spPr>
        <p:txBody>
          <a:bodyPr wrap="square" lIns="0" tIns="0" rIns="0" bIns="0" rtlCol="0" anchor="t">
            <a:spAutoFit/>
          </a:bodyPr>
          <a:lstStyle/>
          <a:p>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Desenvolvimento da arquitetura </a:t>
            </a:r>
            <a:pPr algn="ctr" indent="0" marL="0">
              <a:lnSpc>
                <a:spcPts val="1400"/>
              </a:lnSpc>
              <a:buNone/>
            </a:pPr>
            <a:r>
              <a:rPr lang="en-US" sz="734" b="1" dirty="0">
                <a:solidFill>
                  <a:srgbClr val="E8EDF2">
                    <a:alpha val="80000"/>
                  </a:srgbClr>
                </a:solidFill>
                <a:latin typeface="Inter" pitchFamily="34" charset="0"/>
                <a:ea typeface="Inter" pitchFamily="34" charset="-122"/>
                <a:cs typeface="Inter" pitchFamily="34" charset="-120"/>
              </a:rPr>
              <a:t>CEEMDAN-EWT-TFT Aggregator</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 combinando </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decomposição de sinal e atenção temporal </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para previsões robustas.</a:t>
            </a:r>
            <a:endParaRPr lang="en-US" sz="780" dirty="0"/>
          </a:p>
        </p:txBody>
      </p:sp>
      <p:sp>
        <p:nvSpPr>
          <p:cNvPr id="13" name="Shape 8"/>
          <p:cNvSpPr/>
          <p:nvPr/>
        </p:nvSpPr>
        <p:spPr>
          <a:xfrm>
            <a:off x="1297177" y="3995142"/>
            <a:ext cx="882253" cy="246459"/>
          </a:xfrm>
          <a:prstGeom prst="rect">
            <a:avLst/>
          </a:prstGeom>
          <a:solidFill>
            <a:srgbClr val="F2C94C">
              <a:alpha val="10000"/>
            </a:srgbClr>
          </a:solidFill>
          <a:ln/>
        </p:spPr>
      </p:sp>
      <p:sp>
        <p:nvSpPr>
          <p:cNvPr id="14" name="Text 9"/>
          <p:cNvSpPr/>
          <p:nvPr/>
        </p:nvSpPr>
        <p:spPr>
          <a:xfrm>
            <a:off x="1297177" y="3995142"/>
            <a:ext cx="882253" cy="246459"/>
          </a:xfrm>
          <a:prstGeom prst="rect">
            <a:avLst/>
          </a:prstGeom>
          <a:noFill/>
          <a:ln/>
        </p:spPr>
        <p:txBody>
          <a:bodyPr wrap="square" lIns="127508" tIns="68072" rIns="127508" bIns="68072" rtlCol="0" anchor="t">
            <a:spAutoFit/>
          </a:bodyPr>
          <a:lstStyle/>
          <a:p>
            <a:pPr algn="ctr" indent="0" marL="0">
              <a:lnSpc>
                <a:spcPts val="900"/>
              </a:lnSpc>
              <a:buNone/>
            </a:pPr>
            <a:r>
              <a:rPr lang="en-US" sz="683" b="1" dirty="0">
                <a:solidFill>
                  <a:srgbClr val="F2C94C"/>
                </a:solidFill>
                <a:latin typeface="JetBrains Mono" pitchFamily="34" charset="0"/>
                <a:ea typeface="JetBrains Mono" pitchFamily="34" charset="-122"/>
                <a:cs typeface="JetBrains Mono" pitchFamily="34" charset="-120"/>
              </a:rPr>
              <a:t>MAPE: 1.79%</a:t>
            </a:r>
            <a:endParaRPr lang="en-US" sz="683" dirty="0"/>
          </a:p>
        </p:txBody>
      </p:sp>
      <p:sp>
        <p:nvSpPr>
          <p:cNvPr id="15" name="Shape 10"/>
          <p:cNvSpPr/>
          <p:nvPr/>
        </p:nvSpPr>
        <p:spPr>
          <a:xfrm>
            <a:off x="3262294" y="1241227"/>
            <a:ext cx="2619384" cy="3214688"/>
          </a:xfrm>
          <a:prstGeom prst="rect">
            <a:avLst/>
          </a:prstGeom>
          <a:solidFill>
            <a:srgbClr val="001D33">
              <a:alpha val="30000"/>
            </a:srgbClr>
          </a:solidFill>
          <a:ln w="9144">
            <a:solidFill>
              <a:srgbClr val="F2C94C">
                <a:alpha val="20000"/>
              </a:srgbClr>
            </a:solidFill>
            <a:prstDash val="solid"/>
          </a:ln>
        </p:spPr>
      </p:sp>
      <p:sp>
        <p:nvSpPr>
          <p:cNvPr id="16" name="Shape 11"/>
          <p:cNvSpPr/>
          <p:nvPr/>
        </p:nvSpPr>
        <p:spPr>
          <a:xfrm>
            <a:off x="3262294" y="1241227"/>
            <a:ext cx="2605097" cy="28575"/>
          </a:xfrm>
          <a:prstGeom prst="rect">
            <a:avLst/>
          </a:prstGeom>
          <a:solidFill>
            <a:srgbClr val="F2C94C"/>
          </a:solidFill>
          <a:ln/>
        </p:spPr>
      </p:sp>
      <p:sp>
        <p:nvSpPr>
          <p:cNvPr id="17" name="Shape 12"/>
          <p:cNvSpPr/>
          <p:nvPr/>
        </p:nvSpPr>
        <p:spPr>
          <a:xfrm>
            <a:off x="4286222" y="1455539"/>
            <a:ext cx="571500" cy="571500"/>
          </a:xfrm>
          <a:prstGeom prst="ellipse">
            <a:avLst/>
          </a:prstGeom>
          <a:solidFill>
            <a:srgbClr val="F2C94C">
              <a:alpha val="10000"/>
            </a:srgbClr>
          </a:solidFill>
          <a:ln w="18288">
            <a:solidFill>
              <a:srgbClr val="F2C94C"/>
            </a:solidFill>
            <a:prstDash val="solid"/>
          </a:ln>
        </p:spPr>
      </p:sp>
      <p:pic>
        <p:nvPicPr>
          <p:cNvPr id="18" name="Image 2" descr="preencoded.png">    </p:cNvPr>
          <p:cNvPicPr>
            <a:picLocks noChangeAspect="1"/>
          </p:cNvPicPr>
          <p:nvPr/>
        </p:nvPicPr>
        <p:blipFill>
          <a:blip r:embed="rId3"/>
          <a:stretch>
            <a:fillRect/>
          </a:stretch>
        </p:blipFill>
        <p:spPr>
          <a:xfrm>
            <a:off x="4427311" y="1612702"/>
            <a:ext cx="289322" cy="257175"/>
          </a:xfrm>
          <a:prstGeom prst="rect">
            <a:avLst/>
          </a:prstGeom>
        </p:spPr>
      </p:pic>
      <p:sp>
        <p:nvSpPr>
          <p:cNvPr id="19" name="Text 13"/>
          <p:cNvSpPr/>
          <p:nvPr/>
        </p:nvSpPr>
        <p:spPr>
          <a:xfrm>
            <a:off x="3673646" y="2205633"/>
            <a:ext cx="1796653"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Suporte à Decisão (DSS)</a:t>
            </a:r>
            <a:endParaRPr lang="en-US" sz="987" dirty="0"/>
          </a:p>
        </p:txBody>
      </p:sp>
      <p:sp>
        <p:nvSpPr>
          <p:cNvPr id="20" name="Text 14"/>
          <p:cNvSpPr/>
          <p:nvPr/>
        </p:nvSpPr>
        <p:spPr>
          <a:xfrm>
            <a:off x="3405169" y="2669977"/>
            <a:ext cx="2333634" cy="685800"/>
          </a:xfrm>
          <a:prstGeom prst="rect">
            <a:avLst/>
          </a:prstGeom>
          <a:noFill/>
          <a:ln/>
        </p:spPr>
        <p:txBody>
          <a:bodyPr wrap="square" lIns="0" tIns="0" rIns="0" bIns="0" rtlCol="0" anchor="t">
            <a:spAutoFit/>
          </a:bodyPr>
          <a:lstStyle/>
          <a:p>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Criação de um Dashboard integrado com o </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indicador </a:t>
            </a:r>
            <a:pPr algn="ctr" indent="0" marL="0">
              <a:lnSpc>
                <a:spcPts val="1400"/>
              </a:lnSpc>
              <a:buNone/>
            </a:pPr>
            <a:r>
              <a:rPr lang="en-US" sz="734" b="1" dirty="0">
                <a:solidFill>
                  <a:srgbClr val="E8EDF2">
                    <a:alpha val="80000"/>
                  </a:srgbClr>
                </a:solidFill>
                <a:latin typeface="Inter" pitchFamily="34" charset="0"/>
                <a:ea typeface="Inter" pitchFamily="34" charset="-122"/>
                <a:cs typeface="Inter" pitchFamily="34" charset="-120"/>
              </a:rPr>
              <a:t>ORI (Operational Risk Index)</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 e </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análise econômica em tempo real para </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operadores.</a:t>
            </a:r>
            <a:endParaRPr lang="en-US" sz="780" dirty="0"/>
          </a:p>
        </p:txBody>
      </p:sp>
      <p:sp>
        <p:nvSpPr>
          <p:cNvPr id="21" name="Shape 15"/>
          <p:cNvSpPr/>
          <p:nvPr/>
        </p:nvSpPr>
        <p:spPr>
          <a:xfrm>
            <a:off x="3857597" y="3995142"/>
            <a:ext cx="1428750" cy="246459"/>
          </a:xfrm>
          <a:prstGeom prst="rect">
            <a:avLst/>
          </a:prstGeom>
          <a:solidFill>
            <a:srgbClr val="F2C94C">
              <a:alpha val="10000"/>
            </a:srgbClr>
          </a:solidFill>
          <a:ln/>
        </p:spPr>
      </p:sp>
      <p:sp>
        <p:nvSpPr>
          <p:cNvPr id="22" name="Text 16"/>
          <p:cNvSpPr/>
          <p:nvPr/>
        </p:nvSpPr>
        <p:spPr>
          <a:xfrm>
            <a:off x="3857597" y="3995142"/>
            <a:ext cx="1428750" cy="246459"/>
          </a:xfrm>
          <a:prstGeom prst="rect">
            <a:avLst/>
          </a:prstGeom>
          <a:noFill/>
          <a:ln/>
        </p:spPr>
        <p:txBody>
          <a:bodyPr wrap="square" lIns="127508" tIns="68072" rIns="127508" bIns="68072" rtlCol="0" anchor="t">
            <a:spAutoFit/>
          </a:bodyPr>
          <a:lstStyle/>
          <a:p>
            <a:pPr algn="ctr" indent="0" marL="0">
              <a:lnSpc>
                <a:spcPts val="900"/>
              </a:lnSpc>
              <a:buNone/>
            </a:pPr>
            <a:r>
              <a:rPr lang="en-US" sz="683" b="1" dirty="0">
                <a:solidFill>
                  <a:srgbClr val="F2C94C"/>
                </a:solidFill>
                <a:latin typeface="JetBrains Mono" pitchFamily="34" charset="0"/>
                <a:ea typeface="JetBrains Mono" pitchFamily="34" charset="-122"/>
                <a:cs typeface="JetBrains Mono" pitchFamily="34" charset="-120"/>
              </a:rPr>
              <a:t>Economia: ~$4.4M/ano</a:t>
            </a:r>
            <a:endParaRPr lang="en-US" sz="683" dirty="0"/>
          </a:p>
        </p:txBody>
      </p:sp>
      <p:sp>
        <p:nvSpPr>
          <p:cNvPr id="23" name="Shape 17"/>
          <p:cNvSpPr/>
          <p:nvPr/>
        </p:nvSpPr>
        <p:spPr>
          <a:xfrm>
            <a:off x="6095991" y="1241227"/>
            <a:ext cx="2619356" cy="3214688"/>
          </a:xfrm>
          <a:prstGeom prst="rect">
            <a:avLst/>
          </a:prstGeom>
          <a:solidFill>
            <a:srgbClr val="001D33">
              <a:alpha val="30000"/>
            </a:srgbClr>
          </a:solidFill>
          <a:ln w="9144">
            <a:solidFill>
              <a:srgbClr val="F2C94C">
                <a:alpha val="20000"/>
              </a:srgbClr>
            </a:solidFill>
            <a:prstDash val="solid"/>
          </a:ln>
        </p:spPr>
      </p:sp>
      <p:sp>
        <p:nvSpPr>
          <p:cNvPr id="24" name="Shape 18"/>
          <p:cNvSpPr/>
          <p:nvPr/>
        </p:nvSpPr>
        <p:spPr>
          <a:xfrm>
            <a:off x="6095991" y="1241227"/>
            <a:ext cx="2605041" cy="28575"/>
          </a:xfrm>
          <a:prstGeom prst="rect">
            <a:avLst/>
          </a:prstGeom>
          <a:solidFill>
            <a:srgbClr val="F2C94C"/>
          </a:solidFill>
          <a:ln/>
        </p:spPr>
      </p:sp>
      <p:sp>
        <p:nvSpPr>
          <p:cNvPr id="25" name="Shape 19"/>
          <p:cNvSpPr/>
          <p:nvPr/>
        </p:nvSpPr>
        <p:spPr>
          <a:xfrm>
            <a:off x="7119919" y="1455539"/>
            <a:ext cx="571500" cy="571500"/>
          </a:xfrm>
          <a:prstGeom prst="ellipse">
            <a:avLst/>
          </a:prstGeom>
          <a:solidFill>
            <a:srgbClr val="F2C94C">
              <a:alpha val="10000"/>
            </a:srgbClr>
          </a:solidFill>
          <a:ln w="18288">
            <a:solidFill>
              <a:srgbClr val="F2C94C"/>
            </a:solidFill>
            <a:prstDash val="solid"/>
          </a:ln>
        </p:spPr>
      </p:sp>
      <p:pic>
        <p:nvPicPr>
          <p:cNvPr id="26" name="Image 3" descr="preencoded.png">    </p:cNvPr>
          <p:cNvPicPr>
            <a:picLocks noChangeAspect="1"/>
          </p:cNvPicPr>
          <p:nvPr/>
        </p:nvPicPr>
        <p:blipFill>
          <a:blip r:embed="rId4"/>
          <a:stretch>
            <a:fillRect/>
          </a:stretch>
        </p:blipFill>
        <p:spPr>
          <a:xfrm>
            <a:off x="7244935" y="1612702"/>
            <a:ext cx="321469" cy="257175"/>
          </a:xfrm>
          <a:prstGeom prst="rect">
            <a:avLst/>
          </a:prstGeom>
        </p:spPr>
      </p:pic>
      <p:sp>
        <p:nvSpPr>
          <p:cNvPr id="27" name="Text 20"/>
          <p:cNvSpPr/>
          <p:nvPr/>
        </p:nvSpPr>
        <p:spPr>
          <a:xfrm>
            <a:off x="6785949" y="2205633"/>
            <a:ext cx="1239441"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AI Copilot &amp; RAG</a:t>
            </a:r>
            <a:endParaRPr lang="en-US" sz="987" dirty="0"/>
          </a:p>
        </p:txBody>
      </p:sp>
      <p:sp>
        <p:nvSpPr>
          <p:cNvPr id="28" name="Text 21"/>
          <p:cNvSpPr/>
          <p:nvPr/>
        </p:nvSpPr>
        <p:spPr>
          <a:xfrm>
            <a:off x="6238866" y="2669977"/>
            <a:ext cx="2333606" cy="685800"/>
          </a:xfrm>
          <a:prstGeom prst="rect">
            <a:avLst/>
          </a:prstGeom>
          <a:noFill/>
          <a:ln/>
        </p:spPr>
        <p:txBody>
          <a:bodyPr wrap="square" lIns="0" tIns="0" rIns="0" bIns="0" rtlCol="0" anchor="t">
            <a:spAutoFit/>
          </a:bodyPr>
          <a:lstStyle/>
          <a:p>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Implementação de um assistente inteligente </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com </a:t>
            </a:r>
            <a:pPr algn="ctr" indent="0" marL="0">
              <a:lnSpc>
                <a:spcPts val="1400"/>
              </a:lnSpc>
              <a:buNone/>
            </a:pPr>
            <a:r>
              <a:rPr lang="en-US" sz="734" b="1" dirty="0">
                <a:solidFill>
                  <a:srgbClr val="E8EDF2">
                    <a:alpha val="80000"/>
                  </a:srgbClr>
                </a:solidFill>
                <a:latin typeface="Inter" pitchFamily="34" charset="0"/>
                <a:ea typeface="Inter" pitchFamily="34" charset="-122"/>
                <a:cs typeface="Inter" pitchFamily="34" charset="-120"/>
              </a:rPr>
              <a:t>Dual-Level RAG</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 permitindo consultas </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em linguagem natural sobre manuais e dados </a:t>
            </a:r>
            <a:pPr algn="ctr" indent="0" marL="0">
              <a:lnSpc>
                <a:spcPts val="1400"/>
              </a:lnSpc>
              <a:buNone/>
            </a:pPr>
            <a:r>
              <a:rPr lang="en-US" sz="780" dirty="0">
                <a:solidFill>
                  <a:srgbClr val="E8EDF2">
                    <a:alpha val="80000"/>
                  </a:srgbClr>
                </a:solidFill>
                <a:latin typeface="Inter" pitchFamily="34" charset="0"/>
                <a:ea typeface="Inter" pitchFamily="34" charset="-122"/>
                <a:cs typeface="Inter" pitchFamily="34" charset="-120"/>
              </a:rPr>
              <a:t>operacionais.</a:t>
            </a:r>
            <a:endParaRPr lang="en-US" sz="780" dirty="0"/>
          </a:p>
        </p:txBody>
      </p:sp>
      <p:sp>
        <p:nvSpPr>
          <p:cNvPr id="29" name="Shape 22"/>
          <p:cNvSpPr/>
          <p:nvPr/>
        </p:nvSpPr>
        <p:spPr>
          <a:xfrm>
            <a:off x="6569850" y="3995142"/>
            <a:ext cx="1671638" cy="246459"/>
          </a:xfrm>
          <a:prstGeom prst="rect">
            <a:avLst/>
          </a:prstGeom>
          <a:solidFill>
            <a:srgbClr val="F2C94C">
              <a:alpha val="10000"/>
            </a:srgbClr>
          </a:solidFill>
          <a:ln/>
        </p:spPr>
      </p:sp>
      <p:sp>
        <p:nvSpPr>
          <p:cNvPr id="30" name="Text 23"/>
          <p:cNvSpPr/>
          <p:nvPr/>
        </p:nvSpPr>
        <p:spPr>
          <a:xfrm>
            <a:off x="6569850" y="3995142"/>
            <a:ext cx="1671638" cy="246459"/>
          </a:xfrm>
          <a:prstGeom prst="rect">
            <a:avLst/>
          </a:prstGeom>
          <a:noFill/>
          <a:ln/>
        </p:spPr>
        <p:txBody>
          <a:bodyPr wrap="square" lIns="127508" tIns="68072" rIns="127508" bIns="68072" rtlCol="0" anchor="t">
            <a:spAutoFit/>
          </a:bodyPr>
          <a:lstStyle/>
          <a:p>
            <a:pPr algn="ctr" indent="0" marL="0">
              <a:lnSpc>
                <a:spcPts val="900"/>
              </a:lnSpc>
              <a:buNone/>
            </a:pPr>
            <a:r>
              <a:rPr lang="en-US" sz="683" b="1" dirty="0">
                <a:solidFill>
                  <a:srgbClr val="F2C94C"/>
                </a:solidFill>
                <a:latin typeface="JetBrains Mono" pitchFamily="34" charset="0"/>
                <a:ea typeface="JetBrains Mono" pitchFamily="34" charset="-122"/>
                <a:cs typeface="JetBrains Mono" pitchFamily="34" charset="-120"/>
              </a:rPr>
              <a:t>Interpretabilidade Total</a:t>
            </a:r>
            <a:endParaRPr lang="en-US" sz="683"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PRINCIPAIS CONCLUSÕES</a:t>
            </a:r>
            <a:endParaRPr lang="en-US" sz="1808" dirty="0"/>
          </a:p>
        </p:txBody>
      </p:sp>
      <p:sp>
        <p:nvSpPr>
          <p:cNvPr id="7" name="Shape 3"/>
          <p:cNvSpPr/>
          <p:nvPr/>
        </p:nvSpPr>
        <p:spPr>
          <a:xfrm>
            <a:off x="1428750" y="1241227"/>
            <a:ext cx="571500" cy="571500"/>
          </a:xfrm>
          <a:prstGeom prst="ellipse">
            <a:avLst/>
          </a:prstGeom>
          <a:solidFill>
            <a:srgbClr val="F2C94C">
              <a:alpha val="10000"/>
            </a:srgbClr>
          </a:solidFill>
          <a:ln w="18288">
            <a:solidFill>
              <a:srgbClr val="F2C94C"/>
            </a:solidFill>
            <a:prstDash val="solid"/>
          </a:ln>
        </p:spPr>
      </p:sp>
      <p:pic>
        <p:nvPicPr>
          <p:cNvPr id="8" name="Image 1" descr="preencoded.png">    </p:cNvPr>
          <p:cNvPicPr>
            <a:picLocks noChangeAspect="1"/>
          </p:cNvPicPr>
          <p:nvPr/>
        </p:nvPicPr>
        <p:blipFill>
          <a:blip r:embed="rId2"/>
          <a:stretch>
            <a:fillRect/>
          </a:stretch>
        </p:blipFill>
        <p:spPr>
          <a:xfrm>
            <a:off x="1600200" y="1412677"/>
            <a:ext cx="228600" cy="228600"/>
          </a:xfrm>
          <a:prstGeom prst="rect">
            <a:avLst/>
          </a:prstGeom>
        </p:spPr>
      </p:pic>
      <p:sp>
        <p:nvSpPr>
          <p:cNvPr id="9" name="Text 4"/>
          <p:cNvSpPr/>
          <p:nvPr/>
        </p:nvSpPr>
        <p:spPr>
          <a:xfrm>
            <a:off x="834033" y="2027039"/>
            <a:ext cx="1760934"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Decomposição é Crítica</a:t>
            </a:r>
            <a:endParaRPr lang="en-US" sz="987" dirty="0"/>
          </a:p>
        </p:txBody>
      </p:sp>
      <p:sp>
        <p:nvSpPr>
          <p:cNvPr id="10" name="Text 5"/>
          <p:cNvSpPr/>
          <p:nvPr/>
        </p:nvSpPr>
        <p:spPr>
          <a:xfrm>
            <a:off x="1312664" y="2527102"/>
            <a:ext cx="803672" cy="342900"/>
          </a:xfrm>
          <a:prstGeom prst="rect">
            <a:avLst/>
          </a:prstGeom>
          <a:noFill/>
          <a:ln/>
        </p:spPr>
        <p:txBody>
          <a:bodyPr wrap="none" lIns="0" tIns="0" rIns="0" bIns="0" rtlCol="0" anchor="t">
            <a:spAutoFit/>
          </a:bodyPr>
          <a:lstStyle/>
          <a:p>
            <a:pPr algn="ctr" indent="0" marL="0">
              <a:lnSpc>
                <a:spcPts val="2700"/>
              </a:lnSpc>
              <a:buNone/>
            </a:pPr>
            <a:r>
              <a:rPr lang="en-US" sz="2436" b="1" dirty="0">
                <a:solidFill>
                  <a:srgbClr val="F2C94C"/>
                </a:solidFill>
                <a:latin typeface="Montserrat" pitchFamily="34" charset="0"/>
                <a:ea typeface="Montserrat" pitchFamily="34" charset="-122"/>
                <a:cs typeface="Montserrat" pitchFamily="34" charset="-120"/>
              </a:rPr>
              <a:t>-61%</a:t>
            </a:r>
            <a:endParaRPr lang="en-US" sz="2436" dirty="0"/>
          </a:p>
        </p:txBody>
      </p:sp>
      <p:sp>
        <p:nvSpPr>
          <p:cNvPr id="11" name="Text 6"/>
          <p:cNvSpPr/>
          <p:nvPr/>
        </p:nvSpPr>
        <p:spPr>
          <a:xfrm>
            <a:off x="1243905" y="2977158"/>
            <a:ext cx="941189" cy="121444"/>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E8EDF2">
                    <a:alpha val="60000"/>
                  </a:srgbClr>
                </a:solidFill>
                <a:latin typeface="Inter" pitchFamily="34" charset="0"/>
                <a:ea typeface="Inter" pitchFamily="34" charset="-122"/>
                <a:cs typeface="Inter" pitchFamily="34" charset="-120"/>
              </a:rPr>
              <a:t>REDUÇÃO DE ERRO</a:t>
            </a:r>
            <a:endParaRPr lang="en-US" sz="683" dirty="0"/>
          </a:p>
        </p:txBody>
      </p:sp>
      <p:sp>
        <p:nvSpPr>
          <p:cNvPr id="12" name="Text 7"/>
          <p:cNvSpPr/>
          <p:nvPr/>
        </p:nvSpPr>
        <p:spPr>
          <a:xfrm>
            <a:off x="428625" y="3241477"/>
            <a:ext cx="2571750" cy="731453"/>
          </a:xfrm>
          <a:prstGeom prst="rect">
            <a:avLst/>
          </a:prstGeom>
          <a:noFill/>
          <a:ln/>
        </p:spPr>
        <p:txBody>
          <a:bodyPr wrap="square" lIns="85090" tIns="0" rIns="85090" bIns="0" rtlCol="0" anchor="t">
            <a:spAutoFit/>
          </a:bodyPr>
          <a:lstStyle/>
          <a:p>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A estratégia híbrida (CEEMDAN-EWT) provou ser o fator isolado mais impactante, transformando dados ruidosos em componentes previsíveis.</a:t>
            </a:r>
            <a:endParaRPr lang="en-US" sz="834" dirty="0"/>
          </a:p>
        </p:txBody>
      </p:sp>
      <p:sp>
        <p:nvSpPr>
          <p:cNvPr id="13" name="Shape 8"/>
          <p:cNvSpPr/>
          <p:nvPr/>
        </p:nvSpPr>
        <p:spPr>
          <a:xfrm>
            <a:off x="3136106" y="1384102"/>
            <a:ext cx="7144" cy="3143250"/>
          </a:xfrm>
          <a:prstGeom prst="rect">
            <a:avLst/>
          </a:prstGeom>
          <a:solidFill>
            <a:srgbClr val="F2C94C">
              <a:alpha val="30000"/>
            </a:srgbClr>
          </a:solidFill>
          <a:ln/>
        </p:spPr>
      </p:sp>
      <p:sp>
        <p:nvSpPr>
          <p:cNvPr id="14" name="Shape 9"/>
          <p:cNvSpPr/>
          <p:nvPr/>
        </p:nvSpPr>
        <p:spPr>
          <a:xfrm>
            <a:off x="4286250" y="1241227"/>
            <a:ext cx="571500" cy="571500"/>
          </a:xfrm>
          <a:prstGeom prst="ellipse">
            <a:avLst/>
          </a:prstGeom>
          <a:solidFill>
            <a:srgbClr val="F2C94C">
              <a:alpha val="10000"/>
            </a:srgbClr>
          </a:solidFill>
          <a:ln w="18288">
            <a:solidFill>
              <a:srgbClr val="F2C94C"/>
            </a:solidFill>
            <a:prstDash val="solid"/>
          </a:ln>
        </p:spPr>
      </p:sp>
      <p:pic>
        <p:nvPicPr>
          <p:cNvPr id="15" name="Image 2" descr="preencoded.png">    </p:cNvPr>
          <p:cNvPicPr>
            <a:picLocks noChangeAspect="1"/>
          </p:cNvPicPr>
          <p:nvPr/>
        </p:nvPicPr>
        <p:blipFill>
          <a:blip r:embed="rId3"/>
          <a:stretch>
            <a:fillRect/>
          </a:stretch>
        </p:blipFill>
        <p:spPr>
          <a:xfrm>
            <a:off x="4443413" y="1412677"/>
            <a:ext cx="257175" cy="228600"/>
          </a:xfrm>
          <a:prstGeom prst="rect">
            <a:avLst/>
          </a:prstGeom>
        </p:spPr>
      </p:pic>
      <p:sp>
        <p:nvSpPr>
          <p:cNvPr id="16" name="Text 10"/>
          <p:cNvSpPr/>
          <p:nvPr/>
        </p:nvSpPr>
        <p:spPr>
          <a:xfrm>
            <a:off x="3988891" y="2027039"/>
            <a:ext cx="1166217"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TFT Aggregator</a:t>
            </a:r>
            <a:endParaRPr lang="en-US" sz="987" dirty="0"/>
          </a:p>
        </p:txBody>
      </p:sp>
      <p:sp>
        <p:nvSpPr>
          <p:cNvPr id="17" name="Text 11"/>
          <p:cNvSpPr/>
          <p:nvPr/>
        </p:nvSpPr>
        <p:spPr>
          <a:xfrm>
            <a:off x="3834408" y="2527102"/>
            <a:ext cx="1475184" cy="342900"/>
          </a:xfrm>
          <a:prstGeom prst="rect">
            <a:avLst/>
          </a:prstGeom>
          <a:noFill/>
          <a:ln/>
        </p:spPr>
        <p:txBody>
          <a:bodyPr wrap="none" lIns="0" tIns="0" rIns="0" bIns="0" rtlCol="0" anchor="t">
            <a:spAutoFit/>
          </a:bodyPr>
          <a:lstStyle/>
          <a:p>
            <a:pPr algn="ctr" indent="0" marL="0">
              <a:lnSpc>
                <a:spcPts val="2700"/>
              </a:lnSpc>
              <a:buNone/>
            </a:pPr>
            <a:r>
              <a:rPr lang="en-US" sz="2436" b="1" dirty="0">
                <a:solidFill>
                  <a:srgbClr val="F2C94C"/>
                </a:solidFill>
                <a:latin typeface="Montserrat" pitchFamily="34" charset="0"/>
                <a:ea typeface="Montserrat" pitchFamily="34" charset="-122"/>
                <a:cs typeface="Montserrat" pitchFamily="34" charset="-120"/>
              </a:rPr>
              <a:t>P10-P90</a:t>
            </a:r>
            <a:endParaRPr lang="en-US" sz="2436" dirty="0"/>
          </a:p>
        </p:txBody>
      </p:sp>
      <p:sp>
        <p:nvSpPr>
          <p:cNvPr id="18" name="Text 12"/>
          <p:cNvSpPr/>
          <p:nvPr/>
        </p:nvSpPr>
        <p:spPr>
          <a:xfrm>
            <a:off x="3861197" y="2977158"/>
            <a:ext cx="1421606" cy="121444"/>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E8EDF2">
                    <a:alpha val="60000"/>
                  </a:srgbClr>
                </a:solidFill>
                <a:latin typeface="Inter" pitchFamily="34" charset="0"/>
                <a:ea typeface="Inter" pitchFamily="34" charset="-122"/>
                <a:cs typeface="Inter" pitchFamily="34" charset="-120"/>
              </a:rPr>
              <a:t>INTERVALOS DE CONFIANÇA</a:t>
            </a:r>
            <a:endParaRPr lang="en-US" sz="683" dirty="0"/>
          </a:p>
        </p:txBody>
      </p:sp>
      <p:sp>
        <p:nvSpPr>
          <p:cNvPr id="19" name="Text 13"/>
          <p:cNvSpPr/>
          <p:nvPr/>
        </p:nvSpPr>
        <p:spPr>
          <a:xfrm>
            <a:off x="3286125" y="3241477"/>
            <a:ext cx="2571750" cy="731453"/>
          </a:xfrm>
          <a:prstGeom prst="rect">
            <a:avLst/>
          </a:prstGeom>
          <a:noFill/>
          <a:ln/>
        </p:spPr>
        <p:txBody>
          <a:bodyPr wrap="square" lIns="85090" tIns="0" rIns="85090" bIns="0" rtlCol="0" anchor="t">
            <a:spAutoFit/>
          </a:bodyPr>
          <a:lstStyle/>
          <a:p>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Embora o LSTM seja ligeiramente mais </a:t>
            </a:r>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preciso na média, o TFT foi escolhido por </a:t>
            </a:r>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fornecer a </a:t>
            </a:r>
            <a:pPr algn="ctr"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incerteza quantificada</a:t>
            </a:r>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necessária para a gestão de risco.</a:t>
            </a:r>
            <a:endParaRPr lang="en-US" sz="834" dirty="0"/>
          </a:p>
        </p:txBody>
      </p:sp>
      <p:sp>
        <p:nvSpPr>
          <p:cNvPr id="20" name="Shape 14"/>
          <p:cNvSpPr/>
          <p:nvPr/>
        </p:nvSpPr>
        <p:spPr>
          <a:xfrm>
            <a:off x="5993606" y="1384102"/>
            <a:ext cx="7144" cy="3143250"/>
          </a:xfrm>
          <a:prstGeom prst="rect">
            <a:avLst/>
          </a:prstGeom>
          <a:solidFill>
            <a:srgbClr val="F2C94C">
              <a:alpha val="30000"/>
            </a:srgbClr>
          </a:solidFill>
          <a:ln/>
        </p:spPr>
      </p:sp>
      <p:sp>
        <p:nvSpPr>
          <p:cNvPr id="21" name="Shape 15"/>
          <p:cNvSpPr/>
          <p:nvPr/>
        </p:nvSpPr>
        <p:spPr>
          <a:xfrm>
            <a:off x="7143750" y="1241227"/>
            <a:ext cx="571500" cy="571500"/>
          </a:xfrm>
          <a:prstGeom prst="ellipse">
            <a:avLst/>
          </a:prstGeom>
          <a:solidFill>
            <a:srgbClr val="F2C94C">
              <a:alpha val="10000"/>
            </a:srgbClr>
          </a:solidFill>
          <a:ln w="18288">
            <a:solidFill>
              <a:srgbClr val="F2C94C"/>
            </a:solidFill>
            <a:prstDash val="solid"/>
          </a:ln>
        </p:spPr>
      </p:sp>
      <p:pic>
        <p:nvPicPr>
          <p:cNvPr id="22" name="Image 3" descr="preencoded.png">    </p:cNvPr>
          <p:cNvPicPr>
            <a:picLocks noChangeAspect="1"/>
          </p:cNvPicPr>
          <p:nvPr/>
        </p:nvPicPr>
        <p:blipFill>
          <a:blip r:embed="rId4"/>
          <a:stretch>
            <a:fillRect/>
          </a:stretch>
        </p:blipFill>
        <p:spPr>
          <a:xfrm>
            <a:off x="7315200" y="1412677"/>
            <a:ext cx="228600" cy="228600"/>
          </a:xfrm>
          <a:prstGeom prst="rect">
            <a:avLst/>
          </a:prstGeom>
        </p:spPr>
      </p:pic>
      <p:sp>
        <p:nvSpPr>
          <p:cNvPr id="23" name="Text 16"/>
          <p:cNvSpPr/>
          <p:nvPr/>
        </p:nvSpPr>
        <p:spPr>
          <a:xfrm>
            <a:off x="6704409" y="2027039"/>
            <a:ext cx="1450181" cy="357188"/>
          </a:xfrm>
          <a:prstGeom prst="rect">
            <a:avLst/>
          </a:prstGeom>
          <a:noFill/>
          <a:ln/>
        </p:spPr>
        <p:txBody>
          <a:bodyPr wrap="square" lIns="0" tIns="0" rIns="0" bIns="0" rtlCol="0" anchor="ctr">
            <a:spAutoFit/>
          </a:bodyPr>
          <a:lstStyle/>
          <a:p>
            <a:pPr algn="ctr" indent="0" marL="0">
              <a:lnSpc>
                <a:spcPts val="1400"/>
              </a:lnSpc>
              <a:buNone/>
            </a:pPr>
            <a:r>
              <a:rPr lang="en-US" sz="987" b="1" dirty="0">
                <a:solidFill>
                  <a:srgbClr val="E8EDF2"/>
                </a:solidFill>
                <a:latin typeface="Montserrat" pitchFamily="34" charset="0"/>
                <a:ea typeface="Montserrat" pitchFamily="34" charset="-122"/>
                <a:cs typeface="Montserrat" pitchFamily="34" charset="-120"/>
              </a:rPr>
              <a:t>Calibração de Risco</a:t>
            </a:r>
            <a:endParaRPr lang="en-US" sz="987" dirty="0"/>
          </a:p>
        </p:txBody>
      </p:sp>
      <p:sp>
        <p:nvSpPr>
          <p:cNvPr id="24" name="Text 17"/>
          <p:cNvSpPr/>
          <p:nvPr/>
        </p:nvSpPr>
        <p:spPr>
          <a:xfrm>
            <a:off x="7064276" y="2527102"/>
            <a:ext cx="730448" cy="342900"/>
          </a:xfrm>
          <a:prstGeom prst="rect">
            <a:avLst/>
          </a:prstGeom>
          <a:noFill/>
          <a:ln/>
        </p:spPr>
        <p:txBody>
          <a:bodyPr wrap="none" lIns="0" tIns="0" rIns="0" bIns="0" rtlCol="0" anchor="t">
            <a:spAutoFit/>
          </a:bodyPr>
          <a:lstStyle/>
          <a:p>
            <a:pPr algn="ctr" indent="0" marL="0">
              <a:lnSpc>
                <a:spcPts val="2700"/>
              </a:lnSpc>
              <a:buNone/>
            </a:pPr>
            <a:r>
              <a:rPr lang="en-US" sz="2436" b="1" dirty="0">
                <a:solidFill>
                  <a:srgbClr val="F2C94C"/>
                </a:solidFill>
                <a:latin typeface="Montserrat" pitchFamily="34" charset="0"/>
                <a:ea typeface="Montserrat" pitchFamily="34" charset="-122"/>
                <a:cs typeface="Montserrat" pitchFamily="34" charset="-120"/>
              </a:rPr>
              <a:t>93%</a:t>
            </a:r>
            <a:endParaRPr lang="en-US" sz="2436" dirty="0"/>
          </a:p>
        </p:txBody>
      </p:sp>
      <p:sp>
        <p:nvSpPr>
          <p:cNvPr id="25" name="Text 18"/>
          <p:cNvSpPr/>
          <p:nvPr/>
        </p:nvSpPr>
        <p:spPr>
          <a:xfrm>
            <a:off x="6924973" y="2977158"/>
            <a:ext cx="1009055" cy="121444"/>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E8EDF2">
                    <a:alpha val="60000"/>
                  </a:srgbClr>
                </a:solidFill>
                <a:latin typeface="Inter" pitchFamily="34" charset="0"/>
                <a:ea typeface="Inter" pitchFamily="34" charset="-122"/>
                <a:cs typeface="Inter" pitchFamily="34" charset="-120"/>
              </a:rPr>
              <a:t>MENOS BLACKOUTS</a:t>
            </a:r>
            <a:endParaRPr lang="en-US" sz="683" dirty="0"/>
          </a:p>
        </p:txBody>
      </p:sp>
      <p:sp>
        <p:nvSpPr>
          <p:cNvPr id="26" name="Text 19"/>
          <p:cNvSpPr/>
          <p:nvPr/>
        </p:nvSpPr>
        <p:spPr>
          <a:xfrm>
            <a:off x="6143625" y="3241477"/>
            <a:ext cx="2571750" cy="731453"/>
          </a:xfrm>
          <a:prstGeom prst="rect">
            <a:avLst/>
          </a:prstGeom>
          <a:noFill/>
          <a:ln/>
        </p:spPr>
        <p:txBody>
          <a:bodyPr wrap="square" lIns="85090" tIns="0" rIns="85090" bIns="0" rtlCol="0" anchor="t">
            <a:spAutoFit/>
          </a:bodyPr>
          <a:lstStyle/>
          <a:p>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A aplicação do </a:t>
            </a:r>
            <a:pPr algn="ctr" indent="0" marL="0">
              <a:lnSpc>
                <a:spcPts val="1400"/>
              </a:lnSpc>
              <a:buNone/>
            </a:pPr>
            <a:r>
              <a:rPr lang="en-US" sz="784" b="1" dirty="0">
                <a:solidFill>
                  <a:srgbClr val="E8EDF2">
                    <a:alpha val="90000"/>
                  </a:srgbClr>
                </a:solidFill>
                <a:latin typeface="Inter" pitchFamily="34" charset="0"/>
                <a:ea typeface="Inter" pitchFamily="34" charset="-122"/>
                <a:cs typeface="Inter" pitchFamily="34" charset="-120"/>
              </a:rPr>
              <a:t>Safety Factor</a:t>
            </a:r>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 transformou </a:t>
            </a:r>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um modelo academicamente preciso em </a:t>
            </a:r>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uma ferramenta operacionalmente segura e </a:t>
            </a:r>
            <a:pPr algn="ctr"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economicamente viável.</a:t>
            </a:r>
            <a:endParaRPr lang="en-US" sz="834" dirty="0"/>
          </a:p>
        </p:txBody>
      </p:sp>
      <p:sp>
        <p:nvSpPr>
          <p:cNvPr id="27" name="Shape 20"/>
          <p:cNvSpPr/>
          <p:nvPr/>
        </p:nvSpPr>
        <p:spPr>
          <a:xfrm>
            <a:off x="428625" y="4586288"/>
            <a:ext cx="8286750" cy="271463"/>
          </a:xfrm>
          <a:prstGeom prst="rect">
            <a:avLst/>
          </a:prstGeom>
          <a:solidFill>
            <a:srgbClr val="000000">
              <a:alpha val="0"/>
            </a:srgbClr>
          </a:solidFill>
          <a:ln/>
        </p:spPr>
      </p:sp>
      <p:sp>
        <p:nvSpPr>
          <p:cNvPr id="28" name="Shape 21"/>
          <p:cNvSpPr/>
          <p:nvPr/>
        </p:nvSpPr>
        <p:spPr>
          <a:xfrm>
            <a:off x="428625" y="4586288"/>
            <a:ext cx="8286750" cy="7144"/>
          </a:xfrm>
          <a:prstGeom prst="rect">
            <a:avLst/>
          </a:prstGeom>
          <a:solidFill>
            <a:srgbClr val="FDFDFE"/>
          </a:solidFill>
          <a:ln/>
        </p:spPr>
      </p:sp>
      <p:sp>
        <p:nvSpPr>
          <p:cNvPr id="29" name="Text 22"/>
          <p:cNvSpPr/>
          <p:nvPr/>
        </p:nvSpPr>
        <p:spPr>
          <a:xfrm>
            <a:off x="428625" y="4586288"/>
            <a:ext cx="8286750" cy="271463"/>
          </a:xfrm>
          <a:prstGeom prst="rect">
            <a:avLst/>
          </a:prstGeom>
          <a:noFill/>
          <a:ln/>
        </p:spPr>
        <p:txBody>
          <a:bodyPr wrap="square" lIns="0" tIns="170053" rIns="0" bIns="0" rtlCol="0" anchor="t">
            <a:spAutoFit/>
          </a:bodyPr>
          <a:lstStyle/>
          <a:p>
            <a:pPr algn="ctr" indent="0" marL="0">
              <a:lnSpc>
                <a:spcPts val="900"/>
              </a:lnSpc>
              <a:buNone/>
            </a:pPr>
            <a:r>
              <a:rPr lang="en-US" sz="727" i="1" dirty="0">
                <a:solidFill>
                  <a:srgbClr val="E8EDF2">
                    <a:alpha val="50000"/>
                  </a:srgbClr>
                </a:solidFill>
                <a:latin typeface="Inter" pitchFamily="34" charset="0"/>
                <a:ea typeface="Inter" pitchFamily="34" charset="-122"/>
                <a:cs typeface="Inter" pitchFamily="34" charset="-120"/>
              </a:rPr>
              <a:t>"A precisão do algoritmo é inútil sem a robustez da estratégia de decisão."</a:t>
            </a:r>
            <a:endParaRPr lang="en-US" sz="727"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8858"/>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LIMITAÇÕES E TRABALHOS FUTUROS</a:t>
            </a:r>
            <a:endParaRPr lang="en-US" sz="1808" dirty="0"/>
          </a:p>
        </p:txBody>
      </p:sp>
      <p:pic>
        <p:nvPicPr>
          <p:cNvPr id="7" name="Image 1" descr="preencoded.png">    </p:cNvPr>
          <p:cNvPicPr>
            <a:picLocks noChangeAspect="1"/>
          </p:cNvPicPr>
          <p:nvPr/>
        </p:nvPicPr>
        <p:blipFill>
          <a:blip r:embed="rId2"/>
          <a:stretch>
            <a:fillRect/>
          </a:stretch>
        </p:blipFill>
        <p:spPr>
          <a:xfrm>
            <a:off x="428625" y="1188541"/>
            <a:ext cx="171450" cy="171450"/>
          </a:xfrm>
          <a:prstGeom prst="rect">
            <a:avLst/>
          </a:prstGeom>
        </p:spPr>
      </p:pic>
      <p:sp>
        <p:nvSpPr>
          <p:cNvPr id="8" name="Text 3"/>
          <p:cNvSpPr/>
          <p:nvPr/>
        </p:nvSpPr>
        <p:spPr>
          <a:xfrm>
            <a:off x="707231" y="1169789"/>
            <a:ext cx="1805583"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EB5757"/>
                </a:solidFill>
                <a:latin typeface="Montserrat" pitchFamily="34" charset="0"/>
                <a:ea typeface="Montserrat" pitchFamily="34" charset="-122"/>
                <a:cs typeface="Montserrat" pitchFamily="34" charset="-120"/>
              </a:rPr>
              <a:t>LIMITAÇÕES ATUAIS</a:t>
            </a:r>
            <a:endParaRPr lang="en-US" sz="1193" dirty="0"/>
          </a:p>
        </p:txBody>
      </p:sp>
      <p:sp>
        <p:nvSpPr>
          <p:cNvPr id="9" name="Shape 4"/>
          <p:cNvSpPr/>
          <p:nvPr/>
        </p:nvSpPr>
        <p:spPr>
          <a:xfrm>
            <a:off x="428625" y="1671638"/>
            <a:ext cx="3929063" cy="740773"/>
          </a:xfrm>
          <a:prstGeom prst="rect">
            <a:avLst/>
          </a:prstGeom>
          <a:solidFill>
            <a:srgbClr val="001D33">
              <a:alpha val="30000"/>
            </a:srgbClr>
          </a:solidFill>
          <a:ln/>
        </p:spPr>
      </p:sp>
      <p:pic>
        <p:nvPicPr>
          <p:cNvPr id="10" name="Image 2" descr="preencoded.png">    </p:cNvPr>
          <p:cNvPicPr>
            <a:picLocks noChangeAspect="1"/>
          </p:cNvPicPr>
          <p:nvPr/>
        </p:nvPicPr>
        <p:blipFill>
          <a:blip r:embed="rId3">
            <a:alphaModFix amt="80000"/>
          </a:blip>
          <a:stretch>
            <a:fillRect/>
          </a:stretch>
        </p:blipFill>
        <p:spPr>
          <a:xfrm>
            <a:off x="571500" y="1835944"/>
            <a:ext cx="171450" cy="128588"/>
          </a:xfrm>
          <a:prstGeom prst="rect">
            <a:avLst/>
          </a:prstGeom>
        </p:spPr>
      </p:pic>
      <p:sp>
        <p:nvSpPr>
          <p:cNvPr id="11" name="Text 5"/>
          <p:cNvSpPr/>
          <p:nvPr/>
        </p:nvSpPr>
        <p:spPr>
          <a:xfrm>
            <a:off x="850106" y="1814513"/>
            <a:ext cx="3364706"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Thresholds Estáticos</a:t>
            </a:r>
            <a:endParaRPr lang="en-US" sz="784" dirty="0"/>
          </a:p>
        </p:txBody>
      </p:sp>
      <p:sp>
        <p:nvSpPr>
          <p:cNvPr id="12" name="Text 6"/>
          <p:cNvSpPr/>
          <p:nvPr/>
        </p:nvSpPr>
        <p:spPr>
          <a:xfrm>
            <a:off x="850106" y="1989534"/>
            <a:ext cx="3364706"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A detecção de ramp events utiliza limiares fixos, que podem não se adaptar a mudanças sazonais extremas.</a:t>
            </a:r>
            <a:endParaRPr lang="en-US" sz="727" dirty="0"/>
          </a:p>
        </p:txBody>
      </p:sp>
      <p:sp>
        <p:nvSpPr>
          <p:cNvPr id="13" name="Shape 7"/>
          <p:cNvSpPr/>
          <p:nvPr/>
        </p:nvSpPr>
        <p:spPr>
          <a:xfrm>
            <a:off x="428625" y="2555286"/>
            <a:ext cx="3929063" cy="740773"/>
          </a:xfrm>
          <a:prstGeom prst="rect">
            <a:avLst/>
          </a:prstGeom>
          <a:solidFill>
            <a:srgbClr val="001D33">
              <a:alpha val="30000"/>
            </a:srgbClr>
          </a:solidFill>
          <a:ln/>
        </p:spPr>
      </p:sp>
      <p:pic>
        <p:nvPicPr>
          <p:cNvPr id="14" name="Image 3" descr="preencoded.png">    </p:cNvPr>
          <p:cNvPicPr>
            <a:picLocks noChangeAspect="1"/>
          </p:cNvPicPr>
          <p:nvPr/>
        </p:nvPicPr>
        <p:blipFill>
          <a:blip r:embed="rId4">
            <a:alphaModFix amt="80000"/>
          </a:blip>
          <a:stretch>
            <a:fillRect/>
          </a:stretch>
        </p:blipFill>
        <p:spPr>
          <a:xfrm>
            <a:off x="571500" y="2719592"/>
            <a:ext cx="171450" cy="128588"/>
          </a:xfrm>
          <a:prstGeom prst="rect">
            <a:avLst/>
          </a:prstGeom>
        </p:spPr>
      </p:pic>
      <p:sp>
        <p:nvSpPr>
          <p:cNvPr id="15" name="Text 8"/>
          <p:cNvSpPr/>
          <p:nvPr/>
        </p:nvSpPr>
        <p:spPr>
          <a:xfrm>
            <a:off x="850106" y="2698161"/>
            <a:ext cx="3364706"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Generalização Single-Turbine</a:t>
            </a:r>
            <a:endParaRPr lang="en-US" sz="784" dirty="0"/>
          </a:p>
        </p:txBody>
      </p:sp>
      <p:sp>
        <p:nvSpPr>
          <p:cNvPr id="16" name="Text 9"/>
          <p:cNvSpPr/>
          <p:nvPr/>
        </p:nvSpPr>
        <p:spPr>
          <a:xfrm>
            <a:off x="850106" y="2873183"/>
            <a:ext cx="3364706"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O estudo focou em uma única turbina representativa. A dinâmica de esteira (wake effect) em parques completos não foi modelada.</a:t>
            </a:r>
            <a:endParaRPr lang="en-US" sz="727" dirty="0"/>
          </a:p>
        </p:txBody>
      </p:sp>
      <p:sp>
        <p:nvSpPr>
          <p:cNvPr id="17" name="Shape 10"/>
          <p:cNvSpPr/>
          <p:nvPr/>
        </p:nvSpPr>
        <p:spPr>
          <a:xfrm>
            <a:off x="428625" y="3438934"/>
            <a:ext cx="3929063" cy="740773"/>
          </a:xfrm>
          <a:prstGeom prst="rect">
            <a:avLst/>
          </a:prstGeom>
          <a:solidFill>
            <a:srgbClr val="001D33">
              <a:alpha val="30000"/>
            </a:srgbClr>
          </a:solidFill>
          <a:ln/>
        </p:spPr>
      </p:sp>
      <p:pic>
        <p:nvPicPr>
          <p:cNvPr id="18" name="Image 4" descr="preencoded.png">    </p:cNvPr>
          <p:cNvPicPr>
            <a:picLocks noChangeAspect="1"/>
          </p:cNvPicPr>
          <p:nvPr/>
        </p:nvPicPr>
        <p:blipFill>
          <a:blip r:embed="rId5">
            <a:alphaModFix amt="80000"/>
          </a:blip>
          <a:stretch>
            <a:fillRect/>
          </a:stretch>
        </p:blipFill>
        <p:spPr>
          <a:xfrm>
            <a:off x="571500" y="3603241"/>
            <a:ext cx="171450" cy="128588"/>
          </a:xfrm>
          <a:prstGeom prst="rect">
            <a:avLst/>
          </a:prstGeom>
        </p:spPr>
      </p:pic>
      <p:sp>
        <p:nvSpPr>
          <p:cNvPr id="19" name="Text 11"/>
          <p:cNvSpPr/>
          <p:nvPr/>
        </p:nvSpPr>
        <p:spPr>
          <a:xfrm>
            <a:off x="850106" y="3581809"/>
            <a:ext cx="3364706"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Ambiente Simulado</a:t>
            </a:r>
            <a:endParaRPr lang="en-US" sz="784" dirty="0"/>
          </a:p>
        </p:txBody>
      </p:sp>
      <p:sp>
        <p:nvSpPr>
          <p:cNvPr id="20" name="Text 12"/>
          <p:cNvSpPr/>
          <p:nvPr/>
        </p:nvSpPr>
        <p:spPr>
          <a:xfrm>
            <a:off x="850106" y="3756831"/>
            <a:ext cx="3364706"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Validação realizada em ambiente computacional (Python/PyTorch), sem testes em hardware-in-the-loop (HIL).</a:t>
            </a:r>
            <a:endParaRPr lang="en-US" sz="727" dirty="0"/>
          </a:p>
        </p:txBody>
      </p:sp>
      <p:pic>
        <p:nvPicPr>
          <p:cNvPr id="21" name="Image 5" descr="preencoded.png">    </p:cNvPr>
          <p:cNvPicPr>
            <a:picLocks noChangeAspect="1"/>
          </p:cNvPicPr>
          <p:nvPr/>
        </p:nvPicPr>
        <p:blipFill>
          <a:blip r:embed="rId6"/>
          <a:stretch>
            <a:fillRect/>
          </a:stretch>
        </p:blipFill>
        <p:spPr>
          <a:xfrm>
            <a:off x="4786313" y="1188541"/>
            <a:ext cx="171450" cy="171450"/>
          </a:xfrm>
          <a:prstGeom prst="rect">
            <a:avLst/>
          </a:prstGeom>
        </p:spPr>
      </p:pic>
      <p:sp>
        <p:nvSpPr>
          <p:cNvPr id="22" name="Text 13"/>
          <p:cNvSpPr/>
          <p:nvPr/>
        </p:nvSpPr>
        <p:spPr>
          <a:xfrm>
            <a:off x="5064919" y="1169789"/>
            <a:ext cx="2034183" cy="208955"/>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27AE60"/>
                </a:solidFill>
                <a:latin typeface="Montserrat" pitchFamily="34" charset="0"/>
                <a:ea typeface="Montserrat" pitchFamily="34" charset="-122"/>
                <a:cs typeface="Montserrat" pitchFamily="34" charset="-120"/>
              </a:rPr>
              <a:t>TRABALHOS FUTUROS</a:t>
            </a:r>
            <a:endParaRPr lang="en-US" sz="1193" dirty="0"/>
          </a:p>
        </p:txBody>
      </p:sp>
      <p:sp>
        <p:nvSpPr>
          <p:cNvPr id="23" name="Shape 14"/>
          <p:cNvSpPr/>
          <p:nvPr/>
        </p:nvSpPr>
        <p:spPr>
          <a:xfrm>
            <a:off x="4786313" y="1671638"/>
            <a:ext cx="3929063" cy="740773"/>
          </a:xfrm>
          <a:prstGeom prst="rect">
            <a:avLst/>
          </a:prstGeom>
          <a:solidFill>
            <a:srgbClr val="001D33">
              <a:alpha val="30000"/>
            </a:srgbClr>
          </a:solidFill>
          <a:ln/>
        </p:spPr>
      </p:sp>
      <p:pic>
        <p:nvPicPr>
          <p:cNvPr id="24" name="Image 6" descr="preencoded.png">    </p:cNvPr>
          <p:cNvPicPr>
            <a:picLocks noChangeAspect="1"/>
          </p:cNvPicPr>
          <p:nvPr/>
        </p:nvPicPr>
        <p:blipFill>
          <a:blip r:embed="rId7"/>
          <a:stretch>
            <a:fillRect/>
          </a:stretch>
        </p:blipFill>
        <p:spPr>
          <a:xfrm>
            <a:off x="4929188" y="1835944"/>
            <a:ext cx="171450" cy="128588"/>
          </a:xfrm>
          <a:prstGeom prst="rect">
            <a:avLst/>
          </a:prstGeom>
        </p:spPr>
      </p:pic>
      <p:sp>
        <p:nvSpPr>
          <p:cNvPr id="25" name="Text 15"/>
          <p:cNvSpPr/>
          <p:nvPr/>
        </p:nvSpPr>
        <p:spPr>
          <a:xfrm>
            <a:off x="5207794" y="1814513"/>
            <a:ext cx="3364706"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Deploy em Tempo Real</a:t>
            </a:r>
            <a:endParaRPr lang="en-US" sz="784" dirty="0"/>
          </a:p>
        </p:txBody>
      </p:sp>
      <p:sp>
        <p:nvSpPr>
          <p:cNvPr id="26" name="Text 16"/>
          <p:cNvSpPr/>
          <p:nvPr/>
        </p:nvSpPr>
        <p:spPr>
          <a:xfrm>
            <a:off x="5207794" y="1989534"/>
            <a:ext cx="3364706"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Implementação do modelo em edge devices para inferência em tempo real no FPSO.</a:t>
            </a:r>
            <a:endParaRPr lang="en-US" sz="727" dirty="0"/>
          </a:p>
        </p:txBody>
      </p:sp>
      <p:sp>
        <p:nvSpPr>
          <p:cNvPr id="27" name="Shape 17"/>
          <p:cNvSpPr/>
          <p:nvPr/>
        </p:nvSpPr>
        <p:spPr>
          <a:xfrm>
            <a:off x="4786313" y="2555286"/>
            <a:ext cx="3929063" cy="740773"/>
          </a:xfrm>
          <a:prstGeom prst="rect">
            <a:avLst/>
          </a:prstGeom>
          <a:solidFill>
            <a:srgbClr val="001D33">
              <a:alpha val="30000"/>
            </a:srgbClr>
          </a:solidFill>
          <a:ln/>
        </p:spPr>
      </p:sp>
      <p:pic>
        <p:nvPicPr>
          <p:cNvPr id="28" name="Image 7" descr="preencoded.png">    </p:cNvPr>
          <p:cNvPicPr>
            <a:picLocks noChangeAspect="1"/>
          </p:cNvPicPr>
          <p:nvPr/>
        </p:nvPicPr>
        <p:blipFill>
          <a:blip r:embed="rId8"/>
          <a:stretch>
            <a:fillRect/>
          </a:stretch>
        </p:blipFill>
        <p:spPr>
          <a:xfrm>
            <a:off x="4929188" y="2719592"/>
            <a:ext cx="171450" cy="128588"/>
          </a:xfrm>
          <a:prstGeom prst="rect">
            <a:avLst/>
          </a:prstGeom>
        </p:spPr>
      </p:pic>
      <p:sp>
        <p:nvSpPr>
          <p:cNvPr id="29" name="Text 18"/>
          <p:cNvSpPr/>
          <p:nvPr/>
        </p:nvSpPr>
        <p:spPr>
          <a:xfrm>
            <a:off x="5207794" y="2698161"/>
            <a:ext cx="3364706"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Online Learning</a:t>
            </a:r>
            <a:endParaRPr lang="en-US" sz="784" dirty="0"/>
          </a:p>
        </p:txBody>
      </p:sp>
      <p:sp>
        <p:nvSpPr>
          <p:cNvPr id="30" name="Text 19"/>
          <p:cNvSpPr/>
          <p:nvPr/>
        </p:nvSpPr>
        <p:spPr>
          <a:xfrm>
            <a:off x="5207794" y="2873183"/>
            <a:ext cx="3364706"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Adaptação contínua dos pesos do modelo para lidar com concept drift e envelhecimento dos equipamentos.</a:t>
            </a:r>
            <a:endParaRPr lang="en-US" sz="727" dirty="0"/>
          </a:p>
        </p:txBody>
      </p:sp>
      <p:sp>
        <p:nvSpPr>
          <p:cNvPr id="31" name="Shape 20"/>
          <p:cNvSpPr/>
          <p:nvPr/>
        </p:nvSpPr>
        <p:spPr>
          <a:xfrm>
            <a:off x="4786313" y="3438934"/>
            <a:ext cx="3929063" cy="740773"/>
          </a:xfrm>
          <a:prstGeom prst="rect">
            <a:avLst/>
          </a:prstGeom>
          <a:solidFill>
            <a:srgbClr val="001D33">
              <a:alpha val="30000"/>
            </a:srgbClr>
          </a:solidFill>
          <a:ln/>
        </p:spPr>
      </p:sp>
      <p:pic>
        <p:nvPicPr>
          <p:cNvPr id="32" name="Image 8" descr="preencoded.png">    </p:cNvPr>
          <p:cNvPicPr>
            <a:picLocks noChangeAspect="1"/>
          </p:cNvPicPr>
          <p:nvPr/>
        </p:nvPicPr>
        <p:blipFill>
          <a:blip r:embed="rId9"/>
          <a:stretch>
            <a:fillRect/>
          </a:stretch>
        </p:blipFill>
        <p:spPr>
          <a:xfrm>
            <a:off x="4929188" y="3603241"/>
            <a:ext cx="171450" cy="128588"/>
          </a:xfrm>
          <a:prstGeom prst="rect">
            <a:avLst/>
          </a:prstGeom>
        </p:spPr>
      </p:pic>
      <p:sp>
        <p:nvSpPr>
          <p:cNvPr id="33" name="Text 21"/>
          <p:cNvSpPr/>
          <p:nvPr/>
        </p:nvSpPr>
        <p:spPr>
          <a:xfrm>
            <a:off x="5207794" y="3581809"/>
            <a:ext cx="3364706" cy="139303"/>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solidFill>
                <a:latin typeface="Montserrat" pitchFamily="34" charset="0"/>
                <a:ea typeface="Montserrat" pitchFamily="34" charset="-122"/>
                <a:cs typeface="Montserrat" pitchFamily="34" charset="-120"/>
              </a:rPr>
              <a:t>Abordagem Multi-Asset</a:t>
            </a:r>
            <a:endParaRPr lang="en-US" sz="784" dirty="0"/>
          </a:p>
        </p:txBody>
      </p:sp>
      <p:sp>
        <p:nvSpPr>
          <p:cNvPr id="34" name="Text 22"/>
          <p:cNvSpPr/>
          <p:nvPr/>
        </p:nvSpPr>
        <p:spPr>
          <a:xfrm>
            <a:off x="5207794" y="3756831"/>
            <a:ext cx="3364706"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E8EDF2">
                    <a:alpha val="80000"/>
                  </a:srgbClr>
                </a:solidFill>
                <a:latin typeface="Inter" pitchFamily="34" charset="0"/>
                <a:ea typeface="Inter" pitchFamily="34" charset="-122"/>
                <a:cs typeface="Inter" pitchFamily="34" charset="-120"/>
              </a:rPr>
              <a:t>Expansão do TFT para modelar correlações espaciais entre múltiplas turbinas simultaneamente.</a:t>
            </a:r>
            <a:endParaRPr lang="en-US" sz="727"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PUBLICAÇÕES E CÓDIGO ABERTO</a:t>
            </a:r>
            <a:endParaRPr lang="en-US" sz="1808" dirty="0"/>
          </a:p>
        </p:txBody>
      </p:sp>
      <p:sp>
        <p:nvSpPr>
          <p:cNvPr id="7" name="Shape 3"/>
          <p:cNvSpPr/>
          <p:nvPr/>
        </p:nvSpPr>
        <p:spPr>
          <a:xfrm>
            <a:off x="428625" y="1241227"/>
            <a:ext cx="2571750" cy="3214688"/>
          </a:xfrm>
          <a:prstGeom prst="rect">
            <a:avLst/>
          </a:prstGeom>
          <a:solidFill>
            <a:srgbClr val="001D33">
              <a:alpha val="30000"/>
            </a:srgbClr>
          </a:solidFill>
          <a:ln/>
        </p:spPr>
      </p:sp>
      <p:sp>
        <p:nvSpPr>
          <p:cNvPr id="8" name="Shape 4"/>
          <p:cNvSpPr/>
          <p:nvPr/>
        </p:nvSpPr>
        <p:spPr>
          <a:xfrm>
            <a:off x="428625" y="1241227"/>
            <a:ext cx="2571750" cy="28575"/>
          </a:xfrm>
          <a:prstGeom prst="rect">
            <a:avLst/>
          </a:prstGeom>
          <a:solidFill>
            <a:srgbClr val="F2C94C"/>
          </a:solidFill>
          <a:ln/>
        </p:spPr>
      </p:sp>
      <p:pic>
        <p:nvPicPr>
          <p:cNvPr id="9" name="Image 1" descr="preencoded.png">    </p:cNvPr>
          <p:cNvPicPr>
            <a:picLocks noChangeAspect="1"/>
          </p:cNvPicPr>
          <p:nvPr/>
        </p:nvPicPr>
        <p:blipFill>
          <a:blip r:embed="rId2"/>
          <a:stretch>
            <a:fillRect/>
          </a:stretch>
        </p:blipFill>
        <p:spPr>
          <a:xfrm>
            <a:off x="571500" y="1455539"/>
            <a:ext cx="221456" cy="228600"/>
          </a:xfrm>
          <a:prstGeom prst="rect">
            <a:avLst/>
          </a:prstGeom>
        </p:spPr>
      </p:pic>
      <p:sp>
        <p:nvSpPr>
          <p:cNvPr id="10" name="Text 5"/>
          <p:cNvSpPr/>
          <p:nvPr/>
        </p:nvSpPr>
        <p:spPr>
          <a:xfrm>
            <a:off x="900113" y="1474291"/>
            <a:ext cx="946547"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Repositório</a:t>
            </a:r>
            <a:endParaRPr lang="en-US" sz="1090" dirty="0"/>
          </a:p>
        </p:txBody>
      </p:sp>
      <p:sp>
        <p:nvSpPr>
          <p:cNvPr id="11" name="Text 6"/>
          <p:cNvSpPr/>
          <p:nvPr/>
        </p:nvSpPr>
        <p:spPr>
          <a:xfrm>
            <a:off x="571500" y="1862733"/>
            <a:ext cx="2286000" cy="105370"/>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8EDF2">
                    <a:alpha val="50000"/>
                  </a:srgbClr>
                </a:solidFill>
                <a:latin typeface="Inter" pitchFamily="34" charset="0"/>
                <a:ea typeface="Inter" pitchFamily="34" charset="-122"/>
                <a:cs typeface="Inter" pitchFamily="34" charset="-120"/>
              </a:rPr>
              <a:t>URL</a:t>
            </a:r>
            <a:endParaRPr lang="en-US" sz="584" dirty="0"/>
          </a:p>
        </p:txBody>
      </p:sp>
      <p:sp>
        <p:nvSpPr>
          <p:cNvPr id="12" name="Text 7"/>
          <p:cNvSpPr/>
          <p:nvPr/>
        </p:nvSpPr>
        <p:spPr>
          <a:xfrm>
            <a:off x="571500" y="2003822"/>
            <a:ext cx="2286000"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F2C94C"/>
                </a:solidFill>
                <a:latin typeface="JetBrains Mono" pitchFamily="34" charset="0"/>
                <a:ea typeface="JetBrains Mono" pitchFamily="34" charset="-122"/>
                <a:cs typeface="JetBrains Mono" pitchFamily="34" charset="-120"/>
              </a:rPr>
              <a:t>github.com/viniciosgnr/Offshore-wind-forecasting-decision-support</a:t>
            </a:r>
            <a:endParaRPr lang="en-US" sz="727" dirty="0"/>
          </a:p>
        </p:txBody>
      </p:sp>
      <p:sp>
        <p:nvSpPr>
          <p:cNvPr id="13" name="Text 8"/>
          <p:cNvSpPr/>
          <p:nvPr/>
        </p:nvSpPr>
        <p:spPr>
          <a:xfrm>
            <a:off x="571500" y="2498136"/>
            <a:ext cx="2286000" cy="48220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Código fonte completo, notebooks de treinamento, scripts de pré-processamento e configuração do ambiente Docker.</a:t>
            </a:r>
            <a:endParaRPr lang="en-US" sz="780" dirty="0"/>
          </a:p>
        </p:txBody>
      </p:sp>
      <p:sp>
        <p:nvSpPr>
          <p:cNvPr id="14" name="Text 9"/>
          <p:cNvSpPr/>
          <p:nvPr/>
        </p:nvSpPr>
        <p:spPr>
          <a:xfrm>
            <a:off x="1285875" y="3455789"/>
            <a:ext cx="857250" cy="857250"/>
          </a:xfrm>
          <a:prstGeom prst="rect">
            <a:avLst/>
          </a:prstGeom>
          <a:noFill/>
          <a:ln/>
        </p:spPr>
        <p:txBody>
          <a:bodyPr wrap="square" lIns="0" tIns="0" rIns="0" bIns="0" rtlCol="0" anchor="ctr">
            <a:spAutoFit/>
          </a:bodyPr>
          <a:lstStyle/>
          <a:p>
            <a:pPr algn="ctr" indent="0" marL="0">
              <a:lnSpc>
                <a:spcPts val="800"/>
              </a:lnSpc>
              <a:buNone/>
            </a:pPr>
            <a:r>
              <a:rPr lang="en-US" sz="621" dirty="0">
                <a:solidFill>
                  <a:srgbClr val="F2C94C">
                    <a:alpha val="50000"/>
                  </a:srgbClr>
                </a:solidFill>
                <a:latin typeface="Inter" pitchFamily="34" charset="0"/>
                <a:ea typeface="Inter" pitchFamily="34" charset="-122"/>
                <a:cs typeface="Inter" pitchFamily="34" charset="-120"/>
              </a:rPr>
              <a:t>QR Code GitHub</a:t>
            </a:r>
            <a:endParaRPr lang="en-US" sz="621" dirty="0"/>
          </a:p>
        </p:txBody>
      </p:sp>
      <p:sp>
        <p:nvSpPr>
          <p:cNvPr id="15" name="Shape 10"/>
          <p:cNvSpPr/>
          <p:nvPr/>
        </p:nvSpPr>
        <p:spPr>
          <a:xfrm>
            <a:off x="3286125" y="1241227"/>
            <a:ext cx="2571750" cy="3214688"/>
          </a:xfrm>
          <a:prstGeom prst="rect">
            <a:avLst/>
          </a:prstGeom>
          <a:solidFill>
            <a:srgbClr val="001D33">
              <a:alpha val="30000"/>
            </a:srgbClr>
          </a:solidFill>
          <a:ln/>
        </p:spPr>
      </p:sp>
      <p:sp>
        <p:nvSpPr>
          <p:cNvPr id="16" name="Shape 11"/>
          <p:cNvSpPr/>
          <p:nvPr/>
        </p:nvSpPr>
        <p:spPr>
          <a:xfrm>
            <a:off x="3286125" y="1241227"/>
            <a:ext cx="2571750" cy="28575"/>
          </a:xfrm>
          <a:prstGeom prst="rect">
            <a:avLst/>
          </a:prstGeom>
          <a:solidFill>
            <a:srgbClr val="F2C94C"/>
          </a:solidFill>
          <a:ln/>
        </p:spPr>
      </p:sp>
      <p:pic>
        <p:nvPicPr>
          <p:cNvPr id="17" name="Image 2" descr="preencoded.png">    </p:cNvPr>
          <p:cNvPicPr>
            <a:picLocks noChangeAspect="1"/>
          </p:cNvPicPr>
          <p:nvPr/>
        </p:nvPicPr>
        <p:blipFill>
          <a:blip r:embed="rId3"/>
          <a:stretch>
            <a:fillRect/>
          </a:stretch>
        </p:blipFill>
        <p:spPr>
          <a:xfrm>
            <a:off x="3429000" y="1455539"/>
            <a:ext cx="200025" cy="228600"/>
          </a:xfrm>
          <a:prstGeom prst="rect">
            <a:avLst/>
          </a:prstGeom>
        </p:spPr>
      </p:pic>
      <p:sp>
        <p:nvSpPr>
          <p:cNvPr id="18" name="Text 12"/>
          <p:cNvSpPr/>
          <p:nvPr/>
        </p:nvSpPr>
        <p:spPr>
          <a:xfrm>
            <a:off x="3736181" y="1474291"/>
            <a:ext cx="639366"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Dataset</a:t>
            </a:r>
            <a:endParaRPr lang="en-US" sz="1090" dirty="0"/>
          </a:p>
        </p:txBody>
      </p:sp>
      <p:sp>
        <p:nvSpPr>
          <p:cNvPr id="19" name="Text 13"/>
          <p:cNvSpPr/>
          <p:nvPr/>
        </p:nvSpPr>
        <p:spPr>
          <a:xfrm>
            <a:off x="3429000" y="1862733"/>
            <a:ext cx="2286000" cy="105370"/>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8EDF2">
                    <a:alpha val="50000"/>
                  </a:srgbClr>
                </a:solidFill>
                <a:latin typeface="Inter" pitchFamily="34" charset="0"/>
                <a:ea typeface="Inter" pitchFamily="34" charset="-122"/>
                <a:cs typeface="Inter" pitchFamily="34" charset="-120"/>
              </a:rPr>
              <a:t>DOI</a:t>
            </a:r>
            <a:endParaRPr lang="en-US" sz="584" dirty="0"/>
          </a:p>
        </p:txBody>
      </p:sp>
      <p:sp>
        <p:nvSpPr>
          <p:cNvPr id="20" name="Text 14"/>
          <p:cNvSpPr/>
          <p:nvPr/>
        </p:nvSpPr>
        <p:spPr>
          <a:xfrm>
            <a:off x="3429000" y="2003822"/>
            <a:ext cx="2286000"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F2C94C"/>
                </a:solidFill>
                <a:latin typeface="JetBrains Mono" pitchFamily="34" charset="0"/>
                <a:ea typeface="JetBrains Mono" pitchFamily="34" charset="-122"/>
                <a:cs typeface="JetBrains Mono" pitchFamily="34" charset="-120"/>
              </a:rPr>
              <a:t>10.5281/zenodo.10958775</a:t>
            </a:r>
            <a:endParaRPr lang="en-US" sz="727" dirty="0"/>
          </a:p>
        </p:txBody>
      </p:sp>
      <p:sp>
        <p:nvSpPr>
          <p:cNvPr id="21" name="Text 15"/>
          <p:cNvSpPr/>
          <p:nvPr/>
        </p:nvSpPr>
        <p:spPr>
          <a:xfrm>
            <a:off x="3429000" y="2358135"/>
            <a:ext cx="2286000" cy="642938"/>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Utilização do dataset "CARE to Compare" (Fraunhofer), contendo dados SCADA reais de turbinas eólicas offshore para benchmarking.</a:t>
            </a:r>
            <a:endParaRPr lang="en-US" sz="780" dirty="0"/>
          </a:p>
        </p:txBody>
      </p:sp>
      <p:sp>
        <p:nvSpPr>
          <p:cNvPr id="22" name="Text 16"/>
          <p:cNvSpPr/>
          <p:nvPr/>
        </p:nvSpPr>
        <p:spPr>
          <a:xfrm>
            <a:off x="4143375" y="3455789"/>
            <a:ext cx="857250" cy="857250"/>
          </a:xfrm>
          <a:prstGeom prst="rect">
            <a:avLst/>
          </a:prstGeom>
          <a:noFill/>
          <a:ln/>
        </p:spPr>
        <p:txBody>
          <a:bodyPr wrap="square" lIns="0" tIns="0" rIns="0" bIns="0" rtlCol="0" anchor="ctr">
            <a:spAutoFit/>
          </a:bodyPr>
          <a:lstStyle/>
          <a:p>
            <a:pPr algn="ctr" indent="0" marL="0">
              <a:lnSpc>
                <a:spcPts val="800"/>
              </a:lnSpc>
              <a:buNone/>
            </a:pPr>
            <a:r>
              <a:rPr lang="en-US" sz="621" dirty="0">
                <a:solidFill>
                  <a:srgbClr val="F2C94C">
                    <a:alpha val="50000"/>
                  </a:srgbClr>
                </a:solidFill>
                <a:latin typeface="Inter" pitchFamily="34" charset="0"/>
                <a:ea typeface="Inter" pitchFamily="34" charset="-122"/>
                <a:cs typeface="Inter" pitchFamily="34" charset="-120"/>
              </a:rPr>
              <a:t>QR Code Zenodo</a:t>
            </a:r>
            <a:endParaRPr lang="en-US" sz="621" dirty="0"/>
          </a:p>
        </p:txBody>
      </p:sp>
      <p:sp>
        <p:nvSpPr>
          <p:cNvPr id="23" name="Shape 17"/>
          <p:cNvSpPr/>
          <p:nvPr/>
        </p:nvSpPr>
        <p:spPr>
          <a:xfrm>
            <a:off x="6143625" y="1241227"/>
            <a:ext cx="2571750" cy="3214688"/>
          </a:xfrm>
          <a:prstGeom prst="rect">
            <a:avLst/>
          </a:prstGeom>
          <a:solidFill>
            <a:srgbClr val="001D33">
              <a:alpha val="30000"/>
            </a:srgbClr>
          </a:solidFill>
          <a:ln/>
        </p:spPr>
      </p:sp>
      <p:sp>
        <p:nvSpPr>
          <p:cNvPr id="24" name="Shape 18"/>
          <p:cNvSpPr/>
          <p:nvPr/>
        </p:nvSpPr>
        <p:spPr>
          <a:xfrm>
            <a:off x="6143625" y="1241227"/>
            <a:ext cx="2571750" cy="28575"/>
          </a:xfrm>
          <a:prstGeom prst="rect">
            <a:avLst/>
          </a:prstGeom>
          <a:solidFill>
            <a:srgbClr val="F2C94C"/>
          </a:solidFill>
          <a:ln/>
        </p:spPr>
      </p:sp>
      <p:pic>
        <p:nvPicPr>
          <p:cNvPr id="25" name="Image 3" descr="preencoded.png">    </p:cNvPr>
          <p:cNvPicPr>
            <a:picLocks noChangeAspect="1"/>
          </p:cNvPicPr>
          <p:nvPr/>
        </p:nvPicPr>
        <p:blipFill>
          <a:blip r:embed="rId4"/>
          <a:stretch>
            <a:fillRect/>
          </a:stretch>
        </p:blipFill>
        <p:spPr>
          <a:xfrm>
            <a:off x="6286500" y="1455539"/>
            <a:ext cx="228600" cy="228600"/>
          </a:xfrm>
          <a:prstGeom prst="rect">
            <a:avLst/>
          </a:prstGeom>
        </p:spPr>
      </p:pic>
      <p:sp>
        <p:nvSpPr>
          <p:cNvPr id="26" name="Text 19"/>
          <p:cNvSpPr/>
          <p:nvPr/>
        </p:nvSpPr>
        <p:spPr>
          <a:xfrm>
            <a:off x="6622256" y="1474291"/>
            <a:ext cx="1141214" cy="19109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E8EDF2"/>
                </a:solidFill>
                <a:latin typeface="Montserrat" pitchFamily="34" charset="0"/>
                <a:ea typeface="Montserrat" pitchFamily="34" charset="-122"/>
                <a:cs typeface="Montserrat" pitchFamily="34" charset="-120"/>
              </a:rPr>
              <a:t>Infraestrutura</a:t>
            </a:r>
            <a:endParaRPr lang="en-US" sz="1090" dirty="0"/>
          </a:p>
        </p:txBody>
      </p:sp>
      <p:sp>
        <p:nvSpPr>
          <p:cNvPr id="27" name="Text 20"/>
          <p:cNvSpPr/>
          <p:nvPr/>
        </p:nvSpPr>
        <p:spPr>
          <a:xfrm>
            <a:off x="6286500" y="1862733"/>
            <a:ext cx="2286000" cy="105370"/>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8EDF2">
                    <a:alpha val="50000"/>
                  </a:srgbClr>
                </a:solidFill>
                <a:latin typeface="Inter" pitchFamily="34" charset="0"/>
                <a:ea typeface="Inter" pitchFamily="34" charset="-122"/>
                <a:cs typeface="Inter" pitchFamily="34" charset="-120"/>
              </a:rPr>
              <a:t>PLATAFORMA</a:t>
            </a:r>
            <a:endParaRPr lang="en-US" sz="584" dirty="0"/>
          </a:p>
        </p:txBody>
      </p:sp>
      <p:sp>
        <p:nvSpPr>
          <p:cNvPr id="28" name="Text 21"/>
          <p:cNvSpPr/>
          <p:nvPr/>
        </p:nvSpPr>
        <p:spPr>
          <a:xfrm>
            <a:off x="6286500" y="2003822"/>
            <a:ext cx="2286000"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F2C94C"/>
                </a:solidFill>
                <a:latin typeface="JetBrains Mono" pitchFamily="34" charset="0"/>
                <a:ea typeface="JetBrains Mono" pitchFamily="34" charset="-122"/>
                <a:cs typeface="JetBrains Mono" pitchFamily="34" charset="-120"/>
              </a:rPr>
              <a:t>Lightning AI Studio</a:t>
            </a:r>
            <a:endParaRPr lang="en-US" sz="727" dirty="0"/>
          </a:p>
        </p:txBody>
      </p:sp>
      <p:sp>
        <p:nvSpPr>
          <p:cNvPr id="29" name="Text 22"/>
          <p:cNvSpPr/>
          <p:nvPr/>
        </p:nvSpPr>
        <p:spPr>
          <a:xfrm>
            <a:off x="6286500" y="2358135"/>
            <a:ext cx="2286000" cy="482203"/>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Treinamento distribuído utilizando GPUs de última geração para otimização de hiperparâmetros.</a:t>
            </a:r>
            <a:endParaRPr lang="en-US" sz="780" dirty="0"/>
          </a:p>
        </p:txBody>
      </p:sp>
      <p:sp>
        <p:nvSpPr>
          <p:cNvPr id="30" name="Text 23"/>
          <p:cNvSpPr/>
          <p:nvPr/>
        </p:nvSpPr>
        <p:spPr>
          <a:xfrm>
            <a:off x="6286500" y="3054651"/>
            <a:ext cx="2286000" cy="105370"/>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E8EDF2">
                    <a:alpha val="50000"/>
                  </a:srgbClr>
                </a:solidFill>
                <a:latin typeface="Inter" pitchFamily="34" charset="0"/>
                <a:ea typeface="Inter" pitchFamily="34" charset="-122"/>
                <a:cs typeface="Inter" pitchFamily="34" charset="-120"/>
              </a:rPr>
              <a:t>HARDWARE</a:t>
            </a:r>
            <a:endParaRPr lang="en-US" sz="584" dirty="0"/>
          </a:p>
        </p:txBody>
      </p:sp>
      <p:sp>
        <p:nvSpPr>
          <p:cNvPr id="31" name="Text 24"/>
          <p:cNvSpPr/>
          <p:nvPr/>
        </p:nvSpPr>
        <p:spPr>
          <a:xfrm>
            <a:off x="6286500" y="3195740"/>
            <a:ext cx="2286000"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F2C94C"/>
                </a:solidFill>
                <a:latin typeface="JetBrains Mono" pitchFamily="34" charset="0"/>
                <a:ea typeface="JetBrains Mono" pitchFamily="34" charset="-122"/>
                <a:cs typeface="JetBrains Mono" pitchFamily="34" charset="-120"/>
              </a:rPr>
              <a:t>NVIDIA T4, L4, L40S</a:t>
            </a:r>
            <a:endParaRPr lang="en-US" sz="727"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28625" y="385763"/>
            <a:ext cx="4230886" cy="296466"/>
          </a:xfrm>
          <a:prstGeom prst="rect">
            <a:avLst/>
          </a:prstGeom>
          <a:noFill/>
          <a:ln/>
        </p:spPr>
        <p:txBody>
          <a:bodyPr wrap="none" lIns="0" tIns="0" rIns="0" bIns="0" rtlCol="0" anchor="t">
            <a:spAutoFit/>
          </a:bodyPr>
          <a:lstStyle/>
          <a:p>
            <a:pPr algn="l" indent="0" marL="0">
              <a:lnSpc>
                <a:spcPts val="2300"/>
              </a:lnSpc>
              <a:buNone/>
            </a:pPr>
            <a:r>
              <a:rPr lang="en-US" sz="1705" b="1" spc="1" kern="0" dirty="0">
                <a:solidFill>
                  <a:srgbClr val="F2C94C"/>
                </a:solidFill>
                <a:latin typeface="Montserrat" pitchFamily="34" charset="0"/>
                <a:ea typeface="Montserrat" pitchFamily="34" charset="-122"/>
                <a:cs typeface="Montserrat" pitchFamily="34" charset="-120"/>
              </a:rPr>
              <a:t>REFERÊNCIAS BIBLIOGRÁFICAS</a:t>
            </a:r>
            <a:endParaRPr lang="en-US" sz="1705" dirty="0"/>
          </a:p>
        </p:txBody>
      </p:sp>
      <p:sp>
        <p:nvSpPr>
          <p:cNvPr id="5" name="Text 1"/>
          <p:cNvSpPr/>
          <p:nvPr/>
        </p:nvSpPr>
        <p:spPr>
          <a:xfrm>
            <a:off x="8493919" y="510778"/>
            <a:ext cx="221456"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alpha val="50000"/>
                  </a:srgbClr>
                </a:solidFill>
                <a:latin typeface="Inter" pitchFamily="34" charset="0"/>
                <a:ea typeface="Inter" pitchFamily="34" charset="-122"/>
                <a:cs typeface="Inter" pitchFamily="34" charset="-120"/>
              </a:rPr>
              <a:t>1 / 2</a:t>
            </a:r>
            <a:endParaRPr lang="en-US" sz="784" dirty="0"/>
          </a:p>
        </p:txBody>
      </p:sp>
      <p:sp>
        <p:nvSpPr>
          <p:cNvPr id="6" name="Text 2"/>
          <p:cNvSpPr/>
          <p:nvPr/>
        </p:nvSpPr>
        <p:spPr>
          <a:xfrm>
            <a:off x="578644" y="1069777"/>
            <a:ext cx="144661"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[2]</a:t>
            </a:r>
            <a:endParaRPr lang="en-US" sz="734" dirty="0"/>
          </a:p>
        </p:txBody>
      </p:sp>
      <p:sp>
        <p:nvSpPr>
          <p:cNvPr id="7" name="Text 3"/>
          <p:cNvSpPr/>
          <p:nvPr/>
        </p:nvSpPr>
        <p:spPr>
          <a:xfrm>
            <a:off x="796528" y="1069777"/>
            <a:ext cx="2046684"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Gück, C., Roelofs, C. M. A., Faulstich, S.</a:t>
            </a:r>
            <a:endParaRPr lang="en-US" sz="734" dirty="0"/>
          </a:p>
        </p:txBody>
      </p:sp>
      <p:sp>
        <p:nvSpPr>
          <p:cNvPr id="8" name="Text 4"/>
          <p:cNvSpPr/>
          <p:nvPr/>
        </p:nvSpPr>
        <p:spPr>
          <a:xfrm>
            <a:off x="2843213" y="1069777"/>
            <a:ext cx="437555"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(2024).</a:t>
            </a:r>
            <a:endParaRPr lang="en-US" sz="780" dirty="0"/>
          </a:p>
        </p:txBody>
      </p:sp>
      <p:sp>
        <p:nvSpPr>
          <p:cNvPr id="9" name="Text 5"/>
          <p:cNvSpPr/>
          <p:nvPr/>
        </p:nvSpPr>
        <p:spPr>
          <a:xfrm>
            <a:off x="3280767" y="1069777"/>
            <a:ext cx="5129213"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"CARE to Compare: A Real-World Benchmark Dataset for Early Fault Detection in Wind Turbine Data."</a:t>
            </a:r>
            <a:endParaRPr lang="en-US" sz="780" dirty="0"/>
          </a:p>
        </p:txBody>
      </p:sp>
      <p:sp>
        <p:nvSpPr>
          <p:cNvPr id="10" name="Text 6"/>
          <p:cNvSpPr/>
          <p:nvPr/>
        </p:nvSpPr>
        <p:spPr>
          <a:xfrm>
            <a:off x="8440341" y="1069777"/>
            <a:ext cx="264319"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Data,</a:t>
            </a:r>
            <a:endParaRPr lang="en-US" sz="780" dirty="0"/>
          </a:p>
        </p:txBody>
      </p:sp>
      <p:sp>
        <p:nvSpPr>
          <p:cNvPr id="11" name="Text 7"/>
          <p:cNvSpPr/>
          <p:nvPr/>
        </p:nvSpPr>
        <p:spPr>
          <a:xfrm>
            <a:off x="578644" y="1230511"/>
            <a:ext cx="1318022"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9(12), 138. Fraunhofer IEE.</a:t>
            </a:r>
            <a:endParaRPr lang="en-US" sz="780" dirty="0"/>
          </a:p>
        </p:txBody>
      </p:sp>
      <p:sp>
        <p:nvSpPr>
          <p:cNvPr id="12" name="Shape 8"/>
          <p:cNvSpPr/>
          <p:nvPr/>
        </p:nvSpPr>
        <p:spPr>
          <a:xfrm>
            <a:off x="1984177" y="1232297"/>
            <a:ext cx="496491" cy="146447"/>
          </a:xfrm>
          <a:prstGeom prst="rect">
            <a:avLst/>
          </a:prstGeom>
          <a:solidFill>
            <a:srgbClr val="27AE60">
              <a:alpha val="15000"/>
            </a:srgbClr>
          </a:solidFill>
          <a:ln/>
        </p:spPr>
      </p:sp>
      <p:sp>
        <p:nvSpPr>
          <p:cNvPr id="13" name="Text 9"/>
          <p:cNvSpPr/>
          <p:nvPr/>
        </p:nvSpPr>
        <p:spPr>
          <a:xfrm>
            <a:off x="1984177" y="1232297"/>
            <a:ext cx="496491"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27AE60"/>
                </a:solidFill>
                <a:latin typeface="Inter" pitchFamily="34" charset="0"/>
                <a:ea typeface="Inter" pitchFamily="34" charset="-122"/>
                <a:cs typeface="Inter" pitchFamily="34" charset="-120"/>
              </a:rPr>
              <a:t>DATASET</a:t>
            </a:r>
            <a:endParaRPr lang="en-US" sz="534" dirty="0"/>
          </a:p>
        </p:txBody>
      </p:sp>
      <p:sp>
        <p:nvSpPr>
          <p:cNvPr id="14" name="Text 10"/>
          <p:cNvSpPr/>
          <p:nvPr/>
        </p:nvSpPr>
        <p:spPr>
          <a:xfrm>
            <a:off x="578644" y="1523405"/>
            <a:ext cx="167878"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[11]</a:t>
            </a:r>
            <a:endParaRPr lang="en-US" sz="734" dirty="0"/>
          </a:p>
        </p:txBody>
      </p:sp>
      <p:sp>
        <p:nvSpPr>
          <p:cNvPr id="15" name="Text 11"/>
          <p:cNvSpPr/>
          <p:nvPr/>
        </p:nvSpPr>
        <p:spPr>
          <a:xfrm>
            <a:off x="819745" y="1523405"/>
            <a:ext cx="1966317"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Lim, B., Arık, S. Ö., Loeff, N., Pfister, T.</a:t>
            </a:r>
            <a:endParaRPr lang="en-US" sz="734" dirty="0"/>
          </a:p>
        </p:txBody>
      </p:sp>
      <p:sp>
        <p:nvSpPr>
          <p:cNvPr id="16" name="Text 12"/>
          <p:cNvSpPr/>
          <p:nvPr/>
        </p:nvSpPr>
        <p:spPr>
          <a:xfrm>
            <a:off x="2786063" y="1523405"/>
            <a:ext cx="412552"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(2021).</a:t>
            </a:r>
            <a:endParaRPr lang="en-US" sz="780" dirty="0"/>
          </a:p>
        </p:txBody>
      </p:sp>
      <p:sp>
        <p:nvSpPr>
          <p:cNvPr id="17" name="Text 13"/>
          <p:cNvSpPr/>
          <p:nvPr/>
        </p:nvSpPr>
        <p:spPr>
          <a:xfrm>
            <a:off x="3198614" y="1523405"/>
            <a:ext cx="4498777"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"Temporal Fusion Transformers for Interpretable Multi-horizon Time Series Forecasting."</a:t>
            </a:r>
            <a:endParaRPr lang="en-US" sz="780" dirty="0"/>
          </a:p>
        </p:txBody>
      </p:sp>
      <p:sp>
        <p:nvSpPr>
          <p:cNvPr id="18" name="Text 14"/>
          <p:cNvSpPr/>
          <p:nvPr/>
        </p:nvSpPr>
        <p:spPr>
          <a:xfrm>
            <a:off x="7727752" y="1523405"/>
            <a:ext cx="630436"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International</a:t>
            </a:r>
            <a:endParaRPr lang="en-US" sz="780" dirty="0"/>
          </a:p>
        </p:txBody>
      </p:sp>
      <p:sp>
        <p:nvSpPr>
          <p:cNvPr id="19" name="Text 15"/>
          <p:cNvSpPr/>
          <p:nvPr/>
        </p:nvSpPr>
        <p:spPr>
          <a:xfrm>
            <a:off x="578644" y="1684139"/>
            <a:ext cx="2085975"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Journal of Forecasting, 37(4), 1748-1764.</a:t>
            </a:r>
            <a:endParaRPr lang="en-US" sz="780" dirty="0"/>
          </a:p>
        </p:txBody>
      </p:sp>
      <p:sp>
        <p:nvSpPr>
          <p:cNvPr id="20" name="Shape 16"/>
          <p:cNvSpPr/>
          <p:nvPr/>
        </p:nvSpPr>
        <p:spPr>
          <a:xfrm>
            <a:off x="2752130" y="1685925"/>
            <a:ext cx="966192" cy="146447"/>
          </a:xfrm>
          <a:prstGeom prst="rect">
            <a:avLst/>
          </a:prstGeom>
          <a:solidFill>
            <a:srgbClr val="5698F2">
              <a:alpha val="15000"/>
            </a:srgbClr>
          </a:solidFill>
          <a:ln/>
        </p:spPr>
      </p:sp>
      <p:sp>
        <p:nvSpPr>
          <p:cNvPr id="21" name="Text 17"/>
          <p:cNvSpPr/>
          <p:nvPr/>
        </p:nvSpPr>
        <p:spPr>
          <a:xfrm>
            <a:off x="2752130" y="1685925"/>
            <a:ext cx="966192"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5698F2"/>
                </a:solidFill>
                <a:latin typeface="Inter" pitchFamily="34" charset="0"/>
                <a:ea typeface="Inter" pitchFamily="34" charset="-122"/>
                <a:cs typeface="Inter" pitchFamily="34" charset="-120"/>
              </a:rPr>
              <a:t>MODELO PROPOSTO</a:t>
            </a:r>
            <a:endParaRPr lang="en-US" sz="534" dirty="0"/>
          </a:p>
        </p:txBody>
      </p:sp>
      <p:sp>
        <p:nvSpPr>
          <p:cNvPr id="22" name="Text 18"/>
          <p:cNvSpPr/>
          <p:nvPr/>
        </p:nvSpPr>
        <p:spPr>
          <a:xfrm>
            <a:off x="578644" y="1977033"/>
            <a:ext cx="210741"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[25]</a:t>
            </a:r>
            <a:endParaRPr lang="en-US" sz="734" dirty="0"/>
          </a:p>
        </p:txBody>
      </p:sp>
      <p:sp>
        <p:nvSpPr>
          <p:cNvPr id="23" name="Text 19"/>
          <p:cNvSpPr/>
          <p:nvPr/>
        </p:nvSpPr>
        <p:spPr>
          <a:xfrm>
            <a:off x="862608" y="1977033"/>
            <a:ext cx="3118247"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Torres, M. E., Colominas, M. A., Schlotthauer, G., Flandrin, P.</a:t>
            </a:r>
            <a:endParaRPr lang="en-US" sz="734" dirty="0"/>
          </a:p>
        </p:txBody>
      </p:sp>
      <p:sp>
        <p:nvSpPr>
          <p:cNvPr id="24" name="Text 20"/>
          <p:cNvSpPr/>
          <p:nvPr/>
        </p:nvSpPr>
        <p:spPr>
          <a:xfrm>
            <a:off x="3980855" y="1977033"/>
            <a:ext cx="389334"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(2011).</a:t>
            </a:r>
            <a:endParaRPr lang="en-US" sz="780" dirty="0"/>
          </a:p>
        </p:txBody>
      </p:sp>
      <p:sp>
        <p:nvSpPr>
          <p:cNvPr id="25" name="Text 21"/>
          <p:cNvSpPr/>
          <p:nvPr/>
        </p:nvSpPr>
        <p:spPr>
          <a:xfrm>
            <a:off x="4370189" y="1977033"/>
            <a:ext cx="3891558"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"A Complete Ensemble Empirical Mode Decomposition with Adaptive Noise."</a:t>
            </a:r>
            <a:endParaRPr lang="en-US" sz="780" dirty="0"/>
          </a:p>
        </p:txBody>
      </p:sp>
      <p:sp>
        <p:nvSpPr>
          <p:cNvPr id="26" name="Text 22"/>
          <p:cNvSpPr/>
          <p:nvPr/>
        </p:nvSpPr>
        <p:spPr>
          <a:xfrm>
            <a:off x="8292108" y="1977033"/>
            <a:ext cx="221456"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IEEE</a:t>
            </a:r>
            <a:endParaRPr lang="en-US" sz="780" dirty="0"/>
          </a:p>
        </p:txBody>
      </p:sp>
      <p:sp>
        <p:nvSpPr>
          <p:cNvPr id="27" name="Text 23"/>
          <p:cNvSpPr/>
          <p:nvPr/>
        </p:nvSpPr>
        <p:spPr>
          <a:xfrm>
            <a:off x="578644" y="2137767"/>
            <a:ext cx="1194792"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ICASSP, pp. 4144-4147.</a:t>
            </a:r>
            <a:endParaRPr lang="en-US" sz="780" dirty="0"/>
          </a:p>
        </p:txBody>
      </p:sp>
      <p:sp>
        <p:nvSpPr>
          <p:cNvPr id="28" name="Shape 24"/>
          <p:cNvSpPr/>
          <p:nvPr/>
        </p:nvSpPr>
        <p:spPr>
          <a:xfrm>
            <a:off x="1860947" y="2139553"/>
            <a:ext cx="807244" cy="146447"/>
          </a:xfrm>
          <a:prstGeom prst="rect">
            <a:avLst/>
          </a:prstGeom>
          <a:solidFill>
            <a:srgbClr val="BB6BD9">
              <a:alpha val="15000"/>
            </a:srgbClr>
          </a:solidFill>
          <a:ln/>
        </p:spPr>
      </p:sp>
      <p:sp>
        <p:nvSpPr>
          <p:cNvPr id="29" name="Text 25"/>
          <p:cNvSpPr/>
          <p:nvPr/>
        </p:nvSpPr>
        <p:spPr>
          <a:xfrm>
            <a:off x="1860947" y="2139553"/>
            <a:ext cx="807244"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BB6BD9"/>
                </a:solidFill>
                <a:latin typeface="Inter" pitchFamily="34" charset="0"/>
                <a:ea typeface="Inter" pitchFamily="34" charset="-122"/>
                <a:cs typeface="Inter" pitchFamily="34" charset="-120"/>
              </a:rPr>
              <a:t>DECOMPOSIÇÃO</a:t>
            </a:r>
            <a:endParaRPr lang="en-US" sz="534" dirty="0"/>
          </a:p>
        </p:txBody>
      </p:sp>
      <p:sp>
        <p:nvSpPr>
          <p:cNvPr id="30" name="Text 26"/>
          <p:cNvSpPr/>
          <p:nvPr/>
        </p:nvSpPr>
        <p:spPr>
          <a:xfrm>
            <a:off x="578644" y="2430661"/>
            <a:ext cx="212527"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[26]</a:t>
            </a:r>
            <a:endParaRPr lang="en-US" sz="734" dirty="0"/>
          </a:p>
        </p:txBody>
      </p:sp>
      <p:sp>
        <p:nvSpPr>
          <p:cNvPr id="31" name="Text 27"/>
          <p:cNvSpPr/>
          <p:nvPr/>
        </p:nvSpPr>
        <p:spPr>
          <a:xfrm>
            <a:off x="864394" y="2430661"/>
            <a:ext cx="439341"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Gilles, J.</a:t>
            </a:r>
            <a:endParaRPr lang="en-US" sz="734" dirty="0"/>
          </a:p>
        </p:txBody>
      </p:sp>
      <p:sp>
        <p:nvSpPr>
          <p:cNvPr id="32" name="Text 28"/>
          <p:cNvSpPr/>
          <p:nvPr/>
        </p:nvSpPr>
        <p:spPr>
          <a:xfrm>
            <a:off x="1303734" y="2430661"/>
            <a:ext cx="412552"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(2013).</a:t>
            </a:r>
            <a:endParaRPr lang="en-US" sz="780" dirty="0"/>
          </a:p>
        </p:txBody>
      </p:sp>
      <p:sp>
        <p:nvSpPr>
          <p:cNvPr id="33" name="Text 29"/>
          <p:cNvSpPr/>
          <p:nvPr/>
        </p:nvSpPr>
        <p:spPr>
          <a:xfrm>
            <a:off x="1716286" y="2430661"/>
            <a:ext cx="1582341"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"Empirical Wavelet Transform."</a:t>
            </a:r>
            <a:endParaRPr lang="en-US" sz="780" dirty="0"/>
          </a:p>
        </p:txBody>
      </p:sp>
      <p:sp>
        <p:nvSpPr>
          <p:cNvPr id="34" name="Text 30"/>
          <p:cNvSpPr/>
          <p:nvPr/>
        </p:nvSpPr>
        <p:spPr>
          <a:xfrm>
            <a:off x="3328988" y="2430661"/>
            <a:ext cx="3007519"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IEEE Transactions on Signal Processing, 61(16), 3999-4010.</a:t>
            </a:r>
            <a:endParaRPr lang="en-US" sz="780" dirty="0"/>
          </a:p>
        </p:txBody>
      </p:sp>
      <p:sp>
        <p:nvSpPr>
          <p:cNvPr id="35" name="Shape 31"/>
          <p:cNvSpPr/>
          <p:nvPr/>
        </p:nvSpPr>
        <p:spPr>
          <a:xfrm>
            <a:off x="6424017" y="2432447"/>
            <a:ext cx="807244" cy="146447"/>
          </a:xfrm>
          <a:prstGeom prst="rect">
            <a:avLst/>
          </a:prstGeom>
          <a:solidFill>
            <a:srgbClr val="BB6BD9">
              <a:alpha val="15000"/>
            </a:srgbClr>
          </a:solidFill>
          <a:ln/>
        </p:spPr>
      </p:sp>
      <p:sp>
        <p:nvSpPr>
          <p:cNvPr id="36" name="Text 32"/>
          <p:cNvSpPr/>
          <p:nvPr/>
        </p:nvSpPr>
        <p:spPr>
          <a:xfrm>
            <a:off x="6424017" y="2432447"/>
            <a:ext cx="807244"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BB6BD9"/>
                </a:solidFill>
                <a:latin typeface="Inter" pitchFamily="34" charset="0"/>
                <a:ea typeface="Inter" pitchFamily="34" charset="-122"/>
                <a:cs typeface="Inter" pitchFamily="34" charset="-120"/>
              </a:rPr>
              <a:t>DECOMPOSIÇÃO</a:t>
            </a:r>
            <a:endParaRPr lang="en-US" sz="534" dirty="0"/>
          </a:p>
        </p:txBody>
      </p:sp>
      <p:sp>
        <p:nvSpPr>
          <p:cNvPr id="37" name="Text 33"/>
          <p:cNvSpPr/>
          <p:nvPr/>
        </p:nvSpPr>
        <p:spPr>
          <a:xfrm>
            <a:off x="578644" y="2723555"/>
            <a:ext cx="189309"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[12]</a:t>
            </a:r>
            <a:endParaRPr lang="en-US" sz="734" dirty="0"/>
          </a:p>
        </p:txBody>
      </p:sp>
      <p:sp>
        <p:nvSpPr>
          <p:cNvPr id="38" name="Text 34"/>
          <p:cNvSpPr/>
          <p:nvPr/>
        </p:nvSpPr>
        <p:spPr>
          <a:xfrm>
            <a:off x="841177" y="2723555"/>
            <a:ext cx="2071688"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Karijadi, I., Chou, S.-Y., Dewabharata, A.</a:t>
            </a:r>
            <a:endParaRPr lang="en-US" sz="734" dirty="0"/>
          </a:p>
        </p:txBody>
      </p:sp>
      <p:sp>
        <p:nvSpPr>
          <p:cNvPr id="39" name="Text 35"/>
          <p:cNvSpPr/>
          <p:nvPr/>
        </p:nvSpPr>
        <p:spPr>
          <a:xfrm>
            <a:off x="2912864" y="2723555"/>
            <a:ext cx="435769"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(2023).</a:t>
            </a:r>
            <a:endParaRPr lang="en-US" sz="780" dirty="0"/>
          </a:p>
        </p:txBody>
      </p:sp>
      <p:sp>
        <p:nvSpPr>
          <p:cNvPr id="40" name="Text 36"/>
          <p:cNvSpPr/>
          <p:nvPr/>
        </p:nvSpPr>
        <p:spPr>
          <a:xfrm>
            <a:off x="3348633" y="2723555"/>
            <a:ext cx="4279106"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"Wind Power Forecasting Based on Hybrid CEEMDAN-EWT Deep Learning Method."</a:t>
            </a:r>
            <a:endParaRPr lang="en-US" sz="780" dirty="0"/>
          </a:p>
        </p:txBody>
      </p:sp>
      <p:sp>
        <p:nvSpPr>
          <p:cNvPr id="41" name="Text 37"/>
          <p:cNvSpPr/>
          <p:nvPr/>
        </p:nvSpPr>
        <p:spPr>
          <a:xfrm>
            <a:off x="7658100" y="2723555"/>
            <a:ext cx="967978"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Renewable Energy,</a:t>
            </a:r>
            <a:endParaRPr lang="en-US" sz="780" dirty="0"/>
          </a:p>
        </p:txBody>
      </p:sp>
      <p:sp>
        <p:nvSpPr>
          <p:cNvPr id="42" name="Text 38"/>
          <p:cNvSpPr/>
          <p:nvPr/>
        </p:nvSpPr>
        <p:spPr>
          <a:xfrm>
            <a:off x="578644" y="2884289"/>
            <a:ext cx="594717"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218, 119357.</a:t>
            </a:r>
            <a:endParaRPr lang="en-US" sz="780" dirty="0"/>
          </a:p>
        </p:txBody>
      </p:sp>
      <p:sp>
        <p:nvSpPr>
          <p:cNvPr id="43" name="Shape 39"/>
          <p:cNvSpPr/>
          <p:nvPr/>
        </p:nvSpPr>
        <p:spPr>
          <a:xfrm>
            <a:off x="1260872" y="2886075"/>
            <a:ext cx="1210866" cy="146447"/>
          </a:xfrm>
          <a:prstGeom prst="rect">
            <a:avLst/>
          </a:prstGeom>
          <a:solidFill>
            <a:srgbClr val="5698F2">
              <a:alpha val="15000"/>
            </a:srgbClr>
          </a:solidFill>
          <a:ln/>
        </p:spPr>
      </p:sp>
      <p:sp>
        <p:nvSpPr>
          <p:cNvPr id="44" name="Text 40"/>
          <p:cNvSpPr/>
          <p:nvPr/>
        </p:nvSpPr>
        <p:spPr>
          <a:xfrm>
            <a:off x="1260872" y="2886075"/>
            <a:ext cx="1210866"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5698F2"/>
                </a:solidFill>
                <a:latin typeface="Inter" pitchFamily="34" charset="0"/>
                <a:ea typeface="Inter" pitchFamily="34" charset="-122"/>
                <a:cs typeface="Inter" pitchFamily="34" charset="-120"/>
              </a:rPr>
              <a:t>TRABALHO RELACIONADO</a:t>
            </a:r>
            <a:endParaRPr lang="en-US" sz="534" dirty="0"/>
          </a:p>
        </p:txBody>
      </p:sp>
      <p:sp>
        <p:nvSpPr>
          <p:cNvPr id="45" name="Text 41"/>
          <p:cNvSpPr/>
          <p:nvPr/>
        </p:nvSpPr>
        <p:spPr>
          <a:xfrm>
            <a:off x="578644" y="3177183"/>
            <a:ext cx="194667"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[10]</a:t>
            </a:r>
            <a:endParaRPr lang="en-US" sz="734" dirty="0"/>
          </a:p>
        </p:txBody>
      </p:sp>
      <p:sp>
        <p:nvSpPr>
          <p:cNvPr id="46" name="Text 42"/>
          <p:cNvSpPr/>
          <p:nvPr/>
        </p:nvSpPr>
        <p:spPr>
          <a:xfrm>
            <a:off x="846534" y="3177183"/>
            <a:ext cx="2168128"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Vaswani, A., Shazeer, N., Parmar, N., et al.</a:t>
            </a:r>
            <a:endParaRPr lang="en-US" sz="734" dirty="0"/>
          </a:p>
        </p:txBody>
      </p:sp>
      <p:sp>
        <p:nvSpPr>
          <p:cNvPr id="47" name="Text 43"/>
          <p:cNvSpPr/>
          <p:nvPr/>
        </p:nvSpPr>
        <p:spPr>
          <a:xfrm>
            <a:off x="3014663" y="3177183"/>
            <a:ext cx="407194"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(2017).</a:t>
            </a:r>
            <a:endParaRPr lang="en-US" sz="780" dirty="0"/>
          </a:p>
        </p:txBody>
      </p:sp>
      <p:sp>
        <p:nvSpPr>
          <p:cNvPr id="48" name="Text 44"/>
          <p:cNvSpPr/>
          <p:nvPr/>
        </p:nvSpPr>
        <p:spPr>
          <a:xfrm>
            <a:off x="3421856" y="3177183"/>
            <a:ext cx="1364456"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"Attention Is All You Need."</a:t>
            </a:r>
            <a:endParaRPr lang="en-US" sz="780" dirty="0"/>
          </a:p>
        </p:txBody>
      </p:sp>
      <p:sp>
        <p:nvSpPr>
          <p:cNvPr id="49" name="Text 45"/>
          <p:cNvSpPr/>
          <p:nvPr/>
        </p:nvSpPr>
        <p:spPr>
          <a:xfrm>
            <a:off x="4816673" y="3177183"/>
            <a:ext cx="907256"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arXiv:1706.03762.</a:t>
            </a:r>
            <a:endParaRPr lang="en-US" sz="780" dirty="0"/>
          </a:p>
        </p:txBody>
      </p:sp>
      <p:sp>
        <p:nvSpPr>
          <p:cNvPr id="50" name="Shape 46"/>
          <p:cNvSpPr/>
          <p:nvPr/>
        </p:nvSpPr>
        <p:spPr>
          <a:xfrm>
            <a:off x="5811441" y="3178969"/>
            <a:ext cx="976908" cy="146447"/>
          </a:xfrm>
          <a:prstGeom prst="rect">
            <a:avLst/>
          </a:prstGeom>
          <a:solidFill>
            <a:srgbClr val="5698F2">
              <a:alpha val="15000"/>
            </a:srgbClr>
          </a:solidFill>
          <a:ln/>
        </p:spPr>
      </p:sp>
      <p:sp>
        <p:nvSpPr>
          <p:cNvPr id="51" name="Text 47"/>
          <p:cNvSpPr/>
          <p:nvPr/>
        </p:nvSpPr>
        <p:spPr>
          <a:xfrm>
            <a:off x="5811441" y="3178969"/>
            <a:ext cx="976908"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5698F2"/>
                </a:solidFill>
                <a:latin typeface="Inter" pitchFamily="34" charset="0"/>
                <a:ea typeface="Inter" pitchFamily="34" charset="-122"/>
                <a:cs typeface="Inter" pitchFamily="34" charset="-120"/>
              </a:rPr>
              <a:t>FUNDAÇÃO TEÓRICA</a:t>
            </a:r>
            <a:endParaRPr lang="en-US" sz="534" dirty="0"/>
          </a:p>
        </p:txBody>
      </p:sp>
      <p:sp>
        <p:nvSpPr>
          <p:cNvPr id="52" name="Text 48"/>
          <p:cNvSpPr/>
          <p:nvPr/>
        </p:nvSpPr>
        <p:spPr>
          <a:xfrm>
            <a:off x="578644" y="3470077"/>
            <a:ext cx="216098"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[45]</a:t>
            </a:r>
            <a:endParaRPr lang="en-US" sz="734" dirty="0"/>
          </a:p>
        </p:txBody>
      </p:sp>
      <p:sp>
        <p:nvSpPr>
          <p:cNvPr id="53" name="Text 49"/>
          <p:cNvSpPr/>
          <p:nvPr/>
        </p:nvSpPr>
        <p:spPr>
          <a:xfrm>
            <a:off x="867966" y="3470077"/>
            <a:ext cx="1600200"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Hochreiter, S., Schmidhuber, J.</a:t>
            </a:r>
            <a:endParaRPr lang="en-US" sz="734" dirty="0"/>
          </a:p>
        </p:txBody>
      </p:sp>
      <p:sp>
        <p:nvSpPr>
          <p:cNvPr id="54" name="Text 50"/>
          <p:cNvSpPr/>
          <p:nvPr/>
        </p:nvSpPr>
        <p:spPr>
          <a:xfrm>
            <a:off x="2468166" y="3470077"/>
            <a:ext cx="403622"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(1997).</a:t>
            </a:r>
            <a:endParaRPr lang="en-US" sz="780" dirty="0"/>
          </a:p>
        </p:txBody>
      </p:sp>
      <p:sp>
        <p:nvSpPr>
          <p:cNvPr id="55" name="Text 51"/>
          <p:cNvSpPr/>
          <p:nvPr/>
        </p:nvSpPr>
        <p:spPr>
          <a:xfrm>
            <a:off x="2871788" y="3470077"/>
            <a:ext cx="1426964"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"Long Short-Term Memory."</a:t>
            </a:r>
            <a:endParaRPr lang="en-US" sz="780" dirty="0"/>
          </a:p>
        </p:txBody>
      </p:sp>
      <p:sp>
        <p:nvSpPr>
          <p:cNvPr id="56" name="Text 52"/>
          <p:cNvSpPr/>
          <p:nvPr/>
        </p:nvSpPr>
        <p:spPr>
          <a:xfrm>
            <a:off x="4329113" y="3470077"/>
            <a:ext cx="1893094"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Neural Computation, 9(8), 1735-1780.</a:t>
            </a:r>
            <a:endParaRPr lang="en-US" sz="780" dirty="0"/>
          </a:p>
        </p:txBody>
      </p:sp>
      <p:sp>
        <p:nvSpPr>
          <p:cNvPr id="57" name="Shape 53"/>
          <p:cNvSpPr/>
          <p:nvPr/>
        </p:nvSpPr>
        <p:spPr>
          <a:xfrm>
            <a:off x="6309717" y="3471863"/>
            <a:ext cx="659011" cy="146447"/>
          </a:xfrm>
          <a:prstGeom prst="rect">
            <a:avLst/>
          </a:prstGeom>
          <a:solidFill>
            <a:srgbClr val="5698F2">
              <a:alpha val="15000"/>
            </a:srgbClr>
          </a:solidFill>
          <a:ln/>
        </p:spPr>
      </p:sp>
      <p:sp>
        <p:nvSpPr>
          <p:cNvPr id="58" name="Text 54"/>
          <p:cNvSpPr/>
          <p:nvPr/>
        </p:nvSpPr>
        <p:spPr>
          <a:xfrm>
            <a:off x="6309717" y="3471863"/>
            <a:ext cx="659011"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5698F2"/>
                </a:solidFill>
                <a:latin typeface="Inter" pitchFamily="34" charset="0"/>
                <a:ea typeface="Inter" pitchFamily="34" charset="-122"/>
                <a:cs typeface="Inter" pitchFamily="34" charset="-120"/>
              </a:rPr>
              <a:t>BENCHMARK</a:t>
            </a:r>
            <a:endParaRPr lang="en-US" sz="534"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85763"/>
            <a:ext cx="4230886" cy="296466"/>
          </a:xfrm>
          <a:prstGeom prst="rect">
            <a:avLst/>
          </a:prstGeom>
          <a:noFill/>
          <a:ln/>
        </p:spPr>
        <p:txBody>
          <a:bodyPr wrap="none" lIns="0" tIns="0" rIns="0" bIns="0" rtlCol="0" anchor="t">
            <a:spAutoFit/>
          </a:bodyPr>
          <a:lstStyle/>
          <a:p>
            <a:pPr algn="l" indent="0" marL="0">
              <a:lnSpc>
                <a:spcPts val="2300"/>
              </a:lnSpc>
              <a:buNone/>
            </a:pPr>
            <a:r>
              <a:rPr lang="en-US" sz="1705" b="1" spc="1" kern="0" dirty="0">
                <a:solidFill>
                  <a:srgbClr val="F2C94C"/>
                </a:solidFill>
                <a:latin typeface="Montserrat" pitchFamily="34" charset="0"/>
                <a:ea typeface="Montserrat" pitchFamily="34" charset="-122"/>
                <a:cs typeface="Montserrat" pitchFamily="34" charset="-120"/>
              </a:rPr>
              <a:t>REFERÊNCIAS BIBLIOGRÁFICAS</a:t>
            </a:r>
            <a:endParaRPr lang="en-US" sz="1705" dirty="0"/>
          </a:p>
        </p:txBody>
      </p:sp>
      <p:sp>
        <p:nvSpPr>
          <p:cNvPr id="4" name="Text 1"/>
          <p:cNvSpPr/>
          <p:nvPr/>
        </p:nvSpPr>
        <p:spPr>
          <a:xfrm>
            <a:off x="8472488" y="510778"/>
            <a:ext cx="24288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E8EDF2">
                    <a:alpha val="50000"/>
                  </a:srgbClr>
                </a:solidFill>
                <a:latin typeface="Inter" pitchFamily="34" charset="0"/>
                <a:ea typeface="Inter" pitchFamily="34" charset="-122"/>
                <a:cs typeface="Inter" pitchFamily="34" charset="-120"/>
              </a:rPr>
              <a:t>2 / 2</a:t>
            </a:r>
            <a:endParaRPr lang="en-US" sz="784" dirty="0"/>
          </a:p>
        </p:txBody>
      </p:sp>
      <p:sp>
        <p:nvSpPr>
          <p:cNvPr id="5" name="Text 2"/>
          <p:cNvSpPr/>
          <p:nvPr/>
        </p:nvSpPr>
        <p:spPr>
          <a:xfrm>
            <a:off x="578644" y="1069777"/>
            <a:ext cx="214313"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[24]</a:t>
            </a:r>
            <a:endParaRPr lang="en-US" sz="734" dirty="0"/>
          </a:p>
        </p:txBody>
      </p:sp>
      <p:sp>
        <p:nvSpPr>
          <p:cNvPr id="6" name="Text 3"/>
          <p:cNvSpPr/>
          <p:nvPr/>
        </p:nvSpPr>
        <p:spPr>
          <a:xfrm>
            <a:off x="866180" y="1069777"/>
            <a:ext cx="2044898"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Huang, N. E., Shen, Z., Long, S. R., et al.</a:t>
            </a:r>
            <a:endParaRPr lang="en-US" sz="734" dirty="0"/>
          </a:p>
        </p:txBody>
      </p:sp>
      <p:sp>
        <p:nvSpPr>
          <p:cNvPr id="7" name="Text 4"/>
          <p:cNvSpPr/>
          <p:nvPr/>
        </p:nvSpPr>
        <p:spPr>
          <a:xfrm>
            <a:off x="2911078" y="1069777"/>
            <a:ext cx="410766"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(1998).</a:t>
            </a:r>
            <a:endParaRPr lang="en-US" sz="780" dirty="0"/>
          </a:p>
        </p:txBody>
      </p:sp>
      <p:sp>
        <p:nvSpPr>
          <p:cNvPr id="8" name="Text 5"/>
          <p:cNvSpPr/>
          <p:nvPr/>
        </p:nvSpPr>
        <p:spPr>
          <a:xfrm>
            <a:off x="3321844" y="1069777"/>
            <a:ext cx="5152430"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"The Empirical Mode Decomposition and the Hilbert Spectrum for Nonlinear and Non-stationary Time</a:t>
            </a:r>
            <a:endParaRPr lang="en-US" sz="780" dirty="0"/>
          </a:p>
        </p:txBody>
      </p:sp>
      <p:sp>
        <p:nvSpPr>
          <p:cNvPr id="9" name="Text 6"/>
          <p:cNvSpPr/>
          <p:nvPr/>
        </p:nvSpPr>
        <p:spPr>
          <a:xfrm>
            <a:off x="578644" y="1230511"/>
            <a:ext cx="846534"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Series Analysis."</a:t>
            </a:r>
            <a:endParaRPr lang="en-US" sz="780" dirty="0"/>
          </a:p>
        </p:txBody>
      </p:sp>
      <p:sp>
        <p:nvSpPr>
          <p:cNvPr id="10" name="Text 7"/>
          <p:cNvSpPr/>
          <p:nvPr/>
        </p:nvSpPr>
        <p:spPr>
          <a:xfrm>
            <a:off x="1455539" y="1230511"/>
            <a:ext cx="2719983"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Proc. Royal Society of London A, 454(1971), 903-995.</a:t>
            </a:r>
            <a:endParaRPr lang="en-US" sz="780" dirty="0"/>
          </a:p>
        </p:txBody>
      </p:sp>
      <p:sp>
        <p:nvSpPr>
          <p:cNvPr id="11" name="Shape 8"/>
          <p:cNvSpPr/>
          <p:nvPr/>
        </p:nvSpPr>
        <p:spPr>
          <a:xfrm>
            <a:off x="4263033" y="1232297"/>
            <a:ext cx="807244" cy="146447"/>
          </a:xfrm>
          <a:prstGeom prst="rect">
            <a:avLst/>
          </a:prstGeom>
          <a:solidFill>
            <a:srgbClr val="BB6BD9">
              <a:alpha val="15000"/>
            </a:srgbClr>
          </a:solidFill>
          <a:ln/>
        </p:spPr>
      </p:sp>
      <p:sp>
        <p:nvSpPr>
          <p:cNvPr id="12" name="Text 9"/>
          <p:cNvSpPr/>
          <p:nvPr/>
        </p:nvSpPr>
        <p:spPr>
          <a:xfrm>
            <a:off x="4263033" y="1232297"/>
            <a:ext cx="807244"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BB6BD9"/>
                </a:solidFill>
                <a:latin typeface="Inter" pitchFamily="34" charset="0"/>
                <a:ea typeface="Inter" pitchFamily="34" charset="-122"/>
                <a:cs typeface="Inter" pitchFamily="34" charset="-120"/>
              </a:rPr>
              <a:t>DECOMPOSIÇÃO</a:t>
            </a:r>
            <a:endParaRPr lang="en-US" sz="534" dirty="0"/>
          </a:p>
        </p:txBody>
      </p:sp>
      <p:sp>
        <p:nvSpPr>
          <p:cNvPr id="13" name="Text 10"/>
          <p:cNvSpPr/>
          <p:nvPr/>
        </p:nvSpPr>
        <p:spPr>
          <a:xfrm>
            <a:off x="578644" y="1523405"/>
            <a:ext cx="212527"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[28]</a:t>
            </a:r>
            <a:endParaRPr lang="en-US" sz="734" dirty="0"/>
          </a:p>
        </p:txBody>
      </p:sp>
      <p:sp>
        <p:nvSpPr>
          <p:cNvPr id="14" name="Text 11"/>
          <p:cNvSpPr/>
          <p:nvPr/>
        </p:nvSpPr>
        <p:spPr>
          <a:xfrm>
            <a:off x="864394" y="1523405"/>
            <a:ext cx="853678"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Hong, Y., Fan, S.</a:t>
            </a:r>
            <a:endParaRPr lang="en-US" sz="734" dirty="0"/>
          </a:p>
        </p:txBody>
      </p:sp>
      <p:sp>
        <p:nvSpPr>
          <p:cNvPr id="15" name="Text 12"/>
          <p:cNvSpPr/>
          <p:nvPr/>
        </p:nvSpPr>
        <p:spPr>
          <a:xfrm>
            <a:off x="1718072" y="1523405"/>
            <a:ext cx="437555"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(2020).</a:t>
            </a:r>
            <a:endParaRPr lang="en-US" sz="780" dirty="0"/>
          </a:p>
        </p:txBody>
      </p:sp>
      <p:sp>
        <p:nvSpPr>
          <p:cNvPr id="16" name="Text 13"/>
          <p:cNvSpPr/>
          <p:nvPr/>
        </p:nvSpPr>
        <p:spPr>
          <a:xfrm>
            <a:off x="2155627" y="1523405"/>
            <a:ext cx="2537817"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"Probabilistic Wind Power Forecasting: A Review."</a:t>
            </a:r>
            <a:endParaRPr lang="en-US" sz="780" dirty="0"/>
          </a:p>
        </p:txBody>
      </p:sp>
      <p:sp>
        <p:nvSpPr>
          <p:cNvPr id="17" name="Text 14"/>
          <p:cNvSpPr/>
          <p:nvPr/>
        </p:nvSpPr>
        <p:spPr>
          <a:xfrm>
            <a:off x="4723805" y="1523405"/>
            <a:ext cx="1528763"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Energy Reports, 6, 1322-1340.</a:t>
            </a:r>
            <a:endParaRPr lang="en-US" sz="780" dirty="0"/>
          </a:p>
        </p:txBody>
      </p:sp>
      <p:sp>
        <p:nvSpPr>
          <p:cNvPr id="18" name="Shape 15"/>
          <p:cNvSpPr/>
          <p:nvPr/>
        </p:nvSpPr>
        <p:spPr>
          <a:xfrm>
            <a:off x="6340078" y="1525191"/>
            <a:ext cx="1259086" cy="146447"/>
          </a:xfrm>
          <a:prstGeom prst="rect">
            <a:avLst/>
          </a:prstGeom>
          <a:solidFill>
            <a:srgbClr val="27AE60">
              <a:alpha val="15000"/>
            </a:srgbClr>
          </a:solidFill>
          <a:ln/>
        </p:spPr>
      </p:sp>
      <p:sp>
        <p:nvSpPr>
          <p:cNvPr id="19" name="Text 16"/>
          <p:cNvSpPr/>
          <p:nvPr/>
        </p:nvSpPr>
        <p:spPr>
          <a:xfrm>
            <a:off x="6340078" y="1525191"/>
            <a:ext cx="1259086"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27AE60"/>
                </a:solidFill>
                <a:latin typeface="Inter" pitchFamily="34" charset="0"/>
                <a:ea typeface="Inter" pitchFamily="34" charset="-122"/>
                <a:cs typeface="Inter" pitchFamily="34" charset="-120"/>
              </a:rPr>
              <a:t>PREVISÃO PROBABILÍSTICA</a:t>
            </a:r>
            <a:endParaRPr lang="en-US" sz="534" dirty="0"/>
          </a:p>
        </p:txBody>
      </p:sp>
      <p:sp>
        <p:nvSpPr>
          <p:cNvPr id="20" name="Text 17"/>
          <p:cNvSpPr/>
          <p:nvPr/>
        </p:nvSpPr>
        <p:spPr>
          <a:xfrm>
            <a:off x="578644" y="1816298"/>
            <a:ext cx="185738"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[17]</a:t>
            </a:r>
            <a:endParaRPr lang="en-US" sz="734" dirty="0"/>
          </a:p>
        </p:txBody>
      </p:sp>
      <p:sp>
        <p:nvSpPr>
          <p:cNvPr id="21" name="Text 18"/>
          <p:cNvSpPr/>
          <p:nvPr/>
        </p:nvSpPr>
        <p:spPr>
          <a:xfrm>
            <a:off x="837605" y="1816298"/>
            <a:ext cx="2107406"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He, W., Jacobsen, G., Anderson, T., et al.</a:t>
            </a:r>
            <a:endParaRPr lang="en-US" sz="734" dirty="0"/>
          </a:p>
        </p:txBody>
      </p:sp>
      <p:sp>
        <p:nvSpPr>
          <p:cNvPr id="22" name="Text 19"/>
          <p:cNvSpPr/>
          <p:nvPr/>
        </p:nvSpPr>
        <p:spPr>
          <a:xfrm>
            <a:off x="2945011" y="1816298"/>
            <a:ext cx="414338"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(2010).</a:t>
            </a:r>
            <a:endParaRPr lang="en-US" sz="780" dirty="0"/>
          </a:p>
        </p:txBody>
      </p:sp>
      <p:sp>
        <p:nvSpPr>
          <p:cNvPr id="23" name="Text 20"/>
          <p:cNvSpPr/>
          <p:nvPr/>
        </p:nvSpPr>
        <p:spPr>
          <a:xfrm>
            <a:off x="3359348" y="1816298"/>
            <a:ext cx="3982641"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"The Potential of Integrating Wind Power with Offshore Oil and Gas Platforms."</a:t>
            </a:r>
            <a:endParaRPr lang="en-US" sz="780" dirty="0"/>
          </a:p>
        </p:txBody>
      </p:sp>
      <p:sp>
        <p:nvSpPr>
          <p:cNvPr id="24" name="Text 21"/>
          <p:cNvSpPr/>
          <p:nvPr/>
        </p:nvSpPr>
        <p:spPr>
          <a:xfrm>
            <a:off x="7372350" y="1816298"/>
            <a:ext cx="1268016"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Wind Engineering, 34(2),</a:t>
            </a:r>
            <a:endParaRPr lang="en-US" sz="780" dirty="0"/>
          </a:p>
        </p:txBody>
      </p:sp>
      <p:sp>
        <p:nvSpPr>
          <p:cNvPr id="25" name="Text 22"/>
          <p:cNvSpPr/>
          <p:nvPr/>
        </p:nvSpPr>
        <p:spPr>
          <a:xfrm>
            <a:off x="578644" y="1977033"/>
            <a:ext cx="410766"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125-137.</a:t>
            </a:r>
            <a:endParaRPr lang="en-US" sz="780" dirty="0"/>
          </a:p>
        </p:txBody>
      </p:sp>
      <p:sp>
        <p:nvSpPr>
          <p:cNvPr id="26" name="Shape 23"/>
          <p:cNvSpPr/>
          <p:nvPr/>
        </p:nvSpPr>
        <p:spPr>
          <a:xfrm>
            <a:off x="1076920" y="1978819"/>
            <a:ext cx="1060847" cy="146447"/>
          </a:xfrm>
          <a:prstGeom prst="rect">
            <a:avLst/>
          </a:prstGeom>
          <a:solidFill>
            <a:srgbClr val="BB6BD9">
              <a:alpha val="15000"/>
            </a:srgbClr>
          </a:solidFill>
          <a:ln/>
        </p:spPr>
      </p:sp>
      <p:sp>
        <p:nvSpPr>
          <p:cNvPr id="27" name="Text 24"/>
          <p:cNvSpPr/>
          <p:nvPr/>
        </p:nvSpPr>
        <p:spPr>
          <a:xfrm>
            <a:off x="1076920" y="1978819"/>
            <a:ext cx="1060847"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BB6BD9"/>
                </a:solidFill>
                <a:latin typeface="Inter" pitchFamily="34" charset="0"/>
                <a:ea typeface="Inter" pitchFamily="34" charset="-122"/>
                <a:cs typeface="Inter" pitchFamily="34" charset="-120"/>
              </a:rPr>
              <a:t>CONTEXTO OFFSHORE</a:t>
            </a:r>
            <a:endParaRPr lang="en-US" sz="534" dirty="0"/>
          </a:p>
        </p:txBody>
      </p:sp>
      <p:sp>
        <p:nvSpPr>
          <p:cNvPr id="28" name="Text 25"/>
          <p:cNvSpPr/>
          <p:nvPr/>
        </p:nvSpPr>
        <p:spPr>
          <a:xfrm>
            <a:off x="578644" y="2269927"/>
            <a:ext cx="191095"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[16]</a:t>
            </a:r>
            <a:endParaRPr lang="en-US" sz="734" dirty="0"/>
          </a:p>
        </p:txBody>
      </p:sp>
      <p:sp>
        <p:nvSpPr>
          <p:cNvPr id="29" name="Text 26"/>
          <p:cNvSpPr/>
          <p:nvPr/>
        </p:nvSpPr>
        <p:spPr>
          <a:xfrm>
            <a:off x="842963" y="2269927"/>
            <a:ext cx="2762845"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Schetinger, A. M., Bozelli, H. B., Amaral, J. M. T., et al.</a:t>
            </a:r>
            <a:endParaRPr lang="en-US" sz="734" dirty="0"/>
          </a:p>
        </p:txBody>
      </p:sp>
      <p:sp>
        <p:nvSpPr>
          <p:cNvPr id="30" name="Text 27"/>
          <p:cNvSpPr/>
          <p:nvPr/>
        </p:nvSpPr>
        <p:spPr>
          <a:xfrm>
            <a:off x="3605808" y="2269927"/>
            <a:ext cx="433983"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(2025).</a:t>
            </a:r>
            <a:endParaRPr lang="en-US" sz="780" dirty="0"/>
          </a:p>
        </p:txBody>
      </p:sp>
      <p:sp>
        <p:nvSpPr>
          <p:cNvPr id="31" name="Text 28"/>
          <p:cNvSpPr/>
          <p:nvPr/>
        </p:nvSpPr>
        <p:spPr>
          <a:xfrm>
            <a:off x="4039791" y="2269927"/>
            <a:ext cx="3887986"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"Floating Offshore Wind and Carbon Credits in Brazil: A Case Study on FPSO</a:t>
            </a:r>
            <a:endParaRPr lang="en-US" sz="780" dirty="0"/>
          </a:p>
        </p:txBody>
      </p:sp>
      <p:sp>
        <p:nvSpPr>
          <p:cNvPr id="32" name="Text 29"/>
          <p:cNvSpPr/>
          <p:nvPr/>
        </p:nvSpPr>
        <p:spPr>
          <a:xfrm>
            <a:off x="578644" y="2430661"/>
            <a:ext cx="905470"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Decarbonization."</a:t>
            </a:r>
            <a:endParaRPr lang="en-US" sz="780" dirty="0"/>
          </a:p>
        </p:txBody>
      </p:sp>
      <p:sp>
        <p:nvSpPr>
          <p:cNvPr id="33" name="Text 30"/>
          <p:cNvSpPr/>
          <p:nvPr/>
        </p:nvSpPr>
        <p:spPr>
          <a:xfrm>
            <a:off x="1514475" y="2430661"/>
            <a:ext cx="1069777"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Resources, 14(6), 85.</a:t>
            </a:r>
            <a:endParaRPr lang="en-US" sz="780" dirty="0"/>
          </a:p>
        </p:txBody>
      </p:sp>
      <p:sp>
        <p:nvSpPr>
          <p:cNvPr id="34" name="Shape 31"/>
          <p:cNvSpPr/>
          <p:nvPr/>
        </p:nvSpPr>
        <p:spPr>
          <a:xfrm>
            <a:off x="2671763" y="2432447"/>
            <a:ext cx="682228" cy="146447"/>
          </a:xfrm>
          <a:prstGeom prst="rect">
            <a:avLst/>
          </a:prstGeom>
          <a:solidFill>
            <a:srgbClr val="BB6BD9">
              <a:alpha val="15000"/>
            </a:srgbClr>
          </a:solidFill>
          <a:ln/>
        </p:spPr>
      </p:sp>
      <p:sp>
        <p:nvSpPr>
          <p:cNvPr id="35" name="Text 32"/>
          <p:cNvSpPr/>
          <p:nvPr/>
        </p:nvSpPr>
        <p:spPr>
          <a:xfrm>
            <a:off x="2671763" y="2432447"/>
            <a:ext cx="682228"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BB6BD9"/>
                </a:solidFill>
                <a:latin typeface="Inter" pitchFamily="34" charset="0"/>
                <a:ea typeface="Inter" pitchFamily="34" charset="-122"/>
                <a:cs typeface="Inter" pitchFamily="34" charset="-120"/>
              </a:rPr>
              <a:t>FPSO / LAFAE</a:t>
            </a:r>
            <a:endParaRPr lang="en-US" sz="534" dirty="0"/>
          </a:p>
        </p:txBody>
      </p:sp>
      <p:sp>
        <p:nvSpPr>
          <p:cNvPr id="36" name="Text 33"/>
          <p:cNvSpPr/>
          <p:nvPr/>
        </p:nvSpPr>
        <p:spPr>
          <a:xfrm>
            <a:off x="578644" y="2723555"/>
            <a:ext cx="191095"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[41]</a:t>
            </a:r>
            <a:endParaRPr lang="en-US" sz="734" dirty="0"/>
          </a:p>
        </p:txBody>
      </p:sp>
      <p:sp>
        <p:nvSpPr>
          <p:cNvPr id="37" name="Text 34"/>
          <p:cNvSpPr/>
          <p:nvPr/>
        </p:nvSpPr>
        <p:spPr>
          <a:xfrm>
            <a:off x="842963" y="2723555"/>
            <a:ext cx="530423"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Kundur, P.</a:t>
            </a:r>
            <a:endParaRPr lang="en-US" sz="734" dirty="0"/>
          </a:p>
        </p:txBody>
      </p:sp>
      <p:sp>
        <p:nvSpPr>
          <p:cNvPr id="38" name="Text 35"/>
          <p:cNvSpPr/>
          <p:nvPr/>
        </p:nvSpPr>
        <p:spPr>
          <a:xfrm>
            <a:off x="1373386" y="2723555"/>
            <a:ext cx="414338"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(1994).</a:t>
            </a:r>
            <a:endParaRPr lang="en-US" sz="780" dirty="0"/>
          </a:p>
        </p:txBody>
      </p:sp>
      <p:sp>
        <p:nvSpPr>
          <p:cNvPr id="39" name="Text 36"/>
          <p:cNvSpPr/>
          <p:nvPr/>
        </p:nvSpPr>
        <p:spPr>
          <a:xfrm>
            <a:off x="1787723" y="2723555"/>
            <a:ext cx="1818084"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Power System Stability and Control.</a:t>
            </a:r>
            <a:endParaRPr lang="en-US" sz="780" dirty="0"/>
          </a:p>
        </p:txBody>
      </p:sp>
      <p:sp>
        <p:nvSpPr>
          <p:cNvPr id="40" name="Text 37"/>
          <p:cNvSpPr/>
          <p:nvPr/>
        </p:nvSpPr>
        <p:spPr>
          <a:xfrm>
            <a:off x="3636169" y="2723555"/>
            <a:ext cx="1218009"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New York: McGraw-Hill.</a:t>
            </a:r>
            <a:endParaRPr lang="en-US" sz="780" dirty="0"/>
          </a:p>
        </p:txBody>
      </p:sp>
      <p:sp>
        <p:nvSpPr>
          <p:cNvPr id="41" name="Shape 38"/>
          <p:cNvSpPr/>
          <p:nvPr/>
        </p:nvSpPr>
        <p:spPr>
          <a:xfrm>
            <a:off x="4941689" y="2725341"/>
            <a:ext cx="1141214" cy="146447"/>
          </a:xfrm>
          <a:prstGeom prst="rect">
            <a:avLst/>
          </a:prstGeom>
          <a:solidFill>
            <a:srgbClr val="F2994A">
              <a:alpha val="15000"/>
            </a:srgbClr>
          </a:solidFill>
          <a:ln/>
        </p:spPr>
      </p:sp>
      <p:sp>
        <p:nvSpPr>
          <p:cNvPr id="42" name="Text 39"/>
          <p:cNvSpPr/>
          <p:nvPr/>
        </p:nvSpPr>
        <p:spPr>
          <a:xfrm>
            <a:off x="4941689" y="2725341"/>
            <a:ext cx="1141214"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F2994A"/>
                </a:solidFill>
                <a:latin typeface="Inter" pitchFamily="34" charset="0"/>
                <a:ea typeface="Inter" pitchFamily="34" charset="-122"/>
                <a:cs typeface="Inter" pitchFamily="34" charset="-120"/>
              </a:rPr>
              <a:t>SISTEMAS DE POTÊNCIA</a:t>
            </a:r>
            <a:endParaRPr lang="en-US" sz="534" dirty="0"/>
          </a:p>
        </p:txBody>
      </p:sp>
      <p:sp>
        <p:nvSpPr>
          <p:cNvPr id="43" name="Text 40"/>
          <p:cNvSpPr/>
          <p:nvPr/>
        </p:nvSpPr>
        <p:spPr>
          <a:xfrm>
            <a:off x="578644" y="3016448"/>
            <a:ext cx="217884"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[64]</a:t>
            </a:r>
            <a:endParaRPr lang="en-US" sz="734" dirty="0"/>
          </a:p>
        </p:txBody>
      </p:sp>
      <p:sp>
        <p:nvSpPr>
          <p:cNvPr id="44" name="Text 41"/>
          <p:cNvSpPr/>
          <p:nvPr/>
        </p:nvSpPr>
        <p:spPr>
          <a:xfrm>
            <a:off x="869752" y="3016448"/>
            <a:ext cx="2669977"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Akiba, T., Sano, S., Yanase, T., Ohta, T., Koyama, M.</a:t>
            </a:r>
            <a:endParaRPr lang="en-US" sz="734" dirty="0"/>
          </a:p>
        </p:txBody>
      </p:sp>
      <p:sp>
        <p:nvSpPr>
          <p:cNvPr id="45" name="Text 42"/>
          <p:cNvSpPr/>
          <p:nvPr/>
        </p:nvSpPr>
        <p:spPr>
          <a:xfrm>
            <a:off x="3539728" y="3016448"/>
            <a:ext cx="412552"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(2019).</a:t>
            </a:r>
            <a:endParaRPr lang="en-US" sz="780" dirty="0"/>
          </a:p>
        </p:txBody>
      </p:sp>
      <p:sp>
        <p:nvSpPr>
          <p:cNvPr id="46" name="Text 43"/>
          <p:cNvSpPr/>
          <p:nvPr/>
        </p:nvSpPr>
        <p:spPr>
          <a:xfrm>
            <a:off x="3952280" y="3016448"/>
            <a:ext cx="3623667"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"Optuna: A Next-generation Hyperparameter Optimization Framework."</a:t>
            </a:r>
            <a:endParaRPr lang="en-US" sz="780" dirty="0"/>
          </a:p>
        </p:txBody>
      </p:sp>
      <p:sp>
        <p:nvSpPr>
          <p:cNvPr id="47" name="Text 44"/>
          <p:cNvSpPr/>
          <p:nvPr/>
        </p:nvSpPr>
        <p:spPr>
          <a:xfrm>
            <a:off x="7606308" y="3016448"/>
            <a:ext cx="796528"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Proc. 25th ACM</a:t>
            </a:r>
            <a:endParaRPr lang="en-US" sz="780" dirty="0"/>
          </a:p>
        </p:txBody>
      </p:sp>
      <p:sp>
        <p:nvSpPr>
          <p:cNvPr id="48" name="Text 45"/>
          <p:cNvSpPr/>
          <p:nvPr/>
        </p:nvSpPr>
        <p:spPr>
          <a:xfrm>
            <a:off x="578644" y="3177183"/>
            <a:ext cx="1234083"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SIGKDD, pp. 2623-2631.</a:t>
            </a:r>
            <a:endParaRPr lang="en-US" sz="780" dirty="0"/>
          </a:p>
        </p:txBody>
      </p:sp>
      <p:sp>
        <p:nvSpPr>
          <p:cNvPr id="49" name="Shape 46"/>
          <p:cNvSpPr/>
          <p:nvPr/>
        </p:nvSpPr>
        <p:spPr>
          <a:xfrm>
            <a:off x="1900238" y="3178969"/>
            <a:ext cx="651867" cy="146447"/>
          </a:xfrm>
          <a:prstGeom prst="rect">
            <a:avLst/>
          </a:prstGeom>
          <a:solidFill>
            <a:srgbClr val="5698F2">
              <a:alpha val="15000"/>
            </a:srgbClr>
          </a:solidFill>
          <a:ln/>
        </p:spPr>
      </p:sp>
      <p:sp>
        <p:nvSpPr>
          <p:cNvPr id="50" name="Text 47"/>
          <p:cNvSpPr/>
          <p:nvPr/>
        </p:nvSpPr>
        <p:spPr>
          <a:xfrm>
            <a:off x="1900238" y="3178969"/>
            <a:ext cx="651867"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5698F2"/>
                </a:solidFill>
                <a:latin typeface="Inter" pitchFamily="34" charset="0"/>
                <a:ea typeface="Inter" pitchFamily="34" charset="-122"/>
                <a:cs typeface="Inter" pitchFamily="34" charset="-120"/>
              </a:rPr>
              <a:t>OTIMIZAÇÃO</a:t>
            </a:r>
            <a:endParaRPr lang="en-US" sz="534" dirty="0"/>
          </a:p>
        </p:txBody>
      </p:sp>
      <p:sp>
        <p:nvSpPr>
          <p:cNvPr id="51" name="Text 48"/>
          <p:cNvSpPr/>
          <p:nvPr/>
        </p:nvSpPr>
        <p:spPr>
          <a:xfrm>
            <a:off x="578644" y="3470077"/>
            <a:ext cx="191095"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[13]</a:t>
            </a:r>
            <a:endParaRPr lang="en-US" sz="734" dirty="0"/>
          </a:p>
        </p:txBody>
      </p:sp>
      <p:sp>
        <p:nvSpPr>
          <p:cNvPr id="52" name="Text 49"/>
          <p:cNvSpPr/>
          <p:nvPr/>
        </p:nvSpPr>
        <p:spPr>
          <a:xfrm>
            <a:off x="842963" y="3470077"/>
            <a:ext cx="1028700"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Kingma, D. P., Ba, J.</a:t>
            </a:r>
            <a:endParaRPr lang="en-US" sz="734" dirty="0"/>
          </a:p>
        </p:txBody>
      </p:sp>
      <p:sp>
        <p:nvSpPr>
          <p:cNvPr id="53" name="Text 50"/>
          <p:cNvSpPr/>
          <p:nvPr/>
        </p:nvSpPr>
        <p:spPr>
          <a:xfrm>
            <a:off x="1871663" y="3470077"/>
            <a:ext cx="416123"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(2014).</a:t>
            </a:r>
            <a:endParaRPr lang="en-US" sz="780" dirty="0"/>
          </a:p>
        </p:txBody>
      </p:sp>
      <p:sp>
        <p:nvSpPr>
          <p:cNvPr id="54" name="Text 51"/>
          <p:cNvSpPr/>
          <p:nvPr/>
        </p:nvSpPr>
        <p:spPr>
          <a:xfrm>
            <a:off x="2287786" y="3470077"/>
            <a:ext cx="2362795"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"Adam: A Method for Stochastic Optimization."</a:t>
            </a:r>
            <a:endParaRPr lang="en-US" sz="780" dirty="0"/>
          </a:p>
        </p:txBody>
      </p:sp>
      <p:sp>
        <p:nvSpPr>
          <p:cNvPr id="55" name="Text 52"/>
          <p:cNvSpPr/>
          <p:nvPr/>
        </p:nvSpPr>
        <p:spPr>
          <a:xfrm>
            <a:off x="4680942" y="3470077"/>
            <a:ext cx="832247"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arXiv:1412.6980.</a:t>
            </a:r>
            <a:endParaRPr lang="en-US" sz="780" dirty="0"/>
          </a:p>
        </p:txBody>
      </p:sp>
      <p:sp>
        <p:nvSpPr>
          <p:cNvPr id="56" name="Shape 53"/>
          <p:cNvSpPr/>
          <p:nvPr/>
        </p:nvSpPr>
        <p:spPr>
          <a:xfrm>
            <a:off x="5600700" y="3471863"/>
            <a:ext cx="651867" cy="146447"/>
          </a:xfrm>
          <a:prstGeom prst="rect">
            <a:avLst/>
          </a:prstGeom>
          <a:solidFill>
            <a:srgbClr val="5698F2">
              <a:alpha val="15000"/>
            </a:srgbClr>
          </a:solidFill>
          <a:ln/>
        </p:spPr>
      </p:sp>
      <p:sp>
        <p:nvSpPr>
          <p:cNvPr id="57" name="Text 54"/>
          <p:cNvSpPr/>
          <p:nvPr/>
        </p:nvSpPr>
        <p:spPr>
          <a:xfrm>
            <a:off x="5600700" y="3471863"/>
            <a:ext cx="651867"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5698F2"/>
                </a:solidFill>
                <a:latin typeface="Inter" pitchFamily="34" charset="0"/>
                <a:ea typeface="Inter" pitchFamily="34" charset="-122"/>
                <a:cs typeface="Inter" pitchFamily="34" charset="-120"/>
              </a:rPr>
              <a:t>OTIMIZAÇÃO</a:t>
            </a:r>
            <a:endParaRPr lang="en-US" sz="534" dirty="0"/>
          </a:p>
        </p:txBody>
      </p:sp>
      <p:sp>
        <p:nvSpPr>
          <p:cNvPr id="58" name="Text 55"/>
          <p:cNvSpPr/>
          <p:nvPr/>
        </p:nvSpPr>
        <p:spPr>
          <a:xfrm>
            <a:off x="578644" y="3762970"/>
            <a:ext cx="217884"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[46]</a:t>
            </a:r>
            <a:endParaRPr lang="en-US" sz="734" dirty="0"/>
          </a:p>
        </p:txBody>
      </p:sp>
      <p:sp>
        <p:nvSpPr>
          <p:cNvPr id="59" name="Text 56"/>
          <p:cNvSpPr/>
          <p:nvPr/>
        </p:nvSpPr>
        <p:spPr>
          <a:xfrm>
            <a:off x="869752" y="3762970"/>
            <a:ext cx="2462808" cy="128588"/>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F2C94C"/>
                </a:solidFill>
                <a:latin typeface="Inter" pitchFamily="34" charset="0"/>
                <a:ea typeface="Inter" pitchFamily="34" charset="-122"/>
                <a:cs typeface="Inter" pitchFamily="34" charset="-120"/>
              </a:rPr>
              <a:t>Cho, K., van Merrienboer, B., Gulcehre, C., et al.</a:t>
            </a:r>
            <a:endParaRPr lang="en-US" sz="734" dirty="0"/>
          </a:p>
        </p:txBody>
      </p:sp>
      <p:sp>
        <p:nvSpPr>
          <p:cNvPr id="60" name="Text 57"/>
          <p:cNvSpPr/>
          <p:nvPr/>
        </p:nvSpPr>
        <p:spPr>
          <a:xfrm>
            <a:off x="3332559" y="3762970"/>
            <a:ext cx="416123"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90000"/>
                  </a:srgbClr>
                </a:solidFill>
                <a:latin typeface="Inter" pitchFamily="34" charset="0"/>
                <a:ea typeface="Inter" pitchFamily="34" charset="-122"/>
                <a:cs typeface="Inter" pitchFamily="34" charset="-120"/>
              </a:rPr>
              <a:t>(2014).</a:t>
            </a:r>
            <a:endParaRPr lang="en-US" sz="780" dirty="0"/>
          </a:p>
        </p:txBody>
      </p:sp>
      <p:sp>
        <p:nvSpPr>
          <p:cNvPr id="61" name="Text 58"/>
          <p:cNvSpPr/>
          <p:nvPr/>
        </p:nvSpPr>
        <p:spPr>
          <a:xfrm>
            <a:off x="3748683" y="3762970"/>
            <a:ext cx="4409480"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"Learning Phrase Representations Using RNN Encoder-Decoder for Statistical Machine</a:t>
            </a:r>
            <a:endParaRPr lang="en-US" sz="780" dirty="0"/>
          </a:p>
        </p:txBody>
      </p:sp>
      <p:sp>
        <p:nvSpPr>
          <p:cNvPr id="62" name="Text 59"/>
          <p:cNvSpPr/>
          <p:nvPr/>
        </p:nvSpPr>
        <p:spPr>
          <a:xfrm>
            <a:off x="578644" y="3923705"/>
            <a:ext cx="634008" cy="128588"/>
          </a:xfrm>
          <a:prstGeom prst="rect">
            <a:avLst/>
          </a:prstGeom>
          <a:noFill/>
          <a:ln/>
        </p:spPr>
        <p:txBody>
          <a:bodyPr wrap="none" lIns="0" tIns="0" rIns="0" bIns="0" rtlCol="0" anchor="t">
            <a:spAutoFit/>
          </a:bodyPr>
          <a:lstStyle/>
          <a:p>
            <a:pPr algn="l" indent="0" marL="0">
              <a:lnSpc>
                <a:spcPts val="1300"/>
              </a:lnSpc>
              <a:buNone/>
            </a:pPr>
            <a:r>
              <a:rPr lang="en-US" sz="780" i="1" dirty="0">
                <a:solidFill>
                  <a:srgbClr val="E8EDF2">
                    <a:alpha val="90000"/>
                  </a:srgbClr>
                </a:solidFill>
                <a:latin typeface="Inter" pitchFamily="34" charset="0"/>
                <a:ea typeface="Inter" pitchFamily="34" charset="-122"/>
                <a:cs typeface="Inter" pitchFamily="34" charset="-120"/>
              </a:rPr>
              <a:t>Translation."</a:t>
            </a:r>
            <a:endParaRPr lang="en-US" sz="780" dirty="0"/>
          </a:p>
        </p:txBody>
      </p:sp>
      <p:sp>
        <p:nvSpPr>
          <p:cNvPr id="63" name="Text 60"/>
          <p:cNvSpPr/>
          <p:nvPr/>
        </p:nvSpPr>
        <p:spPr>
          <a:xfrm>
            <a:off x="1243013" y="3923705"/>
            <a:ext cx="819745" cy="128588"/>
          </a:xfrm>
          <a:prstGeom prst="rect">
            <a:avLst/>
          </a:prstGeom>
          <a:noFill/>
          <a:ln/>
        </p:spPr>
        <p:txBody>
          <a:bodyPr wrap="none" lIns="0" tIns="0" rIns="0" bIns="0" rtlCol="0" anchor="t">
            <a:spAutoFit/>
          </a:bodyPr>
          <a:lstStyle/>
          <a:p>
            <a:pPr algn="l" indent="0" marL="0">
              <a:lnSpc>
                <a:spcPts val="1300"/>
              </a:lnSpc>
              <a:buNone/>
            </a:pPr>
            <a:r>
              <a:rPr lang="en-US" sz="780" dirty="0">
                <a:solidFill>
                  <a:srgbClr val="E8EDF2">
                    <a:alpha val="60000"/>
                  </a:srgbClr>
                </a:solidFill>
                <a:latin typeface="Inter" pitchFamily="34" charset="0"/>
                <a:ea typeface="Inter" pitchFamily="34" charset="-122"/>
                <a:cs typeface="Inter" pitchFamily="34" charset="-120"/>
              </a:rPr>
              <a:t>arXiv:1406.1078.</a:t>
            </a:r>
            <a:endParaRPr lang="en-US" sz="780" dirty="0"/>
          </a:p>
        </p:txBody>
      </p:sp>
      <p:sp>
        <p:nvSpPr>
          <p:cNvPr id="64" name="Shape 61"/>
          <p:cNvSpPr/>
          <p:nvPr/>
        </p:nvSpPr>
        <p:spPr>
          <a:xfrm>
            <a:off x="2150269" y="3925491"/>
            <a:ext cx="925116" cy="146447"/>
          </a:xfrm>
          <a:prstGeom prst="rect">
            <a:avLst/>
          </a:prstGeom>
          <a:solidFill>
            <a:srgbClr val="5698F2">
              <a:alpha val="15000"/>
            </a:srgbClr>
          </a:solidFill>
          <a:ln/>
        </p:spPr>
      </p:sp>
      <p:sp>
        <p:nvSpPr>
          <p:cNvPr id="65" name="Text 62"/>
          <p:cNvSpPr/>
          <p:nvPr/>
        </p:nvSpPr>
        <p:spPr>
          <a:xfrm>
            <a:off x="2150269" y="3925491"/>
            <a:ext cx="925116" cy="146447"/>
          </a:xfrm>
          <a:prstGeom prst="rect">
            <a:avLst/>
          </a:prstGeom>
          <a:noFill/>
          <a:ln/>
        </p:spPr>
        <p:txBody>
          <a:bodyPr wrap="none" lIns="68072" tIns="17018" rIns="68072" bIns="17018" rtlCol="0" anchor="t">
            <a:spAutoFit/>
          </a:bodyPr>
          <a:lstStyle/>
          <a:p>
            <a:pPr algn="l" indent="0" marL="0">
              <a:lnSpc>
                <a:spcPts val="900"/>
              </a:lnSpc>
              <a:buNone/>
            </a:pPr>
            <a:r>
              <a:rPr lang="en-US" sz="534" b="1" dirty="0">
                <a:solidFill>
                  <a:srgbClr val="5698F2"/>
                </a:solidFill>
                <a:latin typeface="Inter" pitchFamily="34" charset="0"/>
                <a:ea typeface="Inter" pitchFamily="34" charset="-122"/>
                <a:cs typeface="Inter" pitchFamily="34" charset="-120"/>
              </a:rPr>
              <a:t>BENCHMARK (GRU)</a:t>
            </a:r>
            <a:endParaRPr lang="en-US" sz="534"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69702"/>
          </a:xfrm>
          <a:prstGeom prst="rect">
            <a:avLst/>
          </a:prstGeom>
          <a:solidFill>
            <a:srgbClr val="000000">
              <a:alpha val="0"/>
            </a:srgbClr>
          </a:solidFill>
          <a:ln/>
        </p:spPr>
      </p:sp>
      <p:sp>
        <p:nvSpPr>
          <p:cNvPr id="5" name="Shape 1"/>
          <p:cNvSpPr/>
          <p:nvPr/>
        </p:nvSpPr>
        <p:spPr>
          <a:xfrm>
            <a:off x="428625" y="884039"/>
            <a:ext cx="8286750" cy="14288"/>
          </a:xfrm>
          <a:prstGeom prst="rect">
            <a:avLst/>
          </a:prstGeom>
          <a:solidFill>
            <a:srgbClr val="F2C94C"/>
          </a:solidFill>
          <a:ln/>
        </p:spPr>
      </p:sp>
      <p:sp>
        <p:nvSpPr>
          <p:cNvPr id="6" name="Text 2"/>
          <p:cNvSpPr/>
          <p:nvPr/>
        </p:nvSpPr>
        <p:spPr>
          <a:xfrm>
            <a:off x="428625" y="428625"/>
            <a:ext cx="8286750" cy="312539"/>
          </a:xfrm>
          <a:prstGeom prst="rect">
            <a:avLst/>
          </a:prstGeom>
          <a:noFill/>
          <a:ln/>
        </p:spPr>
        <p:txBody>
          <a:bodyPr wrap="none" lIns="0" tIns="0" rIns="0" bIns="0" rtlCol="0" anchor="t">
            <a:spAutoFit/>
          </a:bodyPr>
          <a:lstStyle/>
          <a:p>
            <a:pPr algn="l" indent="0" marL="0">
              <a:lnSpc>
                <a:spcPts val="2400"/>
              </a:lnSpc>
              <a:buNone/>
            </a:pPr>
            <a:r>
              <a:rPr lang="en-US" sz="1808" b="1" spc="1" kern="0" dirty="0">
                <a:solidFill>
                  <a:srgbClr val="F2C94C"/>
                </a:solidFill>
                <a:latin typeface="Montserrat" pitchFamily="34" charset="0"/>
                <a:ea typeface="Montserrat" pitchFamily="34" charset="-122"/>
                <a:cs typeface="Montserrat" pitchFamily="34" charset="-120"/>
              </a:rPr>
              <a:t>AGRADECIMENTOS</a:t>
            </a:r>
            <a:endParaRPr lang="en-US" sz="1808" dirty="0"/>
          </a:p>
        </p:txBody>
      </p:sp>
      <p:pic>
        <p:nvPicPr>
          <p:cNvPr id="7" name="Image 1" descr="preencoded.png">    </p:cNvPr>
          <p:cNvPicPr>
            <a:picLocks noChangeAspect="1"/>
          </p:cNvPicPr>
          <p:nvPr/>
        </p:nvPicPr>
        <p:blipFill>
          <a:blip r:embed="rId2"/>
          <a:stretch>
            <a:fillRect/>
          </a:stretch>
        </p:blipFill>
        <p:spPr>
          <a:xfrm>
            <a:off x="1000125" y="1323380"/>
            <a:ext cx="107156" cy="100013"/>
          </a:xfrm>
          <a:prstGeom prst="rect">
            <a:avLst/>
          </a:prstGeom>
        </p:spPr>
      </p:pic>
      <p:sp>
        <p:nvSpPr>
          <p:cNvPr id="8" name="Text 3"/>
          <p:cNvSpPr/>
          <p:nvPr/>
        </p:nvSpPr>
        <p:spPr>
          <a:xfrm>
            <a:off x="1178719" y="1312664"/>
            <a:ext cx="766167" cy="121444"/>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E8EDF2">
                    <a:alpha val="60000"/>
                  </a:srgbClr>
                </a:solidFill>
                <a:latin typeface="Montserrat" pitchFamily="34" charset="0"/>
                <a:ea typeface="Montserrat" pitchFamily="34" charset="-122"/>
                <a:cs typeface="Montserrat" pitchFamily="34" charset="-120"/>
              </a:rPr>
              <a:t>ORIENTAÇÃO</a:t>
            </a:r>
            <a:endParaRPr lang="en-US" sz="727" dirty="0"/>
          </a:p>
        </p:txBody>
      </p:sp>
      <p:sp>
        <p:nvSpPr>
          <p:cNvPr id="9" name="Text 4"/>
          <p:cNvSpPr/>
          <p:nvPr/>
        </p:nvSpPr>
        <p:spPr>
          <a:xfrm>
            <a:off x="1000125" y="1505545"/>
            <a:ext cx="3357563"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2C94C"/>
                </a:solidFill>
                <a:latin typeface="Montserrat" pitchFamily="34" charset="0"/>
                <a:ea typeface="Montserrat" pitchFamily="34" charset="-122"/>
                <a:cs typeface="Montserrat" pitchFamily="34" charset="-120"/>
              </a:rPr>
              <a:t>Prof. Robson Dias</a:t>
            </a:r>
            <a:endParaRPr lang="en-US" sz="1397" dirty="0"/>
          </a:p>
        </p:txBody>
      </p:sp>
      <p:sp>
        <p:nvSpPr>
          <p:cNvPr id="10" name="Text 5"/>
          <p:cNvSpPr/>
          <p:nvPr/>
        </p:nvSpPr>
        <p:spPr>
          <a:xfrm>
            <a:off x="1000125" y="1819870"/>
            <a:ext cx="3357563" cy="400050"/>
          </a:xfrm>
          <a:prstGeom prst="rect">
            <a:avLst/>
          </a:prstGeom>
          <a:noFill/>
          <a:ln/>
        </p:spPr>
        <p:txBody>
          <a:bodyPr wrap="square" lIns="0" tIns="0" rIns="0" bIns="0" rtlCol="0" anchor="t">
            <a:spAutoFit/>
          </a:bodyPr>
          <a:lstStyle/>
          <a:p>
            <a:pPr algn="l" indent="0" marL="0">
              <a:lnSpc>
                <a:spcPts val="1600"/>
              </a:lnSpc>
              <a:buNone/>
            </a:pPr>
            <a:r>
              <a:rPr lang="en-US" sz="1050" dirty="0">
                <a:solidFill>
                  <a:srgbClr val="E8EDF2"/>
                </a:solidFill>
                <a:latin typeface="Inter" pitchFamily="34" charset="0"/>
                <a:ea typeface="Inter" pitchFamily="34" charset="-122"/>
                <a:cs typeface="Inter" pitchFamily="34" charset="-120"/>
              </a:rPr>
              <a:t>Pela orientação precisa, confiança e incentivo constante durante esta jornada.</a:t>
            </a:r>
            <a:endParaRPr lang="en-US" sz="1050" dirty="0"/>
          </a:p>
        </p:txBody>
      </p:sp>
      <p:pic>
        <p:nvPicPr>
          <p:cNvPr id="11" name="Image 2" descr="preencoded.png">    </p:cNvPr>
          <p:cNvPicPr>
            <a:picLocks noChangeAspect="1"/>
          </p:cNvPicPr>
          <p:nvPr/>
        </p:nvPicPr>
        <p:blipFill>
          <a:blip r:embed="rId3"/>
          <a:stretch>
            <a:fillRect/>
          </a:stretch>
        </p:blipFill>
        <p:spPr>
          <a:xfrm>
            <a:off x="1000125" y="2952155"/>
            <a:ext cx="107156" cy="100013"/>
          </a:xfrm>
          <a:prstGeom prst="rect">
            <a:avLst/>
          </a:prstGeom>
        </p:spPr>
      </p:pic>
      <p:sp>
        <p:nvSpPr>
          <p:cNvPr id="12" name="Text 6"/>
          <p:cNvSpPr/>
          <p:nvPr/>
        </p:nvSpPr>
        <p:spPr>
          <a:xfrm>
            <a:off x="1178719" y="2941439"/>
            <a:ext cx="741164" cy="121444"/>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E8EDF2">
                    <a:alpha val="60000"/>
                  </a:srgbClr>
                </a:solidFill>
                <a:latin typeface="Montserrat" pitchFamily="34" charset="0"/>
                <a:ea typeface="Montserrat" pitchFamily="34" charset="-122"/>
                <a:cs typeface="Montserrat" pitchFamily="34" charset="-120"/>
              </a:rPr>
              <a:t>INSTITUIÇÃO</a:t>
            </a:r>
            <a:endParaRPr lang="en-US" sz="727" dirty="0"/>
          </a:p>
        </p:txBody>
      </p:sp>
      <p:sp>
        <p:nvSpPr>
          <p:cNvPr id="13" name="Text 7"/>
          <p:cNvSpPr/>
          <p:nvPr/>
        </p:nvSpPr>
        <p:spPr>
          <a:xfrm>
            <a:off x="1000125" y="3134320"/>
            <a:ext cx="3357563" cy="242888"/>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2C94C"/>
                </a:solidFill>
                <a:latin typeface="Montserrat" pitchFamily="34" charset="0"/>
                <a:ea typeface="Montserrat" pitchFamily="34" charset="-122"/>
                <a:cs typeface="Montserrat" pitchFamily="34" charset="-120"/>
              </a:rPr>
              <a:t>COPPE / UFRJ</a:t>
            </a:r>
            <a:endParaRPr lang="en-US" sz="1397" dirty="0"/>
          </a:p>
        </p:txBody>
      </p:sp>
      <p:sp>
        <p:nvSpPr>
          <p:cNvPr id="14" name="Text 8"/>
          <p:cNvSpPr/>
          <p:nvPr/>
        </p:nvSpPr>
        <p:spPr>
          <a:xfrm>
            <a:off x="1000125" y="3448645"/>
            <a:ext cx="3357563" cy="200025"/>
          </a:xfrm>
          <a:prstGeom prst="rect">
            <a:avLst/>
          </a:prstGeom>
          <a:noFill/>
          <a:ln/>
        </p:spPr>
        <p:txBody>
          <a:bodyPr wrap="none" lIns="0" tIns="0" rIns="0" bIns="0" rtlCol="0" anchor="t">
            <a:spAutoFit/>
          </a:bodyPr>
          <a:lstStyle/>
          <a:p>
            <a:pPr algn="l" indent="0" marL="0">
              <a:lnSpc>
                <a:spcPts val="1600"/>
              </a:lnSpc>
              <a:buNone/>
            </a:pPr>
            <a:r>
              <a:rPr lang="en-US" sz="1050" dirty="0">
                <a:solidFill>
                  <a:srgbClr val="E8EDF2"/>
                </a:solidFill>
                <a:latin typeface="Inter" pitchFamily="34" charset="0"/>
                <a:ea typeface="Inter" pitchFamily="34" charset="-122"/>
                <a:cs typeface="Inter" pitchFamily="34" charset="-120"/>
              </a:rPr>
              <a:t>Programa de Engenharia Elétrica</a:t>
            </a:r>
            <a:endParaRPr lang="en-US" sz="1050" dirty="0"/>
          </a:p>
        </p:txBody>
      </p:sp>
      <p:sp>
        <p:nvSpPr>
          <p:cNvPr id="15" name="Text 9"/>
          <p:cNvSpPr/>
          <p:nvPr/>
        </p:nvSpPr>
        <p:spPr>
          <a:xfrm>
            <a:off x="1000125" y="3720108"/>
            <a:ext cx="3357563" cy="200025"/>
          </a:xfrm>
          <a:prstGeom prst="rect">
            <a:avLst/>
          </a:prstGeom>
          <a:noFill/>
          <a:ln/>
        </p:spPr>
        <p:txBody>
          <a:bodyPr wrap="none" lIns="0" tIns="0" rIns="0" bIns="0" rtlCol="0" anchor="t">
            <a:spAutoFit/>
          </a:bodyPr>
          <a:lstStyle/>
          <a:p>
            <a:pPr algn="l" indent="0" marL="0">
              <a:lnSpc>
                <a:spcPts val="1600"/>
              </a:lnSpc>
              <a:buNone/>
            </a:pPr>
            <a:r>
              <a:rPr lang="en-US" sz="987" b="1" dirty="0">
                <a:solidFill>
                  <a:srgbClr val="F2C94C"/>
                </a:solidFill>
                <a:latin typeface="Inter" pitchFamily="34" charset="0"/>
                <a:ea typeface="Inter" pitchFamily="34" charset="-122"/>
                <a:cs typeface="Inter" pitchFamily="34" charset="-120"/>
              </a:rPr>
              <a:t>Laboratório LAFAE</a:t>
            </a:r>
            <a:endParaRPr lang="en-US" sz="987" dirty="0"/>
          </a:p>
        </p:txBody>
      </p:sp>
      <p:pic>
        <p:nvPicPr>
          <p:cNvPr id="16" name="Image 3" descr="preencoded.png">    </p:cNvPr>
          <p:cNvPicPr>
            <a:picLocks noChangeAspect="1"/>
          </p:cNvPicPr>
          <p:nvPr/>
        </p:nvPicPr>
        <p:blipFill>
          <a:blip r:embed="rId4"/>
          <a:stretch>
            <a:fillRect/>
          </a:stretch>
        </p:blipFill>
        <p:spPr>
          <a:xfrm>
            <a:off x="4786313" y="1323380"/>
            <a:ext cx="132159" cy="100013"/>
          </a:xfrm>
          <a:prstGeom prst="rect">
            <a:avLst/>
          </a:prstGeom>
        </p:spPr>
      </p:pic>
      <p:sp>
        <p:nvSpPr>
          <p:cNvPr id="17" name="Text 10"/>
          <p:cNvSpPr/>
          <p:nvPr/>
        </p:nvSpPr>
        <p:spPr>
          <a:xfrm>
            <a:off x="4989909" y="1312664"/>
            <a:ext cx="1539478" cy="121444"/>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E8EDF2">
                    <a:alpha val="60000"/>
                  </a:srgbClr>
                </a:solidFill>
                <a:latin typeface="Montserrat" pitchFamily="34" charset="0"/>
                <a:ea typeface="Montserrat" pitchFamily="34" charset="-122"/>
                <a:cs typeface="Montserrat" pitchFamily="34" charset="-120"/>
              </a:rPr>
              <a:t>COLEGAS E LABORATÓRIO</a:t>
            </a:r>
            <a:endParaRPr lang="en-US" sz="727" dirty="0"/>
          </a:p>
        </p:txBody>
      </p:sp>
      <p:sp>
        <p:nvSpPr>
          <p:cNvPr id="18" name="Text 11"/>
          <p:cNvSpPr/>
          <p:nvPr/>
        </p:nvSpPr>
        <p:spPr>
          <a:xfrm>
            <a:off x="4786313" y="1505545"/>
            <a:ext cx="3357563" cy="617153"/>
          </a:xfrm>
          <a:prstGeom prst="rect">
            <a:avLst/>
          </a:prstGeom>
          <a:noFill/>
          <a:ln/>
        </p:spPr>
        <p:txBody>
          <a:bodyPr wrap="square" lIns="0" tIns="0" rIns="0" bIns="0" rtlCol="0" anchor="t">
            <a:spAutoFit/>
          </a:bodyPr>
          <a:lstStyle/>
          <a:p>
            <a:pPr algn="l" indent="0" marL="0">
              <a:lnSpc>
                <a:spcPts val="1600"/>
              </a:lnSpc>
              <a:buNone/>
            </a:pPr>
            <a:r>
              <a:rPr lang="en-US" sz="942" i="1" dirty="0">
                <a:solidFill>
                  <a:srgbClr val="E8EDF2">
                    <a:alpha val="90000"/>
                  </a:srgbClr>
                </a:solidFill>
                <a:latin typeface="Inter" pitchFamily="34" charset="0"/>
                <a:ea typeface="Inter" pitchFamily="34" charset="-122"/>
                <a:cs typeface="Inter" pitchFamily="34" charset="-120"/>
              </a:rPr>
              <a:t>Aos amigos do </a:t>
            </a:r>
            <a:pPr algn="l" indent="0" marL="0">
              <a:lnSpc>
                <a:spcPts val="1600"/>
              </a:lnSpc>
              <a:buNone/>
            </a:pPr>
            <a:r>
              <a:rPr lang="en-US" sz="885" b="1" i="1" dirty="0">
                <a:solidFill>
                  <a:srgbClr val="E8EDF2">
                    <a:alpha val="90000"/>
                  </a:srgbClr>
                </a:solidFill>
                <a:latin typeface="Inter" pitchFamily="34" charset="0"/>
                <a:ea typeface="Inter" pitchFamily="34" charset="-122"/>
                <a:cs typeface="Inter" pitchFamily="34" charset="-120"/>
              </a:rPr>
              <a:t>LAFAE</a:t>
            </a:r>
            <a:pPr algn="l" indent="0" marL="0">
              <a:lnSpc>
                <a:spcPts val="1600"/>
              </a:lnSpc>
              <a:buNone/>
            </a:pPr>
            <a:r>
              <a:rPr lang="en-US" sz="942" i="1" dirty="0">
                <a:solidFill>
                  <a:srgbClr val="E8EDF2">
                    <a:alpha val="90000"/>
                  </a:srgbClr>
                </a:solidFill>
                <a:latin typeface="Inter" pitchFamily="34" charset="0"/>
                <a:ea typeface="Inter" pitchFamily="34" charset="-122"/>
                <a:cs typeface="Inter" pitchFamily="34" charset="-120"/>
              </a:rPr>
              <a:t>, pelas discussões técnicas </a:t>
            </a:r>
            <a:pPr algn="l" indent="0" marL="0">
              <a:lnSpc>
                <a:spcPts val="1600"/>
              </a:lnSpc>
              <a:buNone/>
            </a:pPr>
            <a:r>
              <a:rPr lang="en-US" sz="942" i="1" dirty="0">
                <a:solidFill>
                  <a:srgbClr val="E8EDF2">
                    <a:alpha val="90000"/>
                  </a:srgbClr>
                </a:solidFill>
                <a:latin typeface="Inter" pitchFamily="34" charset="0"/>
                <a:ea typeface="Inter" pitchFamily="34" charset="-122"/>
                <a:cs typeface="Inter" pitchFamily="34" charset="-120"/>
              </a:rPr>
              <a:t>enriquecedoras, pelo ambiente colaborativo e pela </a:t>
            </a:r>
            <a:pPr algn="l" indent="0" marL="0">
              <a:lnSpc>
                <a:spcPts val="1600"/>
              </a:lnSpc>
              <a:buNone/>
            </a:pPr>
            <a:r>
              <a:rPr lang="en-US" sz="942" i="1" dirty="0">
                <a:solidFill>
                  <a:srgbClr val="E8EDF2">
                    <a:alpha val="90000"/>
                  </a:srgbClr>
                </a:solidFill>
                <a:latin typeface="Inter" pitchFamily="34" charset="0"/>
                <a:ea typeface="Inter" pitchFamily="34" charset="-122"/>
                <a:cs typeface="Inter" pitchFamily="34" charset="-120"/>
              </a:rPr>
              <a:t>amizade construída.</a:t>
            </a:r>
            <a:endParaRPr lang="en-US" sz="942" dirty="0"/>
          </a:p>
        </p:txBody>
      </p:sp>
      <p:pic>
        <p:nvPicPr>
          <p:cNvPr id="19" name="Image 4" descr="preencoded.png">    </p:cNvPr>
          <p:cNvPicPr>
            <a:picLocks noChangeAspect="1"/>
          </p:cNvPicPr>
          <p:nvPr/>
        </p:nvPicPr>
        <p:blipFill>
          <a:blip r:embed="rId5"/>
          <a:stretch>
            <a:fillRect/>
          </a:stretch>
        </p:blipFill>
        <p:spPr>
          <a:xfrm>
            <a:off x="4786313" y="2854933"/>
            <a:ext cx="107156" cy="100013"/>
          </a:xfrm>
          <a:prstGeom prst="rect">
            <a:avLst/>
          </a:prstGeom>
        </p:spPr>
      </p:pic>
      <p:sp>
        <p:nvSpPr>
          <p:cNvPr id="20" name="Text 12"/>
          <p:cNvSpPr/>
          <p:nvPr/>
        </p:nvSpPr>
        <p:spPr>
          <a:xfrm>
            <a:off x="4964906" y="2844217"/>
            <a:ext cx="480417" cy="121444"/>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E8EDF2">
                    <a:alpha val="60000"/>
                  </a:srgbClr>
                </a:solidFill>
                <a:latin typeface="Montserrat" pitchFamily="34" charset="0"/>
                <a:ea typeface="Montserrat" pitchFamily="34" charset="-122"/>
                <a:cs typeface="Montserrat" pitchFamily="34" charset="-120"/>
              </a:rPr>
              <a:t>FAMÍLIA</a:t>
            </a:r>
            <a:endParaRPr lang="en-US" sz="727" dirty="0"/>
          </a:p>
        </p:txBody>
      </p:sp>
      <p:sp>
        <p:nvSpPr>
          <p:cNvPr id="21" name="Text 13"/>
          <p:cNvSpPr/>
          <p:nvPr/>
        </p:nvSpPr>
        <p:spPr>
          <a:xfrm>
            <a:off x="4786313" y="3037098"/>
            <a:ext cx="3357563" cy="617153"/>
          </a:xfrm>
          <a:prstGeom prst="rect">
            <a:avLst/>
          </a:prstGeom>
          <a:noFill/>
          <a:ln/>
        </p:spPr>
        <p:txBody>
          <a:bodyPr wrap="square" lIns="0" tIns="0" rIns="0" bIns="0" rtlCol="0" anchor="t">
            <a:spAutoFit/>
          </a:bodyPr>
          <a:lstStyle/>
          <a:p>
            <a:pPr algn="l" indent="0" marL="0">
              <a:lnSpc>
                <a:spcPts val="1600"/>
              </a:lnSpc>
              <a:buNone/>
            </a:pPr>
            <a:r>
              <a:rPr lang="en-US" sz="942" i="1" dirty="0">
                <a:solidFill>
                  <a:srgbClr val="E8EDF2">
                    <a:alpha val="90000"/>
                  </a:srgbClr>
                </a:solidFill>
                <a:latin typeface="Inter" pitchFamily="34" charset="0"/>
                <a:ea typeface="Inter" pitchFamily="34" charset="-122"/>
                <a:cs typeface="Inter" pitchFamily="34" charset="-120"/>
              </a:rPr>
              <a:t>Aos meus pais e familiares, que sempre foram minha base e suporte incondicional, tornando esta conquista possível.</a:t>
            </a:r>
            <a:endParaRPr lang="en-US" sz="942"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00050"/>
          </a:xfrm>
          <a:prstGeom prst="rect">
            <a:avLst/>
          </a:prstGeom>
          <a:solidFill>
            <a:srgbClr val="000000">
              <a:alpha val="0"/>
            </a:srgbClr>
          </a:solidFill>
          <a:ln/>
        </p:spPr>
      </p:sp>
      <p:sp>
        <p:nvSpPr>
          <p:cNvPr id="5" name="Shape 1"/>
          <p:cNvSpPr/>
          <p:nvPr/>
        </p:nvSpPr>
        <p:spPr>
          <a:xfrm>
            <a:off x="428625" y="814388"/>
            <a:ext cx="8286750" cy="14288"/>
          </a:xfrm>
          <a:prstGeom prst="rect">
            <a:avLst/>
          </a:prstGeom>
          <a:solidFill>
            <a:srgbClr val="F2C94C"/>
          </a:solidFill>
          <a:ln/>
        </p:spPr>
      </p:sp>
      <p:sp>
        <p:nvSpPr>
          <p:cNvPr id="6" name="Text 2"/>
          <p:cNvSpPr/>
          <p:nvPr/>
        </p:nvSpPr>
        <p:spPr>
          <a:xfrm>
            <a:off x="428625" y="428625"/>
            <a:ext cx="4948833"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F2C94C"/>
                </a:solidFill>
                <a:latin typeface="Montserrat" pitchFamily="34" charset="0"/>
                <a:ea typeface="Montserrat" pitchFamily="34" charset="-122"/>
                <a:cs typeface="Montserrat" pitchFamily="34" charset="-120"/>
              </a:rPr>
              <a:t>HIPERPARÂMETROS OTIMIZADOS (TFT)</a:t>
            </a:r>
            <a:endParaRPr lang="en-US" sz="1602" dirty="0"/>
          </a:p>
        </p:txBody>
      </p:sp>
      <p:sp>
        <p:nvSpPr>
          <p:cNvPr id="7" name="Shape 3"/>
          <p:cNvSpPr/>
          <p:nvPr/>
        </p:nvSpPr>
        <p:spPr>
          <a:xfrm>
            <a:off x="7606308" y="464344"/>
            <a:ext cx="1109067" cy="207169"/>
          </a:xfrm>
          <a:prstGeom prst="rect">
            <a:avLst/>
          </a:prstGeom>
          <a:solidFill>
            <a:srgbClr val="EB5757">
              <a:alpha val="20000"/>
            </a:srgbClr>
          </a:solidFill>
          <a:ln w="9144">
            <a:solidFill>
              <a:srgbClr val="EB5757"/>
            </a:solidFill>
            <a:prstDash val="solid"/>
          </a:ln>
        </p:spPr>
      </p:sp>
      <p:sp>
        <p:nvSpPr>
          <p:cNvPr id="8" name="Text 4"/>
          <p:cNvSpPr/>
          <p:nvPr/>
        </p:nvSpPr>
        <p:spPr>
          <a:xfrm>
            <a:off x="7606308" y="464344"/>
            <a:ext cx="1109067" cy="207169"/>
          </a:xfrm>
          <a:prstGeom prst="rect">
            <a:avLst/>
          </a:prstGeom>
          <a:noFill/>
          <a:ln/>
        </p:spPr>
        <p:txBody>
          <a:bodyPr wrap="square" lIns="127508" tIns="42545" rIns="127508" bIns="42545" rtlCol="0" anchor="t">
            <a:spAutoFit/>
          </a:bodyPr>
          <a:lstStyle/>
          <a:p>
            <a:pPr algn="l" indent="0" marL="0">
              <a:lnSpc>
                <a:spcPts val="900"/>
              </a:lnSpc>
              <a:buNone/>
            </a:pPr>
            <a:r>
              <a:rPr lang="en-US" sz="683" b="1" dirty="0">
                <a:solidFill>
                  <a:srgbClr val="EB5757"/>
                </a:solidFill>
                <a:latin typeface="Inter" pitchFamily="34" charset="0"/>
                <a:ea typeface="Inter" pitchFamily="34" charset="-122"/>
                <a:cs typeface="Inter" pitchFamily="34" charset="-120"/>
              </a:rPr>
              <a:t>SLIDE DE BACKUP</a:t>
            </a:r>
            <a:endParaRPr lang="en-US" sz="683" dirty="0"/>
          </a:p>
        </p:txBody>
      </p:sp>
      <p:sp>
        <p:nvSpPr>
          <p:cNvPr id="9" name="Shape 5"/>
          <p:cNvSpPr/>
          <p:nvPr/>
        </p:nvSpPr>
        <p:spPr>
          <a:xfrm>
            <a:off x="428625" y="1028700"/>
            <a:ext cx="4800600" cy="2514600"/>
          </a:xfrm>
          <a:prstGeom prst="rect">
            <a:avLst/>
          </a:prstGeom>
          <a:solidFill>
            <a:srgbClr val="001D33">
              <a:alpha val="30000"/>
            </a:srgbClr>
          </a:solidFill>
          <a:ln w="9144">
            <a:solidFill>
              <a:srgbClr val="E8EDF2">
                <a:alpha val="10000"/>
              </a:srgbClr>
            </a:solidFill>
            <a:prstDash val="solid"/>
          </a:ln>
        </p:spPr>
      </p:sp>
      <p:sp>
        <p:nvSpPr>
          <p:cNvPr id="10" name="Shape 6"/>
          <p:cNvSpPr/>
          <p:nvPr/>
        </p:nvSpPr>
        <p:spPr>
          <a:xfrm>
            <a:off x="428625" y="1028700"/>
            <a:ext cx="1693320" cy="317897"/>
          </a:xfrm>
          <a:prstGeom prst="rect">
            <a:avLst/>
          </a:prstGeom>
          <a:solidFill>
            <a:srgbClr val="F2C94C">
              <a:alpha val="10000"/>
            </a:srgbClr>
          </a:solidFill>
          <a:ln/>
        </p:spPr>
      </p:sp>
      <p:sp>
        <p:nvSpPr>
          <p:cNvPr id="11" name="Shape 7"/>
          <p:cNvSpPr/>
          <p:nvPr/>
        </p:nvSpPr>
        <p:spPr>
          <a:xfrm>
            <a:off x="428625" y="1332309"/>
            <a:ext cx="1693320" cy="14288"/>
          </a:xfrm>
          <a:prstGeom prst="rect">
            <a:avLst/>
          </a:prstGeom>
          <a:solidFill>
            <a:srgbClr val="F2C94C"/>
          </a:solidFill>
          <a:ln/>
        </p:spPr>
      </p:sp>
      <p:sp>
        <p:nvSpPr>
          <p:cNvPr id="12" name="Text 8"/>
          <p:cNvSpPr/>
          <p:nvPr/>
        </p:nvSpPr>
        <p:spPr>
          <a:xfrm>
            <a:off x="428625" y="1028700"/>
            <a:ext cx="1693320" cy="317897"/>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Hiperparâmetro</a:t>
            </a:r>
            <a:endParaRPr lang="en-US" sz="784" dirty="0"/>
          </a:p>
        </p:txBody>
      </p:sp>
      <p:sp>
        <p:nvSpPr>
          <p:cNvPr id="13" name="Shape 9"/>
          <p:cNvSpPr/>
          <p:nvPr/>
        </p:nvSpPr>
        <p:spPr>
          <a:xfrm>
            <a:off x="2121945" y="1028700"/>
            <a:ext cx="1464329" cy="317897"/>
          </a:xfrm>
          <a:prstGeom prst="rect">
            <a:avLst/>
          </a:prstGeom>
          <a:solidFill>
            <a:srgbClr val="F2C94C">
              <a:alpha val="10000"/>
            </a:srgbClr>
          </a:solidFill>
          <a:ln/>
        </p:spPr>
      </p:sp>
      <p:sp>
        <p:nvSpPr>
          <p:cNvPr id="14" name="Shape 10"/>
          <p:cNvSpPr/>
          <p:nvPr/>
        </p:nvSpPr>
        <p:spPr>
          <a:xfrm>
            <a:off x="2121945" y="1332309"/>
            <a:ext cx="1464329" cy="14288"/>
          </a:xfrm>
          <a:prstGeom prst="rect">
            <a:avLst/>
          </a:prstGeom>
          <a:solidFill>
            <a:srgbClr val="F2C94C"/>
          </a:solidFill>
          <a:ln/>
        </p:spPr>
      </p:sp>
      <p:sp>
        <p:nvSpPr>
          <p:cNvPr id="15" name="Text 11"/>
          <p:cNvSpPr/>
          <p:nvPr/>
        </p:nvSpPr>
        <p:spPr>
          <a:xfrm>
            <a:off x="2121945" y="1028700"/>
            <a:ext cx="1464329" cy="317897"/>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Valor Otimizado</a:t>
            </a:r>
            <a:endParaRPr lang="en-US" sz="784" dirty="0"/>
          </a:p>
        </p:txBody>
      </p:sp>
      <p:sp>
        <p:nvSpPr>
          <p:cNvPr id="16" name="Shape 12"/>
          <p:cNvSpPr/>
          <p:nvPr/>
        </p:nvSpPr>
        <p:spPr>
          <a:xfrm>
            <a:off x="3586274" y="1028700"/>
            <a:ext cx="1642951" cy="317897"/>
          </a:xfrm>
          <a:prstGeom prst="rect">
            <a:avLst/>
          </a:prstGeom>
          <a:solidFill>
            <a:srgbClr val="F2C94C">
              <a:alpha val="10000"/>
            </a:srgbClr>
          </a:solidFill>
          <a:ln/>
        </p:spPr>
      </p:sp>
      <p:sp>
        <p:nvSpPr>
          <p:cNvPr id="17" name="Shape 13"/>
          <p:cNvSpPr/>
          <p:nvPr/>
        </p:nvSpPr>
        <p:spPr>
          <a:xfrm>
            <a:off x="3586274" y="1332309"/>
            <a:ext cx="1642951" cy="14288"/>
          </a:xfrm>
          <a:prstGeom prst="rect">
            <a:avLst/>
          </a:prstGeom>
          <a:solidFill>
            <a:srgbClr val="F2C94C"/>
          </a:solidFill>
          <a:ln/>
        </p:spPr>
      </p:sp>
      <p:sp>
        <p:nvSpPr>
          <p:cNvPr id="18" name="Text 14"/>
          <p:cNvSpPr/>
          <p:nvPr/>
        </p:nvSpPr>
        <p:spPr>
          <a:xfrm>
            <a:off x="3586274" y="1028700"/>
            <a:ext cx="1642951" cy="317897"/>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Montserrat" pitchFamily="34" charset="0"/>
                <a:ea typeface="Montserrat" pitchFamily="34" charset="-122"/>
                <a:cs typeface="Montserrat" pitchFamily="34" charset="-120"/>
              </a:rPr>
              <a:t>Intervalo de Busca</a:t>
            </a:r>
            <a:endParaRPr lang="en-US" sz="784" dirty="0"/>
          </a:p>
        </p:txBody>
      </p:sp>
      <p:sp>
        <p:nvSpPr>
          <p:cNvPr id="19" name="Text 15"/>
          <p:cNvSpPr/>
          <p:nvPr/>
        </p:nvSpPr>
        <p:spPr>
          <a:xfrm>
            <a:off x="428625" y="1339453"/>
            <a:ext cx="1693320" cy="325041"/>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solidFill>
                <a:latin typeface="JetBrains Mono" pitchFamily="34" charset="0"/>
                <a:ea typeface="JetBrains Mono" pitchFamily="34" charset="-122"/>
                <a:cs typeface="JetBrains Mono" pitchFamily="34" charset="-120"/>
              </a:rPr>
              <a:t>hidden_units</a:t>
            </a:r>
            <a:endParaRPr lang="en-US" sz="834" dirty="0"/>
          </a:p>
        </p:txBody>
      </p:sp>
      <p:sp>
        <p:nvSpPr>
          <p:cNvPr id="20" name="Text 16"/>
          <p:cNvSpPr/>
          <p:nvPr/>
        </p:nvSpPr>
        <p:spPr>
          <a:xfrm>
            <a:off x="2121945" y="1339453"/>
            <a:ext cx="1464329" cy="325041"/>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JetBrains Mono" pitchFamily="34" charset="0"/>
                <a:ea typeface="JetBrains Mono" pitchFamily="34" charset="-122"/>
                <a:cs typeface="JetBrains Mono" pitchFamily="34" charset="-120"/>
              </a:rPr>
              <a:t>32</a:t>
            </a:r>
            <a:endParaRPr lang="en-US" sz="784" dirty="0"/>
          </a:p>
        </p:txBody>
      </p:sp>
      <p:sp>
        <p:nvSpPr>
          <p:cNvPr id="21" name="Text 17"/>
          <p:cNvSpPr/>
          <p:nvPr/>
        </p:nvSpPr>
        <p:spPr>
          <a:xfrm>
            <a:off x="3586274" y="1339453"/>
            <a:ext cx="1642951" cy="325041"/>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alpha val="90000"/>
                  </a:srgbClr>
                </a:solidFill>
                <a:latin typeface="Inter" pitchFamily="34" charset="0"/>
                <a:ea typeface="Inter" pitchFamily="34" charset="-122"/>
                <a:cs typeface="Inter" pitchFamily="34" charset="-120"/>
              </a:rPr>
              <a:t>[16, 128]</a:t>
            </a:r>
            <a:endParaRPr lang="en-US" sz="834" dirty="0"/>
          </a:p>
        </p:txBody>
      </p:sp>
      <p:sp>
        <p:nvSpPr>
          <p:cNvPr id="22" name="Text 18"/>
          <p:cNvSpPr/>
          <p:nvPr/>
        </p:nvSpPr>
        <p:spPr>
          <a:xfrm>
            <a:off x="428625" y="1664494"/>
            <a:ext cx="1693320"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solidFill>
                <a:latin typeface="JetBrains Mono" pitchFamily="34" charset="0"/>
                <a:ea typeface="JetBrains Mono" pitchFamily="34" charset="-122"/>
                <a:cs typeface="JetBrains Mono" pitchFamily="34" charset="-120"/>
              </a:rPr>
              <a:t>dropout_rate</a:t>
            </a:r>
            <a:endParaRPr lang="en-US" sz="834" dirty="0"/>
          </a:p>
        </p:txBody>
      </p:sp>
      <p:sp>
        <p:nvSpPr>
          <p:cNvPr id="23" name="Text 19"/>
          <p:cNvSpPr/>
          <p:nvPr/>
        </p:nvSpPr>
        <p:spPr>
          <a:xfrm>
            <a:off x="2121945" y="1664494"/>
            <a:ext cx="1464329" cy="328613"/>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JetBrains Mono" pitchFamily="34" charset="0"/>
                <a:ea typeface="JetBrains Mono" pitchFamily="34" charset="-122"/>
                <a:cs typeface="JetBrains Mono" pitchFamily="34" charset="-120"/>
              </a:rPr>
              <a:t>0.3059</a:t>
            </a:r>
            <a:endParaRPr lang="en-US" sz="784" dirty="0"/>
          </a:p>
        </p:txBody>
      </p:sp>
      <p:sp>
        <p:nvSpPr>
          <p:cNvPr id="24" name="Text 20"/>
          <p:cNvSpPr/>
          <p:nvPr/>
        </p:nvSpPr>
        <p:spPr>
          <a:xfrm>
            <a:off x="3586274" y="1664494"/>
            <a:ext cx="1642951"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alpha val="90000"/>
                  </a:srgbClr>
                </a:solidFill>
                <a:latin typeface="Inter" pitchFamily="34" charset="0"/>
                <a:ea typeface="Inter" pitchFamily="34" charset="-122"/>
                <a:cs typeface="Inter" pitchFamily="34" charset="-120"/>
              </a:rPr>
              <a:t>[0.1, 0.5]</a:t>
            </a:r>
            <a:endParaRPr lang="en-US" sz="834" dirty="0"/>
          </a:p>
        </p:txBody>
      </p:sp>
      <p:sp>
        <p:nvSpPr>
          <p:cNvPr id="25" name="Text 21"/>
          <p:cNvSpPr/>
          <p:nvPr/>
        </p:nvSpPr>
        <p:spPr>
          <a:xfrm>
            <a:off x="428625" y="1993106"/>
            <a:ext cx="1693320"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solidFill>
                <a:latin typeface="JetBrains Mono" pitchFamily="34" charset="0"/>
                <a:ea typeface="JetBrains Mono" pitchFamily="34" charset="-122"/>
                <a:cs typeface="JetBrains Mono" pitchFamily="34" charset="-120"/>
              </a:rPr>
              <a:t>num_heads</a:t>
            </a:r>
            <a:endParaRPr lang="en-US" sz="834" dirty="0"/>
          </a:p>
        </p:txBody>
      </p:sp>
      <p:sp>
        <p:nvSpPr>
          <p:cNvPr id="26" name="Text 22"/>
          <p:cNvSpPr/>
          <p:nvPr/>
        </p:nvSpPr>
        <p:spPr>
          <a:xfrm>
            <a:off x="2121945" y="1993106"/>
            <a:ext cx="1464329" cy="328613"/>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JetBrains Mono" pitchFamily="34" charset="0"/>
                <a:ea typeface="JetBrains Mono" pitchFamily="34" charset="-122"/>
                <a:cs typeface="JetBrains Mono" pitchFamily="34" charset="-120"/>
              </a:rPr>
              <a:t>2</a:t>
            </a:r>
            <a:endParaRPr lang="en-US" sz="784" dirty="0"/>
          </a:p>
        </p:txBody>
      </p:sp>
      <p:sp>
        <p:nvSpPr>
          <p:cNvPr id="27" name="Text 23"/>
          <p:cNvSpPr/>
          <p:nvPr/>
        </p:nvSpPr>
        <p:spPr>
          <a:xfrm>
            <a:off x="3586274" y="1993106"/>
            <a:ext cx="1642951"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alpha val="90000"/>
                  </a:srgbClr>
                </a:solidFill>
                <a:latin typeface="Inter" pitchFamily="34" charset="0"/>
                <a:ea typeface="Inter" pitchFamily="34" charset="-122"/>
                <a:cs typeface="Inter" pitchFamily="34" charset="-120"/>
              </a:rPr>
              <a:t>[1, 4]</a:t>
            </a:r>
            <a:endParaRPr lang="en-US" sz="834" dirty="0"/>
          </a:p>
        </p:txBody>
      </p:sp>
      <p:sp>
        <p:nvSpPr>
          <p:cNvPr id="28" name="Text 24"/>
          <p:cNvSpPr/>
          <p:nvPr/>
        </p:nvSpPr>
        <p:spPr>
          <a:xfrm>
            <a:off x="428625" y="2321719"/>
            <a:ext cx="1693320"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solidFill>
                <a:latin typeface="JetBrains Mono" pitchFamily="34" charset="0"/>
                <a:ea typeface="JetBrains Mono" pitchFamily="34" charset="-122"/>
                <a:cs typeface="JetBrains Mono" pitchFamily="34" charset="-120"/>
              </a:rPr>
              <a:t>learning_rate</a:t>
            </a:r>
            <a:endParaRPr lang="en-US" sz="834" dirty="0"/>
          </a:p>
        </p:txBody>
      </p:sp>
      <p:sp>
        <p:nvSpPr>
          <p:cNvPr id="29" name="Text 25"/>
          <p:cNvSpPr/>
          <p:nvPr/>
        </p:nvSpPr>
        <p:spPr>
          <a:xfrm>
            <a:off x="2121945" y="2321719"/>
            <a:ext cx="1464329" cy="328613"/>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JetBrains Mono" pitchFamily="34" charset="0"/>
                <a:ea typeface="JetBrains Mono" pitchFamily="34" charset="-122"/>
                <a:cs typeface="JetBrains Mono" pitchFamily="34" charset="-120"/>
              </a:rPr>
              <a:t>0.0024</a:t>
            </a:r>
            <a:endParaRPr lang="en-US" sz="784" dirty="0"/>
          </a:p>
        </p:txBody>
      </p:sp>
      <p:sp>
        <p:nvSpPr>
          <p:cNvPr id="30" name="Text 26"/>
          <p:cNvSpPr/>
          <p:nvPr/>
        </p:nvSpPr>
        <p:spPr>
          <a:xfrm>
            <a:off x="3586274" y="2321719"/>
            <a:ext cx="1642951"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alpha val="90000"/>
                  </a:srgbClr>
                </a:solidFill>
                <a:latin typeface="Inter" pitchFamily="34" charset="0"/>
                <a:ea typeface="Inter" pitchFamily="34" charset="-122"/>
                <a:cs typeface="Inter" pitchFamily="34" charset="-120"/>
              </a:rPr>
              <a:t>[1e-4, 1e-2]</a:t>
            </a:r>
            <a:endParaRPr lang="en-US" sz="834" dirty="0"/>
          </a:p>
        </p:txBody>
      </p:sp>
      <p:sp>
        <p:nvSpPr>
          <p:cNvPr id="31" name="Text 27"/>
          <p:cNvSpPr/>
          <p:nvPr/>
        </p:nvSpPr>
        <p:spPr>
          <a:xfrm>
            <a:off x="428625" y="2650331"/>
            <a:ext cx="1693320"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solidFill>
                <a:latin typeface="JetBrains Mono" pitchFamily="34" charset="0"/>
                <a:ea typeface="JetBrains Mono" pitchFamily="34" charset="-122"/>
                <a:cs typeface="JetBrains Mono" pitchFamily="34" charset="-120"/>
              </a:rPr>
              <a:t>batch_size</a:t>
            </a:r>
            <a:endParaRPr lang="en-US" sz="834" dirty="0"/>
          </a:p>
        </p:txBody>
      </p:sp>
      <p:sp>
        <p:nvSpPr>
          <p:cNvPr id="32" name="Text 28"/>
          <p:cNvSpPr/>
          <p:nvPr/>
        </p:nvSpPr>
        <p:spPr>
          <a:xfrm>
            <a:off x="2121945" y="2650331"/>
            <a:ext cx="1464329" cy="328613"/>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JetBrains Mono" pitchFamily="34" charset="0"/>
                <a:ea typeface="JetBrains Mono" pitchFamily="34" charset="-122"/>
                <a:cs typeface="JetBrains Mono" pitchFamily="34" charset="-120"/>
              </a:rPr>
              <a:t>64</a:t>
            </a:r>
            <a:endParaRPr lang="en-US" sz="784" dirty="0"/>
          </a:p>
        </p:txBody>
      </p:sp>
      <p:sp>
        <p:nvSpPr>
          <p:cNvPr id="33" name="Text 29"/>
          <p:cNvSpPr/>
          <p:nvPr/>
        </p:nvSpPr>
        <p:spPr>
          <a:xfrm>
            <a:off x="3586274" y="2650331"/>
            <a:ext cx="1642951"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alpha val="90000"/>
                  </a:srgbClr>
                </a:solidFill>
                <a:latin typeface="Inter" pitchFamily="34" charset="0"/>
                <a:ea typeface="Inter" pitchFamily="34" charset="-122"/>
                <a:cs typeface="Inter" pitchFamily="34" charset="-120"/>
              </a:rPr>
              <a:t>[32, 128]</a:t>
            </a:r>
            <a:endParaRPr lang="en-US" sz="834" dirty="0"/>
          </a:p>
        </p:txBody>
      </p:sp>
      <p:sp>
        <p:nvSpPr>
          <p:cNvPr id="34" name="Text 30"/>
          <p:cNvSpPr/>
          <p:nvPr/>
        </p:nvSpPr>
        <p:spPr>
          <a:xfrm>
            <a:off x="428625" y="2978944"/>
            <a:ext cx="1693320"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solidFill>
                <a:latin typeface="JetBrains Mono" pitchFamily="34" charset="0"/>
                <a:ea typeface="JetBrains Mono" pitchFamily="34" charset="-122"/>
                <a:cs typeface="JetBrains Mono" pitchFamily="34" charset="-120"/>
              </a:rPr>
              <a:t>gradient_clip_val</a:t>
            </a:r>
            <a:endParaRPr lang="en-US" sz="834" dirty="0"/>
          </a:p>
        </p:txBody>
      </p:sp>
      <p:sp>
        <p:nvSpPr>
          <p:cNvPr id="35" name="Text 31"/>
          <p:cNvSpPr/>
          <p:nvPr/>
        </p:nvSpPr>
        <p:spPr>
          <a:xfrm>
            <a:off x="2121945" y="2978944"/>
            <a:ext cx="1464329" cy="328613"/>
          </a:xfrm>
          <a:prstGeom prst="rect">
            <a:avLst/>
          </a:prstGeom>
          <a:noFill/>
          <a:ln/>
        </p:spPr>
        <p:txBody>
          <a:bodyPr wrap="square" lIns="170053" tIns="102108" rIns="170053" bIns="102108" rtlCol="0" anchor="ctr">
            <a:spAutoFit/>
          </a:bodyPr>
          <a:lstStyle/>
          <a:p>
            <a:pPr algn="l" indent="0" marL="0">
              <a:lnSpc>
                <a:spcPts val="1100"/>
              </a:lnSpc>
              <a:buNone/>
            </a:pPr>
            <a:r>
              <a:rPr lang="en-US" sz="784" b="1" dirty="0">
                <a:solidFill>
                  <a:srgbClr val="F2C94C"/>
                </a:solidFill>
                <a:latin typeface="JetBrains Mono" pitchFamily="34" charset="0"/>
                <a:ea typeface="JetBrains Mono" pitchFamily="34" charset="-122"/>
                <a:cs typeface="JetBrains Mono" pitchFamily="34" charset="-120"/>
              </a:rPr>
              <a:t>0.14</a:t>
            </a:r>
            <a:endParaRPr lang="en-US" sz="784" dirty="0"/>
          </a:p>
        </p:txBody>
      </p:sp>
      <p:sp>
        <p:nvSpPr>
          <p:cNvPr id="36" name="Text 32"/>
          <p:cNvSpPr/>
          <p:nvPr/>
        </p:nvSpPr>
        <p:spPr>
          <a:xfrm>
            <a:off x="3586274" y="2978944"/>
            <a:ext cx="1642951" cy="328613"/>
          </a:xfrm>
          <a:prstGeom prst="rect">
            <a:avLst/>
          </a:prstGeom>
          <a:noFill/>
          <a:ln/>
        </p:spPr>
        <p:txBody>
          <a:bodyPr wrap="square" lIns="170053" tIns="102108" rIns="170053" bIns="102108" rtlCol="0" anchor="ctr">
            <a:spAutoFit/>
          </a:bodyPr>
          <a:lstStyle/>
          <a:p>
            <a:pPr algn="l" indent="0" marL="0">
              <a:lnSpc>
                <a:spcPts val="1100"/>
              </a:lnSpc>
              <a:buNone/>
            </a:pPr>
            <a:r>
              <a:rPr lang="en-US" sz="834" dirty="0">
                <a:solidFill>
                  <a:srgbClr val="E8EDF2">
                    <a:alpha val="90000"/>
                  </a:srgbClr>
                </a:solidFill>
                <a:latin typeface="Inter" pitchFamily="34" charset="0"/>
                <a:ea typeface="Inter" pitchFamily="34" charset="-122"/>
                <a:cs typeface="Inter" pitchFamily="34" charset="-120"/>
              </a:rPr>
              <a:t>[0.01, 1.0]</a:t>
            </a:r>
            <a:endParaRPr lang="en-US" sz="834" dirty="0"/>
          </a:p>
        </p:txBody>
      </p:sp>
      <p:sp>
        <p:nvSpPr>
          <p:cNvPr id="37" name="Shape 33"/>
          <p:cNvSpPr/>
          <p:nvPr/>
        </p:nvSpPr>
        <p:spPr>
          <a:xfrm>
            <a:off x="5514975" y="1028700"/>
            <a:ext cx="3200400" cy="964406"/>
          </a:xfrm>
          <a:prstGeom prst="rect">
            <a:avLst/>
          </a:prstGeom>
          <a:solidFill>
            <a:srgbClr val="F2C94C">
              <a:alpha val="5000"/>
            </a:srgbClr>
          </a:solidFill>
          <a:ln/>
        </p:spPr>
      </p:sp>
      <p:sp>
        <p:nvSpPr>
          <p:cNvPr id="38" name="Shape 34"/>
          <p:cNvSpPr/>
          <p:nvPr/>
        </p:nvSpPr>
        <p:spPr>
          <a:xfrm>
            <a:off x="5514975" y="1028700"/>
            <a:ext cx="28575" cy="964406"/>
          </a:xfrm>
          <a:prstGeom prst="rect">
            <a:avLst/>
          </a:prstGeom>
          <a:solidFill>
            <a:srgbClr val="F2C94C"/>
          </a:solidFill>
          <a:ln/>
        </p:spPr>
      </p:sp>
      <p:sp>
        <p:nvSpPr>
          <p:cNvPr id="39" name="Text 35"/>
          <p:cNvSpPr/>
          <p:nvPr/>
        </p:nvSpPr>
        <p:spPr>
          <a:xfrm>
            <a:off x="5657850" y="1171575"/>
            <a:ext cx="2914650"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Metodologia de Otimização</a:t>
            </a:r>
            <a:endParaRPr lang="en-US" sz="885" dirty="0"/>
          </a:p>
        </p:txBody>
      </p:sp>
      <p:sp>
        <p:nvSpPr>
          <p:cNvPr id="40" name="Text 36"/>
          <p:cNvSpPr/>
          <p:nvPr/>
        </p:nvSpPr>
        <p:spPr>
          <a:xfrm>
            <a:off x="5657850" y="1400175"/>
            <a:ext cx="2914650" cy="450056"/>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Utilizou-se o framework </a:t>
            </a:r>
            <a:pPr algn="l" indent="0" marL="0">
              <a:lnSpc>
                <a:spcPts val="1200"/>
              </a:lnSpc>
              <a:buNone/>
            </a:pPr>
            <a:r>
              <a:rPr lang="en-US" sz="683" b="1" dirty="0">
                <a:solidFill>
                  <a:srgbClr val="E8EDF2">
                    <a:alpha val="80000"/>
                  </a:srgbClr>
                </a:solidFill>
                <a:latin typeface="Inter" pitchFamily="34" charset="0"/>
                <a:ea typeface="Inter" pitchFamily="34" charset="-122"/>
                <a:cs typeface="Inter" pitchFamily="34" charset="-120"/>
              </a:rPr>
              <a:t>Optuna</a:t>
            </a:r>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 com o algoritmo TPE (Tree-</a:t>
            </a:r>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structured Parzen Estimator) para amostragem bayesiana </a:t>
            </a:r>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eficiente do espaço de busca.</a:t>
            </a:r>
            <a:endParaRPr lang="en-US" sz="727" dirty="0"/>
          </a:p>
        </p:txBody>
      </p:sp>
      <p:sp>
        <p:nvSpPr>
          <p:cNvPr id="41" name="Shape 37"/>
          <p:cNvSpPr/>
          <p:nvPr/>
        </p:nvSpPr>
        <p:spPr>
          <a:xfrm>
            <a:off x="5514975" y="2135981"/>
            <a:ext cx="3200400" cy="1264444"/>
          </a:xfrm>
          <a:prstGeom prst="rect">
            <a:avLst/>
          </a:prstGeom>
          <a:solidFill>
            <a:srgbClr val="EB5757">
              <a:alpha val="5000"/>
            </a:srgbClr>
          </a:solidFill>
          <a:ln/>
        </p:spPr>
      </p:sp>
      <p:sp>
        <p:nvSpPr>
          <p:cNvPr id="42" name="Shape 38"/>
          <p:cNvSpPr/>
          <p:nvPr/>
        </p:nvSpPr>
        <p:spPr>
          <a:xfrm>
            <a:off x="5514975" y="2135981"/>
            <a:ext cx="28575" cy="1264444"/>
          </a:xfrm>
          <a:prstGeom prst="rect">
            <a:avLst/>
          </a:prstGeom>
          <a:solidFill>
            <a:srgbClr val="EB5757"/>
          </a:solidFill>
          <a:ln/>
        </p:spPr>
      </p:sp>
      <p:sp>
        <p:nvSpPr>
          <p:cNvPr id="43" name="Text 39"/>
          <p:cNvSpPr/>
          <p:nvPr/>
        </p:nvSpPr>
        <p:spPr>
          <a:xfrm>
            <a:off x="5657850" y="2278856"/>
            <a:ext cx="2914650"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EB5757"/>
                </a:solidFill>
                <a:latin typeface="Montserrat" pitchFamily="34" charset="0"/>
                <a:ea typeface="Montserrat" pitchFamily="34" charset="-122"/>
                <a:cs typeface="Montserrat" pitchFamily="34" charset="-120"/>
              </a:rPr>
              <a:t>Nota sobre Modelos Híbridos (LSTM/GRU)</a:t>
            </a:r>
            <a:endParaRPr lang="en-US" sz="885" dirty="0"/>
          </a:p>
        </p:txBody>
      </p:sp>
      <p:sp>
        <p:nvSpPr>
          <p:cNvPr id="44" name="Text 40"/>
          <p:cNvSpPr/>
          <p:nvPr/>
        </p:nvSpPr>
        <p:spPr>
          <a:xfrm>
            <a:off x="5657850" y="2507456"/>
            <a:ext cx="2914650" cy="750094"/>
          </a:xfrm>
          <a:prstGeom prst="rect">
            <a:avLst/>
          </a:prstGeom>
          <a:noFill/>
          <a:ln/>
        </p:spPr>
        <p:txBody>
          <a:bodyPr wrap="square" lIns="0" tIns="0" rIns="0" bIns="0" rtlCol="0" anchor="t">
            <a:spAutoFit/>
          </a:bodyPr>
          <a:lstStyle/>
          <a:p>
            <a:pPr algn="l" indent="0" marL="0">
              <a:lnSpc>
                <a:spcPts val="1200"/>
              </a:lnSpc>
              <a:buNone/>
            </a:pPr>
            <a:r>
              <a:rPr lang="en-US" sz="727" dirty="0">
                <a:solidFill>
                  <a:srgbClr val="E8EDF2">
                    <a:alpha val="80000"/>
                  </a:srgbClr>
                </a:solidFill>
                <a:latin typeface="Inter" pitchFamily="34" charset="0"/>
                <a:ea typeface="Inter" pitchFamily="34" charset="-122"/>
                <a:cs typeface="Inter" pitchFamily="34" charset="-120"/>
              </a:rPr>
              <a:t>Devido ao alto custo computacional de treinar 13 sub-modelos (um para cada IMF) para cada trial, os modelos híbridos "Divide and Conquer" utilizaram hiperparâmetros padrão da literatura, não sendo submetidos à busca exaustiva do Optuna.</a:t>
            </a:r>
            <a:endParaRPr lang="en-US" sz="727"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400050"/>
          </a:xfrm>
          <a:prstGeom prst="rect">
            <a:avLst/>
          </a:prstGeom>
          <a:solidFill>
            <a:srgbClr val="000000">
              <a:alpha val="0"/>
            </a:srgbClr>
          </a:solidFill>
          <a:ln/>
        </p:spPr>
      </p:sp>
      <p:sp>
        <p:nvSpPr>
          <p:cNvPr id="5" name="Shape 1"/>
          <p:cNvSpPr/>
          <p:nvPr/>
        </p:nvSpPr>
        <p:spPr>
          <a:xfrm>
            <a:off x="428625" y="814388"/>
            <a:ext cx="8286750" cy="14288"/>
          </a:xfrm>
          <a:prstGeom prst="rect">
            <a:avLst/>
          </a:prstGeom>
          <a:solidFill>
            <a:srgbClr val="F2C94C"/>
          </a:solidFill>
          <a:ln/>
        </p:spPr>
      </p:sp>
      <p:sp>
        <p:nvSpPr>
          <p:cNvPr id="6" name="Text 2"/>
          <p:cNvSpPr/>
          <p:nvPr/>
        </p:nvSpPr>
        <p:spPr>
          <a:xfrm>
            <a:off x="428625" y="428625"/>
            <a:ext cx="4429125" cy="278606"/>
          </a:xfrm>
          <a:prstGeom prst="rect">
            <a:avLst/>
          </a:prstGeom>
          <a:noFill/>
          <a:ln/>
        </p:spPr>
        <p:txBody>
          <a:bodyPr wrap="none" lIns="0" tIns="0" rIns="0" bIns="0" rtlCol="0" anchor="t">
            <a:spAutoFit/>
          </a:bodyPr>
          <a:lstStyle/>
          <a:p>
            <a:pPr algn="l" indent="0" marL="0">
              <a:lnSpc>
                <a:spcPts val="2200"/>
              </a:lnSpc>
              <a:buNone/>
            </a:pPr>
            <a:r>
              <a:rPr lang="en-US" sz="1602" b="1" spc="1" kern="0" dirty="0">
                <a:solidFill>
                  <a:srgbClr val="F2C94C"/>
                </a:solidFill>
                <a:latin typeface="Montserrat" pitchFamily="34" charset="0"/>
                <a:ea typeface="Montserrat" pitchFamily="34" charset="-122"/>
                <a:cs typeface="Montserrat" pitchFamily="34" charset="-120"/>
              </a:rPr>
              <a:t>FUNÇÃO DE PERDA: PINBALL LOSS</a:t>
            </a:r>
            <a:endParaRPr lang="en-US" sz="1602" dirty="0"/>
          </a:p>
        </p:txBody>
      </p:sp>
      <p:sp>
        <p:nvSpPr>
          <p:cNvPr id="7" name="Shape 3"/>
          <p:cNvSpPr/>
          <p:nvPr/>
        </p:nvSpPr>
        <p:spPr>
          <a:xfrm>
            <a:off x="7606308" y="464344"/>
            <a:ext cx="1109067" cy="207169"/>
          </a:xfrm>
          <a:prstGeom prst="rect">
            <a:avLst/>
          </a:prstGeom>
          <a:solidFill>
            <a:srgbClr val="EB5757">
              <a:alpha val="20000"/>
            </a:srgbClr>
          </a:solidFill>
          <a:ln w="9144">
            <a:solidFill>
              <a:srgbClr val="EB5757"/>
            </a:solidFill>
            <a:prstDash val="solid"/>
          </a:ln>
        </p:spPr>
      </p:sp>
      <p:sp>
        <p:nvSpPr>
          <p:cNvPr id="8" name="Text 4"/>
          <p:cNvSpPr/>
          <p:nvPr/>
        </p:nvSpPr>
        <p:spPr>
          <a:xfrm>
            <a:off x="7606308" y="464344"/>
            <a:ext cx="1109067" cy="207169"/>
          </a:xfrm>
          <a:prstGeom prst="rect">
            <a:avLst/>
          </a:prstGeom>
          <a:noFill/>
          <a:ln/>
        </p:spPr>
        <p:txBody>
          <a:bodyPr wrap="square" lIns="127508" tIns="42545" rIns="127508" bIns="42545" rtlCol="0" anchor="t">
            <a:spAutoFit/>
          </a:bodyPr>
          <a:lstStyle/>
          <a:p>
            <a:pPr algn="l" indent="0" marL="0">
              <a:lnSpc>
                <a:spcPts val="900"/>
              </a:lnSpc>
              <a:buNone/>
            </a:pPr>
            <a:r>
              <a:rPr lang="en-US" sz="683" b="1" dirty="0">
                <a:solidFill>
                  <a:srgbClr val="EB5757"/>
                </a:solidFill>
                <a:latin typeface="Inter" pitchFamily="34" charset="0"/>
                <a:ea typeface="Inter" pitchFamily="34" charset="-122"/>
                <a:cs typeface="Inter" pitchFamily="34" charset="-120"/>
              </a:rPr>
              <a:t>SLIDE DE BACKUP</a:t>
            </a:r>
            <a:endParaRPr lang="en-US" sz="683" dirty="0"/>
          </a:p>
        </p:txBody>
      </p:sp>
      <p:sp>
        <p:nvSpPr>
          <p:cNvPr id="9" name="Shape 5"/>
          <p:cNvSpPr/>
          <p:nvPr/>
        </p:nvSpPr>
        <p:spPr>
          <a:xfrm>
            <a:off x="428625" y="1100138"/>
            <a:ext cx="3964781" cy="3429000"/>
          </a:xfrm>
          <a:prstGeom prst="rect">
            <a:avLst/>
          </a:prstGeom>
          <a:solidFill>
            <a:srgbClr val="FFFFFF">
              <a:alpha val="5000"/>
            </a:srgbClr>
          </a:solidFill>
          <a:ln/>
        </p:spPr>
      </p:sp>
      <p:sp>
        <p:nvSpPr>
          <p:cNvPr id="10" name="Text 6"/>
          <p:cNvSpPr/>
          <p:nvPr/>
        </p:nvSpPr>
        <p:spPr>
          <a:xfrm>
            <a:off x="1610023" y="1713440"/>
            <a:ext cx="1601986" cy="121444"/>
          </a:xfrm>
          <a:prstGeom prst="rect">
            <a:avLst/>
          </a:prstGeom>
          <a:noFill/>
          <a:ln/>
        </p:spPr>
        <p:txBody>
          <a:bodyPr wrap="none" lIns="0" tIns="0" rIns="0" bIns="0" rtlCol="0" anchor="t">
            <a:spAutoFit/>
          </a:bodyPr>
          <a:lstStyle/>
          <a:p>
            <a:pPr algn="l" indent="0" marL="0">
              <a:lnSpc>
                <a:spcPts val="900"/>
              </a:lnSpc>
              <a:buNone/>
            </a:pPr>
            <a:r>
              <a:rPr lang="en-US" sz="727" dirty="0">
                <a:solidFill>
                  <a:srgbClr val="E8EDF2">
                    <a:alpha val="60000"/>
                  </a:srgbClr>
                </a:solidFill>
                <a:latin typeface="Montserrat" pitchFamily="34" charset="0"/>
                <a:ea typeface="Montserrat" pitchFamily="34" charset="-122"/>
                <a:cs typeface="Montserrat" pitchFamily="34" charset="-120"/>
              </a:rPr>
              <a:t>EQUAÇÃO 4.33 (DISSERTAÇÃO)</a:t>
            </a:r>
            <a:endParaRPr lang="en-US" sz="727" dirty="0"/>
          </a:p>
        </p:txBody>
      </p:sp>
      <p:sp>
        <p:nvSpPr>
          <p:cNvPr id="11" name="Text 7"/>
          <p:cNvSpPr/>
          <p:nvPr/>
        </p:nvSpPr>
        <p:spPr>
          <a:xfrm>
            <a:off x="1181007" y="2052768"/>
            <a:ext cx="95352" cy="191095"/>
          </a:xfrm>
          <a:prstGeom prst="rect">
            <a:avLst/>
          </a:prstGeom>
          <a:noFill/>
          <a:ln/>
        </p:spPr>
        <p:txBody>
          <a:bodyPr wrap="none" lIns="0" tIns="0" rIns="0" bIns="0" rtlCol="0" anchor="t">
            <a:spAutoFit/>
          </a:bodyPr>
          <a:lstStyle/>
          <a:p>
            <a:pPr algn="l" indent="0" marL="0">
              <a:lnSpc>
                <a:spcPts val="2700"/>
              </a:lnSpc>
              <a:buNone/>
            </a:pPr>
            <a:r>
              <a:rPr lang="en-US" sz="1269" i="1" dirty="0">
                <a:solidFill>
                  <a:srgbClr val="E8EDF2"/>
                </a:solidFill>
                <a:latin typeface="Times New Roman" pitchFamily="34" charset="0"/>
                <a:ea typeface="Times New Roman" pitchFamily="34" charset="-122"/>
                <a:cs typeface="Times New Roman" pitchFamily="34" charset="-120"/>
              </a:rPr>
              <a:t>L</a:t>
            </a:r>
            <a:endParaRPr lang="en-US" sz="1269" dirty="0"/>
          </a:p>
        </p:txBody>
      </p:sp>
      <p:sp>
        <p:nvSpPr>
          <p:cNvPr id="12" name="Text 8"/>
          <p:cNvSpPr/>
          <p:nvPr/>
        </p:nvSpPr>
        <p:spPr>
          <a:xfrm>
            <a:off x="1276359" y="2117396"/>
            <a:ext cx="51150" cy="157163"/>
          </a:xfrm>
          <a:prstGeom prst="rect">
            <a:avLst/>
          </a:prstGeom>
          <a:noFill/>
          <a:ln/>
        </p:spPr>
        <p:txBody>
          <a:bodyPr wrap="none" lIns="0" tIns="0" rIns="0" bIns="0" rtlCol="0" anchor="t">
            <a:spAutoFit/>
          </a:bodyPr>
          <a:lstStyle/>
          <a:p>
            <a:pPr algn="l" indent="0" marL="0">
              <a:lnSpc>
                <a:spcPts val="2300"/>
              </a:lnSpc>
              <a:buNone/>
            </a:pPr>
            <a:r>
              <a:rPr lang="en-US" sz="1050" i="1" baseline="-40000" dirty="0">
                <a:solidFill>
                  <a:srgbClr val="E8EDF2"/>
                </a:solidFill>
                <a:latin typeface="Times New Roman" pitchFamily="34" charset="0"/>
                <a:ea typeface="Times New Roman" pitchFamily="34" charset="-122"/>
                <a:cs typeface="Times New Roman" pitchFamily="34" charset="-120"/>
              </a:rPr>
              <a:t>τ</a:t>
            </a:r>
            <a:endParaRPr lang="en-US" sz="1050" dirty="0"/>
          </a:p>
        </p:txBody>
      </p:sp>
      <p:sp>
        <p:nvSpPr>
          <p:cNvPr id="13" name="Text 9"/>
          <p:cNvSpPr/>
          <p:nvPr/>
        </p:nvSpPr>
        <p:spPr>
          <a:xfrm>
            <a:off x="1327510" y="2052768"/>
            <a:ext cx="2313487" cy="191095"/>
          </a:xfrm>
          <a:prstGeom prst="rect">
            <a:avLst/>
          </a:prstGeom>
          <a:noFill/>
          <a:ln/>
        </p:spPr>
        <p:txBody>
          <a:bodyPr wrap="none" lIns="0" tIns="0" rIns="0" bIns="0" rtlCol="0" anchor="t">
            <a:spAutoFit/>
          </a:bodyPr>
          <a:lstStyle/>
          <a:p>
            <a:pPr algn="l" indent="0" marL="0">
              <a:lnSpc>
                <a:spcPts val="2700"/>
              </a:lnSpc>
              <a:buNone/>
            </a:pPr>
            <a:r>
              <a:rPr lang="en-US" sz="1269" i="1" dirty="0">
                <a:solidFill>
                  <a:srgbClr val="E8EDF2"/>
                </a:solidFill>
                <a:latin typeface="Times New Roman" pitchFamily="34" charset="0"/>
                <a:ea typeface="Times New Roman" pitchFamily="34" charset="-122"/>
                <a:cs typeface="Times New Roman" pitchFamily="34" charset="-120"/>
              </a:rPr>
              <a:t>(y, ŷ) = max(τ(y - ŷ), (1 - τ)(ŷ - y))</a:t>
            </a:r>
            <a:endParaRPr lang="en-US" sz="1269" dirty="0"/>
          </a:p>
        </p:txBody>
      </p:sp>
      <p:sp>
        <p:nvSpPr>
          <p:cNvPr id="14" name="Text 10"/>
          <p:cNvSpPr/>
          <p:nvPr/>
        </p:nvSpPr>
        <p:spPr>
          <a:xfrm>
            <a:off x="1339453" y="2624603"/>
            <a:ext cx="2143125" cy="121444"/>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F2C94C"/>
                </a:solidFill>
                <a:latin typeface="Inter" pitchFamily="34" charset="0"/>
                <a:ea typeface="Inter" pitchFamily="34" charset="-122"/>
                <a:cs typeface="Inter" pitchFamily="34" charset="-120"/>
              </a:rPr>
              <a:t>Visualização (Ex: τ = 0.9)</a:t>
            </a:r>
            <a:endParaRPr lang="en-US" sz="727" dirty="0"/>
          </a:p>
        </p:txBody>
      </p:sp>
      <p:pic>
        <p:nvPicPr>
          <p:cNvPr id="15" name="Image 1" descr="preencoded.png">    </p:cNvPr>
          <p:cNvPicPr>
            <a:picLocks noChangeAspect="1"/>
          </p:cNvPicPr>
          <p:nvPr/>
        </p:nvPicPr>
        <p:blipFill>
          <a:blip r:embed="rId2"/>
          <a:stretch>
            <a:fillRect/>
          </a:stretch>
        </p:blipFill>
        <p:spPr>
          <a:xfrm>
            <a:off x="1339453" y="2817484"/>
            <a:ext cx="2143125" cy="1071563"/>
          </a:xfrm>
          <a:prstGeom prst="rect">
            <a:avLst/>
          </a:prstGeom>
        </p:spPr>
      </p:pic>
      <p:sp>
        <p:nvSpPr>
          <p:cNvPr id="16" name="Text 11"/>
          <p:cNvSpPr/>
          <p:nvPr/>
        </p:nvSpPr>
        <p:spPr>
          <a:xfrm>
            <a:off x="4922044" y="1674540"/>
            <a:ext cx="3793331"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Penalidade Assimétrica</a:t>
            </a:r>
            <a:endParaRPr lang="en-US" sz="885" dirty="0"/>
          </a:p>
        </p:txBody>
      </p:sp>
      <p:sp>
        <p:nvSpPr>
          <p:cNvPr id="17" name="Text 12"/>
          <p:cNvSpPr/>
          <p:nvPr/>
        </p:nvSpPr>
        <p:spPr>
          <a:xfrm>
            <a:off x="4922044" y="1888852"/>
            <a:ext cx="3793331"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Diferente do MSE (simétrico), a Pinball Loss penaliza erros de forma diferente dependendo se o valor real está acima ou abaixo da previsão.</a:t>
            </a:r>
            <a:endParaRPr lang="en-US" sz="834" dirty="0"/>
          </a:p>
        </p:txBody>
      </p:sp>
      <p:sp>
        <p:nvSpPr>
          <p:cNvPr id="18" name="Text 13"/>
          <p:cNvSpPr/>
          <p:nvPr/>
        </p:nvSpPr>
        <p:spPr>
          <a:xfrm>
            <a:off x="4922044" y="2616036"/>
            <a:ext cx="3793331"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Para τ = 0.9 (P90)</a:t>
            </a:r>
            <a:endParaRPr lang="en-US" sz="885" dirty="0"/>
          </a:p>
        </p:txBody>
      </p:sp>
      <p:sp>
        <p:nvSpPr>
          <p:cNvPr id="19" name="Text 14"/>
          <p:cNvSpPr/>
          <p:nvPr/>
        </p:nvSpPr>
        <p:spPr>
          <a:xfrm>
            <a:off x="4922044" y="2830348"/>
            <a:ext cx="3793331"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O modelo é severamente penalizado se subestimar o valor real (Under-prediction), forçando-o a cobrir 90% dos casos.</a:t>
            </a:r>
            <a:endParaRPr lang="en-US" sz="834" dirty="0"/>
          </a:p>
        </p:txBody>
      </p:sp>
      <p:sp>
        <p:nvSpPr>
          <p:cNvPr id="20" name="Text 15"/>
          <p:cNvSpPr/>
          <p:nvPr/>
        </p:nvSpPr>
        <p:spPr>
          <a:xfrm>
            <a:off x="4922044" y="3374668"/>
            <a:ext cx="3793331" cy="157163"/>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2C94C"/>
                </a:solidFill>
                <a:latin typeface="Montserrat" pitchFamily="34" charset="0"/>
                <a:ea typeface="Montserrat" pitchFamily="34" charset="-122"/>
                <a:cs typeface="Montserrat" pitchFamily="34" charset="-120"/>
              </a:rPr>
              <a:t>Para τ = 0.1 (P10)</a:t>
            </a:r>
            <a:endParaRPr lang="en-US" sz="885" dirty="0"/>
          </a:p>
        </p:txBody>
      </p:sp>
      <p:sp>
        <p:nvSpPr>
          <p:cNvPr id="21" name="Text 16"/>
          <p:cNvSpPr/>
          <p:nvPr/>
        </p:nvSpPr>
        <p:spPr>
          <a:xfrm>
            <a:off x="4922044" y="3588981"/>
            <a:ext cx="3793331"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E8EDF2">
                    <a:alpha val="90000"/>
                  </a:srgbClr>
                </a:solidFill>
                <a:latin typeface="Inter" pitchFamily="34" charset="0"/>
                <a:ea typeface="Inter" pitchFamily="34" charset="-122"/>
                <a:cs typeface="Inter" pitchFamily="34" charset="-120"/>
              </a:rPr>
              <a:t>A penalidade é maior para superestimação, forçando o modelo a ser conservador (limite inferior).</a:t>
            </a:r>
            <a:endParaRPr lang="en-US" sz="834"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373511" y="506313"/>
            <a:ext cx="4396978" cy="685800"/>
          </a:xfrm>
          <a:prstGeom prst="rect">
            <a:avLst/>
          </a:prstGeom>
          <a:noFill/>
          <a:ln/>
        </p:spPr>
        <p:txBody>
          <a:bodyPr wrap="none" lIns="0" tIns="0" rIns="0" bIns="0" rtlCol="0" anchor="t">
            <a:spAutoFit/>
          </a:bodyPr>
          <a:lstStyle/>
          <a:p>
            <a:pPr algn="ctr" indent="0" marL="0">
              <a:lnSpc>
                <a:spcPts val="5400"/>
              </a:lnSpc>
              <a:buNone/>
            </a:pPr>
            <a:r>
              <a:rPr lang="en-US" sz="4974" b="1" spc="2" kern="0" dirty="0">
                <a:solidFill>
                  <a:srgbClr val="F2C94C"/>
                </a:solidFill>
                <a:latin typeface="Montserrat" pitchFamily="34" charset="0"/>
                <a:ea typeface="Montserrat" pitchFamily="34" charset="-122"/>
                <a:cs typeface="Montserrat" pitchFamily="34" charset="-120"/>
              </a:rPr>
              <a:t>OBRIGADO!</a:t>
            </a:r>
            <a:endParaRPr lang="en-US" sz="4974" dirty="0"/>
          </a:p>
        </p:txBody>
      </p:sp>
      <p:sp>
        <p:nvSpPr>
          <p:cNvPr id="5" name="Text 1"/>
          <p:cNvSpPr/>
          <p:nvPr/>
        </p:nvSpPr>
        <p:spPr>
          <a:xfrm>
            <a:off x="3896916" y="1406426"/>
            <a:ext cx="1350169" cy="278606"/>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E8EDF2">
                    <a:alpha val="90000"/>
                  </a:srgbClr>
                </a:solidFill>
                <a:latin typeface="Montserrat" pitchFamily="34" charset="0"/>
                <a:ea typeface="Montserrat" pitchFamily="34" charset="-122"/>
                <a:cs typeface="Montserrat" pitchFamily="34" charset="-120"/>
              </a:rPr>
              <a:t>Perguntas?</a:t>
            </a:r>
            <a:endParaRPr lang="en-US" sz="1602" dirty="0"/>
          </a:p>
        </p:txBody>
      </p:sp>
      <p:sp>
        <p:nvSpPr>
          <p:cNvPr id="6" name="Shape 2"/>
          <p:cNvSpPr/>
          <p:nvPr/>
        </p:nvSpPr>
        <p:spPr>
          <a:xfrm>
            <a:off x="3245941" y="2442270"/>
            <a:ext cx="2652117" cy="1123355"/>
          </a:xfrm>
          <a:prstGeom prst="rect">
            <a:avLst/>
          </a:prstGeom>
          <a:solidFill>
            <a:srgbClr val="001D33">
              <a:alpha val="40000"/>
            </a:srgbClr>
          </a:solidFill>
          <a:ln w="9144">
            <a:solidFill>
              <a:srgbClr val="E8EDF2">
                <a:alpha val="10000"/>
              </a:srgbClr>
            </a:solidFill>
            <a:prstDash val="solid"/>
          </a:ln>
        </p:spPr>
      </p:sp>
      <p:pic>
        <p:nvPicPr>
          <p:cNvPr id="7" name="Image 1" descr="preencoded.png">    </p:cNvPr>
          <p:cNvPicPr>
            <a:picLocks noChangeAspect="1"/>
          </p:cNvPicPr>
          <p:nvPr/>
        </p:nvPicPr>
        <p:blipFill>
          <a:blip r:embed="rId2"/>
          <a:stretch>
            <a:fillRect/>
          </a:stretch>
        </p:blipFill>
        <p:spPr>
          <a:xfrm>
            <a:off x="3610273" y="2669977"/>
            <a:ext cx="171450" cy="142875"/>
          </a:xfrm>
          <a:prstGeom prst="rect">
            <a:avLst/>
          </a:prstGeom>
        </p:spPr>
      </p:pic>
      <p:sp>
        <p:nvSpPr>
          <p:cNvPr id="8" name="Text 3"/>
          <p:cNvSpPr/>
          <p:nvPr/>
        </p:nvSpPr>
        <p:spPr>
          <a:xfrm>
            <a:off x="3888879" y="2663726"/>
            <a:ext cx="994767" cy="155377"/>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E8EDF2"/>
                </a:solidFill>
                <a:latin typeface="Inter" pitchFamily="34" charset="0"/>
                <a:ea typeface="Inter" pitchFamily="34" charset="-122"/>
                <a:cs typeface="Inter" pitchFamily="34" charset="-120"/>
              </a:rPr>
              <a:t>[Seu Email Aqui]</a:t>
            </a:r>
            <a:endParaRPr lang="en-US" sz="942" dirty="0"/>
          </a:p>
        </p:txBody>
      </p:sp>
      <p:pic>
        <p:nvPicPr>
          <p:cNvPr id="9" name="Image 2" descr="preencoded.png">    </p:cNvPr>
          <p:cNvPicPr>
            <a:picLocks noChangeAspect="1"/>
          </p:cNvPicPr>
          <p:nvPr/>
        </p:nvPicPr>
        <p:blipFill>
          <a:blip r:embed="rId3"/>
          <a:stretch>
            <a:fillRect/>
          </a:stretch>
        </p:blipFill>
        <p:spPr>
          <a:xfrm>
            <a:off x="3610273" y="2932509"/>
            <a:ext cx="171450" cy="142875"/>
          </a:xfrm>
          <a:prstGeom prst="rect">
            <a:avLst/>
          </a:prstGeom>
        </p:spPr>
      </p:pic>
      <p:sp>
        <p:nvSpPr>
          <p:cNvPr id="10" name="Text 4"/>
          <p:cNvSpPr/>
          <p:nvPr/>
        </p:nvSpPr>
        <p:spPr>
          <a:xfrm>
            <a:off x="3888879" y="2926259"/>
            <a:ext cx="1644848" cy="155377"/>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E8EDF2"/>
                </a:solidFill>
                <a:latin typeface="Inter" pitchFamily="34" charset="0"/>
                <a:ea typeface="Inter" pitchFamily="34" charset="-122"/>
                <a:cs typeface="Inter" pitchFamily="34" charset="-120"/>
              </a:rPr>
              <a:t>linkedin.com/in/[seu-perfil]</a:t>
            </a:r>
            <a:endParaRPr lang="en-US" sz="942" dirty="0"/>
          </a:p>
        </p:txBody>
      </p:sp>
      <p:pic>
        <p:nvPicPr>
          <p:cNvPr id="11" name="Image 3" descr="preencoded.png">    </p:cNvPr>
          <p:cNvPicPr>
            <a:picLocks noChangeAspect="1"/>
          </p:cNvPicPr>
          <p:nvPr/>
        </p:nvPicPr>
        <p:blipFill>
          <a:blip r:embed="rId4"/>
          <a:stretch>
            <a:fillRect/>
          </a:stretch>
        </p:blipFill>
        <p:spPr>
          <a:xfrm>
            <a:off x="3610273" y="3195042"/>
            <a:ext cx="171450" cy="142875"/>
          </a:xfrm>
          <a:prstGeom prst="rect">
            <a:avLst/>
          </a:prstGeom>
        </p:spPr>
      </p:pic>
      <p:sp>
        <p:nvSpPr>
          <p:cNvPr id="12" name="Text 5"/>
          <p:cNvSpPr/>
          <p:nvPr/>
        </p:nvSpPr>
        <p:spPr>
          <a:xfrm>
            <a:off x="3888879" y="3188791"/>
            <a:ext cx="1391245" cy="155377"/>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E8EDF2"/>
                </a:solidFill>
                <a:latin typeface="Inter" pitchFamily="34" charset="0"/>
                <a:ea typeface="Inter" pitchFamily="34" charset="-122"/>
                <a:cs typeface="Inter" pitchFamily="34" charset="-120"/>
              </a:rPr>
              <a:t>github.com/viniciosgnr</a:t>
            </a:r>
            <a:endParaRPr lang="en-US" sz="942" dirty="0"/>
          </a:p>
        </p:txBody>
      </p:sp>
      <p:sp>
        <p:nvSpPr>
          <p:cNvPr id="13" name="Shape 6"/>
          <p:cNvSpPr/>
          <p:nvPr/>
        </p:nvSpPr>
        <p:spPr>
          <a:xfrm>
            <a:off x="3327202" y="4201418"/>
            <a:ext cx="582216" cy="428625"/>
          </a:xfrm>
          <a:prstGeom prst="rect">
            <a:avLst/>
          </a:prstGeom>
          <a:solidFill>
            <a:srgbClr val="FFFFFF">
              <a:alpha val="5000"/>
            </a:srgbClr>
          </a:solidFill>
          <a:ln w="18288">
            <a:solidFill>
              <a:srgbClr val="E8EDF2">
                <a:alpha val="30000"/>
              </a:srgbClr>
            </a:solidFill>
            <a:prstDash val="dash"/>
          </a:ln>
        </p:spPr>
      </p:sp>
      <p:sp>
        <p:nvSpPr>
          <p:cNvPr id="14" name="Text 7"/>
          <p:cNvSpPr/>
          <p:nvPr/>
        </p:nvSpPr>
        <p:spPr>
          <a:xfrm>
            <a:off x="3327202" y="4201418"/>
            <a:ext cx="582216" cy="428625"/>
          </a:xfrm>
          <a:prstGeom prst="rect">
            <a:avLst/>
          </a:prstGeom>
          <a:noFill/>
          <a:ln/>
        </p:spPr>
        <p:txBody>
          <a:bodyPr wrap="square" lIns="170053" tIns="0" rIns="170053" bIns="0" rtlCol="0" anchor="ctr">
            <a:spAutoFit/>
          </a:bodyPr>
          <a:lstStyle/>
          <a:p>
            <a:pPr algn="ctr" indent="0" marL="0">
              <a:lnSpc>
                <a:spcPts val="900"/>
              </a:lnSpc>
              <a:buNone/>
            </a:pPr>
            <a:r>
              <a:rPr lang="en-US" sz="683" b="1" dirty="0">
                <a:solidFill>
                  <a:srgbClr val="E8EDF2">
                    <a:alpha val="50000"/>
                  </a:srgbClr>
                </a:solidFill>
                <a:latin typeface="Montserrat" pitchFamily="34" charset="0"/>
                <a:ea typeface="Montserrat" pitchFamily="34" charset="-122"/>
                <a:cs typeface="Montserrat" pitchFamily="34" charset="-120"/>
              </a:rPr>
              <a:t>UFRJ</a:t>
            </a:r>
            <a:endParaRPr lang="en-US" sz="683" dirty="0"/>
          </a:p>
        </p:txBody>
      </p:sp>
      <p:sp>
        <p:nvSpPr>
          <p:cNvPr id="15" name="Shape 8"/>
          <p:cNvSpPr/>
          <p:nvPr/>
        </p:nvSpPr>
        <p:spPr>
          <a:xfrm>
            <a:off x="4180880" y="4201418"/>
            <a:ext cx="678656" cy="428625"/>
          </a:xfrm>
          <a:prstGeom prst="rect">
            <a:avLst/>
          </a:prstGeom>
          <a:solidFill>
            <a:srgbClr val="FFFFFF">
              <a:alpha val="5000"/>
            </a:srgbClr>
          </a:solidFill>
          <a:ln w="18288">
            <a:solidFill>
              <a:srgbClr val="E8EDF2">
                <a:alpha val="30000"/>
              </a:srgbClr>
            </a:solidFill>
            <a:prstDash val="dash"/>
          </a:ln>
        </p:spPr>
      </p:sp>
      <p:sp>
        <p:nvSpPr>
          <p:cNvPr id="16" name="Text 9"/>
          <p:cNvSpPr/>
          <p:nvPr/>
        </p:nvSpPr>
        <p:spPr>
          <a:xfrm>
            <a:off x="4180880" y="4201418"/>
            <a:ext cx="678656" cy="428625"/>
          </a:xfrm>
          <a:prstGeom prst="rect">
            <a:avLst/>
          </a:prstGeom>
          <a:noFill/>
          <a:ln/>
        </p:spPr>
        <p:txBody>
          <a:bodyPr wrap="square" lIns="170053" tIns="0" rIns="170053" bIns="0" rtlCol="0" anchor="ctr">
            <a:spAutoFit/>
          </a:bodyPr>
          <a:lstStyle/>
          <a:p>
            <a:pPr algn="ctr" indent="0" marL="0">
              <a:lnSpc>
                <a:spcPts val="900"/>
              </a:lnSpc>
              <a:buNone/>
            </a:pPr>
            <a:r>
              <a:rPr lang="en-US" sz="683" b="1" dirty="0">
                <a:solidFill>
                  <a:srgbClr val="E8EDF2">
                    <a:alpha val="50000"/>
                  </a:srgbClr>
                </a:solidFill>
                <a:latin typeface="Montserrat" pitchFamily="34" charset="0"/>
                <a:ea typeface="Montserrat" pitchFamily="34" charset="-122"/>
                <a:cs typeface="Montserrat" pitchFamily="34" charset="-120"/>
              </a:rPr>
              <a:t>COPPE</a:t>
            </a:r>
            <a:endParaRPr lang="en-US" sz="683" dirty="0"/>
          </a:p>
        </p:txBody>
      </p:sp>
      <p:sp>
        <p:nvSpPr>
          <p:cNvPr id="17" name="Shape 10"/>
          <p:cNvSpPr/>
          <p:nvPr/>
        </p:nvSpPr>
        <p:spPr>
          <a:xfrm>
            <a:off x="5130998" y="4201418"/>
            <a:ext cx="657225" cy="428625"/>
          </a:xfrm>
          <a:prstGeom prst="rect">
            <a:avLst/>
          </a:prstGeom>
          <a:solidFill>
            <a:srgbClr val="FFFFFF">
              <a:alpha val="5000"/>
            </a:srgbClr>
          </a:solidFill>
          <a:ln w="18288">
            <a:solidFill>
              <a:srgbClr val="E8EDF2">
                <a:alpha val="30000"/>
              </a:srgbClr>
            </a:solidFill>
            <a:prstDash val="dash"/>
          </a:ln>
        </p:spPr>
      </p:sp>
      <p:sp>
        <p:nvSpPr>
          <p:cNvPr id="18" name="Text 11"/>
          <p:cNvSpPr/>
          <p:nvPr/>
        </p:nvSpPr>
        <p:spPr>
          <a:xfrm>
            <a:off x="5130998" y="4201418"/>
            <a:ext cx="657225" cy="428625"/>
          </a:xfrm>
          <a:prstGeom prst="rect">
            <a:avLst/>
          </a:prstGeom>
          <a:noFill/>
          <a:ln/>
        </p:spPr>
        <p:txBody>
          <a:bodyPr wrap="square" lIns="170053" tIns="0" rIns="170053" bIns="0" rtlCol="0" anchor="ctr">
            <a:spAutoFit/>
          </a:bodyPr>
          <a:lstStyle/>
          <a:p>
            <a:pPr algn="ctr" indent="0" marL="0">
              <a:lnSpc>
                <a:spcPts val="900"/>
              </a:lnSpc>
              <a:buNone/>
            </a:pPr>
            <a:r>
              <a:rPr lang="en-US" sz="683" b="1" dirty="0">
                <a:solidFill>
                  <a:srgbClr val="E8EDF2">
                    <a:alpha val="50000"/>
                  </a:srgbClr>
                </a:solidFill>
                <a:latin typeface="Montserrat" pitchFamily="34" charset="0"/>
                <a:ea typeface="Montserrat" pitchFamily="34" charset="-122"/>
                <a:cs typeface="Montserrat" pitchFamily="34" charset="-120"/>
              </a:rPr>
              <a:t>LAFAE</a:t>
            </a:r>
            <a:endParaRPr lang="en-US" sz="683" dirty="0"/>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eg"/>
          <p:cNvPicPr>
            <a:picLocks noChangeAspect="1"/>
          </p:cNvPicPr>
          <p:nvPr/>
        </p:nvPicPr>
        <p:blipFill>
          <a:blip r:embed="rId2"/>
          <a:stretch>
            <a:fillRect/>
          </a:stretch>
        </p:blipFill>
        <p:spPr>
          <a:xfrm>
            <a:off x="0" y="0"/>
            <a:ext cx="9144000" cy="5143500"/>
          </a:xfrm>
          <a:prstGeom prst="rect">
            <a:avLst/>
          </a:prstGeom>
        </p:spPr>
      </p:pic>
      <p:sp>
        <p:nvSpPr>
          <p:cNvPr id="3" name="Rounded Rectangle 2"/>
          <p:cNvSpPr/>
          <p:nvPr/>
        </p:nvSpPr>
        <p:spPr>
          <a:xfrm>
            <a:off x="428625" y="428625"/>
            <a:ext cx="8286750" cy="40005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8625" y="828675"/>
            <a:ext cx="8286750" cy="14288"/>
          </a:xfrm>
          <a:prstGeom prst="rect">
            <a:avLst/>
          </a:prstGeom>
          <a:solidFill>
            <a:srgbClr val="F2C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8625" y="428625"/>
            <a:ext cx="5000000" cy="312539"/>
          </a:xfrm>
          <a:prstGeom prst="rect">
            <a:avLst/>
          </a:prstGeom>
          <a:noFill/>
        </p:spPr>
        <p:txBody>
          <a:bodyPr wrap="square">
            <a:spAutoFit/>
          </a:bodyPr>
          <a:lstStyle/>
          <a:p>
            <a:pPr algn="l"/>
            <a:r>
              <a:rPr sz="1600" b="1">
                <a:solidFill>
                  <a:srgbClr val="F2C94C"/>
                </a:solidFill>
                <a:latin typeface="Montserrat"/>
              </a:rPr>
              <a:t>AI COPILOT: DETALHES TÉCNICOS</a:t>
            </a:r>
          </a:p>
        </p:txBody>
      </p:sp>
      <p:sp>
        <p:nvSpPr>
          <p:cNvPr id="6" name="Rounded Rectangle 5"/>
          <p:cNvSpPr/>
          <p:nvPr/>
        </p:nvSpPr>
        <p:spPr>
          <a:xfrm>
            <a:off x="7606308" y="464344"/>
            <a:ext cx="1109067" cy="207169"/>
          </a:xfrm>
          <a:prstGeom prst="roundRect">
            <a:avLst>
              <a:gd name="adj" fmla="val 5000"/>
            </a:avLst>
          </a:prstGeom>
          <a:solidFill>
            <a:srgbClr val="EB5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06308" y="464344"/>
            <a:ext cx="1109067" cy="207169"/>
          </a:xfrm>
          <a:prstGeom prst="rect">
            <a:avLst/>
          </a:prstGeom>
          <a:noFill/>
        </p:spPr>
        <p:txBody>
          <a:bodyPr wrap="square">
            <a:spAutoFit/>
          </a:bodyPr>
          <a:lstStyle/>
          <a:p>
            <a:pPr algn="ctr"/>
            <a:r>
              <a:rPr sz="700" b="1">
                <a:solidFill>
                  <a:srgbClr val="E8EDF2"/>
                </a:solidFill>
                <a:latin typeface="Inter"/>
              </a:rPr>
              <a:t>SLIDE DE BACKUP</a:t>
            </a:r>
          </a:p>
        </p:txBody>
      </p:sp>
      <p:sp>
        <p:nvSpPr>
          <p:cNvPr id="8" name="Rounded Rectangle 7"/>
          <p:cNvSpPr/>
          <p:nvPr/>
        </p:nvSpPr>
        <p:spPr>
          <a:xfrm>
            <a:off x="428625" y="1050000"/>
            <a:ext cx="3900000" cy="135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8625" y="1050000"/>
            <a:ext cx="28575" cy="1350000"/>
          </a:xfrm>
          <a:prstGeom prst="rect">
            <a:avLst/>
          </a:prstGeom>
          <a:solidFill>
            <a:srgbClr val="2D9C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8625" y="1100000"/>
            <a:ext cx="3740000" cy="160000"/>
          </a:xfrm>
          <a:prstGeom prst="rect">
            <a:avLst/>
          </a:prstGeom>
          <a:noFill/>
        </p:spPr>
        <p:txBody>
          <a:bodyPr wrap="square">
            <a:spAutoFit/>
          </a:bodyPr>
          <a:lstStyle/>
          <a:p>
            <a:pPr algn="l"/>
            <a:r>
              <a:rPr sz="1000" b="1">
                <a:solidFill>
                  <a:srgbClr val="F2C94C"/>
                </a:solidFill>
                <a:latin typeface="Montserrat"/>
              </a:rPr>
              <a:t>MOTOR LLM</a:t>
            </a:r>
          </a:p>
        </p:txBody>
      </p:sp>
      <p:sp>
        <p:nvSpPr>
          <p:cNvPr id="11" name="TextBox 10"/>
          <p:cNvSpPr txBox="1"/>
          <p:nvPr/>
        </p:nvSpPr>
        <p:spPr>
          <a:xfrm>
            <a:off x="508625" y="1320000"/>
            <a:ext cx="1100000" cy="160000"/>
          </a:xfrm>
          <a:prstGeom prst="rect">
            <a:avLst/>
          </a:prstGeom>
          <a:noFill/>
        </p:spPr>
        <p:txBody>
          <a:bodyPr wrap="square">
            <a:spAutoFit/>
          </a:bodyPr>
          <a:lstStyle/>
          <a:p>
            <a:pPr algn="l"/>
            <a:r>
              <a:rPr sz="750" b="1">
                <a:solidFill>
                  <a:srgbClr val="F2C94C"/>
                </a:solidFill>
                <a:latin typeface="Montserrat"/>
              </a:rPr>
              <a:t>Modelo:</a:t>
            </a:r>
          </a:p>
        </p:txBody>
      </p:sp>
      <p:sp>
        <p:nvSpPr>
          <p:cNvPr id="12" name="TextBox 11"/>
          <p:cNvSpPr txBox="1"/>
          <p:nvPr/>
        </p:nvSpPr>
        <p:spPr>
          <a:xfrm>
            <a:off x="1628625" y="1320000"/>
            <a:ext cx="2550000" cy="160000"/>
          </a:xfrm>
          <a:prstGeom prst="rect">
            <a:avLst/>
          </a:prstGeom>
          <a:noFill/>
        </p:spPr>
        <p:txBody>
          <a:bodyPr wrap="square">
            <a:spAutoFit/>
          </a:bodyPr>
          <a:lstStyle/>
          <a:p>
            <a:pPr algn="l"/>
            <a:r>
              <a:rPr sz="750" b="0">
                <a:solidFill>
                  <a:srgbClr val="E8EDF2"/>
                </a:solidFill>
                <a:latin typeface="Inter"/>
              </a:rPr>
              <a:t>GPT-4o (OpenAI) via API</a:t>
            </a:r>
          </a:p>
        </p:txBody>
      </p:sp>
      <p:sp>
        <p:nvSpPr>
          <p:cNvPr id="13" name="TextBox 12"/>
          <p:cNvSpPr txBox="1"/>
          <p:nvPr/>
        </p:nvSpPr>
        <p:spPr>
          <a:xfrm>
            <a:off x="508625" y="1520000"/>
            <a:ext cx="1100000" cy="160000"/>
          </a:xfrm>
          <a:prstGeom prst="rect">
            <a:avLst/>
          </a:prstGeom>
          <a:noFill/>
        </p:spPr>
        <p:txBody>
          <a:bodyPr wrap="square">
            <a:spAutoFit/>
          </a:bodyPr>
          <a:lstStyle/>
          <a:p>
            <a:pPr algn="l"/>
            <a:r>
              <a:rPr sz="750" b="1">
                <a:solidFill>
                  <a:srgbClr val="F2C94C"/>
                </a:solidFill>
                <a:latin typeface="Montserrat"/>
              </a:rPr>
              <a:t>Contexto:</a:t>
            </a:r>
          </a:p>
        </p:txBody>
      </p:sp>
      <p:sp>
        <p:nvSpPr>
          <p:cNvPr id="14" name="TextBox 13"/>
          <p:cNvSpPr txBox="1"/>
          <p:nvPr/>
        </p:nvSpPr>
        <p:spPr>
          <a:xfrm>
            <a:off x="1628625" y="1520000"/>
            <a:ext cx="2550000" cy="160000"/>
          </a:xfrm>
          <a:prstGeom prst="rect">
            <a:avLst/>
          </a:prstGeom>
          <a:noFill/>
        </p:spPr>
        <p:txBody>
          <a:bodyPr wrap="square">
            <a:spAutoFit/>
          </a:bodyPr>
          <a:lstStyle/>
          <a:p>
            <a:pPr algn="l"/>
            <a:r>
              <a:rPr sz="750" b="0">
                <a:solidFill>
                  <a:srgbClr val="E8EDF2"/>
                </a:solidFill>
                <a:latin typeface="Inter"/>
              </a:rPr>
              <a:t>128k tokens (janela de contexto)</a:t>
            </a:r>
          </a:p>
        </p:txBody>
      </p:sp>
      <p:sp>
        <p:nvSpPr>
          <p:cNvPr id="15" name="TextBox 14"/>
          <p:cNvSpPr txBox="1"/>
          <p:nvPr/>
        </p:nvSpPr>
        <p:spPr>
          <a:xfrm>
            <a:off x="508625" y="1720000"/>
            <a:ext cx="1100000" cy="160000"/>
          </a:xfrm>
          <a:prstGeom prst="rect">
            <a:avLst/>
          </a:prstGeom>
          <a:noFill/>
        </p:spPr>
        <p:txBody>
          <a:bodyPr wrap="square">
            <a:spAutoFit/>
          </a:bodyPr>
          <a:lstStyle/>
          <a:p>
            <a:pPr algn="l"/>
            <a:r>
              <a:rPr sz="750" b="1">
                <a:solidFill>
                  <a:srgbClr val="F2C94C"/>
                </a:solidFill>
                <a:latin typeface="Montserrat"/>
              </a:rPr>
              <a:t>Framework:</a:t>
            </a:r>
          </a:p>
        </p:txBody>
      </p:sp>
      <p:sp>
        <p:nvSpPr>
          <p:cNvPr id="16" name="TextBox 15"/>
          <p:cNvSpPr txBox="1"/>
          <p:nvPr/>
        </p:nvSpPr>
        <p:spPr>
          <a:xfrm>
            <a:off x="1628625" y="1720000"/>
            <a:ext cx="2550000" cy="160000"/>
          </a:xfrm>
          <a:prstGeom prst="rect">
            <a:avLst/>
          </a:prstGeom>
          <a:noFill/>
        </p:spPr>
        <p:txBody>
          <a:bodyPr wrap="square">
            <a:spAutoFit/>
          </a:bodyPr>
          <a:lstStyle/>
          <a:p>
            <a:pPr algn="l"/>
            <a:r>
              <a:rPr sz="750" b="0">
                <a:solidFill>
                  <a:srgbClr val="E8EDF2"/>
                </a:solidFill>
                <a:latin typeface="Inter"/>
              </a:rPr>
              <a:t>LangChain + Streamlit</a:t>
            </a:r>
          </a:p>
        </p:txBody>
      </p:sp>
      <p:sp>
        <p:nvSpPr>
          <p:cNvPr id="17" name="TextBox 16"/>
          <p:cNvSpPr txBox="1"/>
          <p:nvPr/>
        </p:nvSpPr>
        <p:spPr>
          <a:xfrm>
            <a:off x="508625" y="1920000"/>
            <a:ext cx="1100000" cy="160000"/>
          </a:xfrm>
          <a:prstGeom prst="rect">
            <a:avLst/>
          </a:prstGeom>
          <a:noFill/>
        </p:spPr>
        <p:txBody>
          <a:bodyPr wrap="square">
            <a:spAutoFit/>
          </a:bodyPr>
          <a:lstStyle/>
          <a:p>
            <a:pPr algn="l"/>
            <a:r>
              <a:rPr sz="750" b="1">
                <a:solidFill>
                  <a:srgbClr val="F2C94C"/>
                </a:solidFill>
                <a:latin typeface="Montserrat"/>
              </a:rPr>
              <a:t>Temperatura:</a:t>
            </a:r>
          </a:p>
        </p:txBody>
      </p:sp>
      <p:sp>
        <p:nvSpPr>
          <p:cNvPr id="18" name="TextBox 17"/>
          <p:cNvSpPr txBox="1"/>
          <p:nvPr/>
        </p:nvSpPr>
        <p:spPr>
          <a:xfrm>
            <a:off x="1628625" y="1920000"/>
            <a:ext cx="2550000" cy="160000"/>
          </a:xfrm>
          <a:prstGeom prst="rect">
            <a:avLst/>
          </a:prstGeom>
          <a:noFill/>
        </p:spPr>
        <p:txBody>
          <a:bodyPr wrap="square">
            <a:spAutoFit/>
          </a:bodyPr>
          <a:lstStyle/>
          <a:p>
            <a:pPr algn="l"/>
            <a:r>
              <a:rPr sz="750" b="0">
                <a:solidFill>
                  <a:srgbClr val="E8EDF2"/>
                </a:solidFill>
                <a:latin typeface="Inter"/>
              </a:rPr>
              <a:t>0.1 (respostas conservadoras)</a:t>
            </a:r>
          </a:p>
        </p:txBody>
      </p:sp>
      <p:sp>
        <p:nvSpPr>
          <p:cNvPr id="19" name="TextBox 18"/>
          <p:cNvSpPr txBox="1"/>
          <p:nvPr/>
        </p:nvSpPr>
        <p:spPr>
          <a:xfrm>
            <a:off x="508625" y="2120000"/>
            <a:ext cx="1100000" cy="160000"/>
          </a:xfrm>
          <a:prstGeom prst="rect">
            <a:avLst/>
          </a:prstGeom>
          <a:noFill/>
        </p:spPr>
        <p:txBody>
          <a:bodyPr wrap="square">
            <a:spAutoFit/>
          </a:bodyPr>
          <a:lstStyle/>
          <a:p>
            <a:pPr algn="l"/>
            <a:r>
              <a:rPr sz="750" b="1">
                <a:solidFill>
                  <a:srgbClr val="F2C94C"/>
                </a:solidFill>
                <a:latin typeface="Montserrat"/>
              </a:rPr>
              <a:t>Custo:</a:t>
            </a:r>
          </a:p>
        </p:txBody>
      </p:sp>
      <p:sp>
        <p:nvSpPr>
          <p:cNvPr id="20" name="TextBox 19"/>
          <p:cNvSpPr txBox="1"/>
          <p:nvPr/>
        </p:nvSpPr>
        <p:spPr>
          <a:xfrm>
            <a:off x="1628625" y="2120000"/>
            <a:ext cx="2550000" cy="160000"/>
          </a:xfrm>
          <a:prstGeom prst="rect">
            <a:avLst/>
          </a:prstGeom>
          <a:noFill/>
        </p:spPr>
        <p:txBody>
          <a:bodyPr wrap="square">
            <a:spAutoFit/>
          </a:bodyPr>
          <a:lstStyle/>
          <a:p>
            <a:pPr algn="l"/>
            <a:r>
              <a:rPr sz="750" b="0">
                <a:solidFill>
                  <a:srgbClr val="E8EDF2"/>
                </a:solidFill>
                <a:latin typeface="Inter"/>
              </a:rPr>
              <a:t>~$0.005/consulta (input+output)</a:t>
            </a:r>
          </a:p>
        </p:txBody>
      </p:sp>
      <p:sp>
        <p:nvSpPr>
          <p:cNvPr id="21" name="Rounded Rectangle 20"/>
          <p:cNvSpPr/>
          <p:nvPr/>
        </p:nvSpPr>
        <p:spPr>
          <a:xfrm>
            <a:off x="428625" y="2550000"/>
            <a:ext cx="3900000" cy="11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8625" y="2550000"/>
            <a:ext cx="28575" cy="1100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25" y="2600000"/>
            <a:ext cx="3740000" cy="160000"/>
          </a:xfrm>
          <a:prstGeom prst="rect">
            <a:avLst/>
          </a:prstGeom>
          <a:noFill/>
        </p:spPr>
        <p:txBody>
          <a:bodyPr wrap="square">
            <a:spAutoFit/>
          </a:bodyPr>
          <a:lstStyle/>
          <a:p>
            <a:pPr algn="l"/>
            <a:r>
              <a:rPr sz="1000" b="1">
                <a:solidFill>
                  <a:srgbClr val="F2C94C"/>
                </a:solidFill>
                <a:latin typeface="Montserrat"/>
              </a:rPr>
              <a:t>ARQUITETURA RAG</a:t>
            </a:r>
          </a:p>
        </p:txBody>
      </p:sp>
      <p:sp>
        <p:nvSpPr>
          <p:cNvPr id="24" name="TextBox 23"/>
          <p:cNvSpPr txBox="1"/>
          <p:nvPr/>
        </p:nvSpPr>
        <p:spPr>
          <a:xfrm>
            <a:off x="508625" y="2820000"/>
            <a:ext cx="1100000" cy="160000"/>
          </a:xfrm>
          <a:prstGeom prst="rect">
            <a:avLst/>
          </a:prstGeom>
          <a:noFill/>
        </p:spPr>
        <p:txBody>
          <a:bodyPr wrap="square">
            <a:spAutoFit/>
          </a:bodyPr>
          <a:lstStyle/>
          <a:p>
            <a:pPr algn="l"/>
            <a:r>
              <a:rPr sz="750" b="1">
                <a:solidFill>
                  <a:srgbClr val="F2C94C"/>
                </a:solidFill>
                <a:latin typeface="Montserrat"/>
              </a:rPr>
              <a:t>Embedding:</a:t>
            </a:r>
          </a:p>
        </p:txBody>
      </p:sp>
      <p:sp>
        <p:nvSpPr>
          <p:cNvPr id="25" name="TextBox 24"/>
          <p:cNvSpPr txBox="1"/>
          <p:nvPr/>
        </p:nvSpPr>
        <p:spPr>
          <a:xfrm>
            <a:off x="1628625" y="2820000"/>
            <a:ext cx="2550000" cy="160000"/>
          </a:xfrm>
          <a:prstGeom prst="rect">
            <a:avLst/>
          </a:prstGeom>
          <a:noFill/>
        </p:spPr>
        <p:txBody>
          <a:bodyPr wrap="square">
            <a:spAutoFit/>
          </a:bodyPr>
          <a:lstStyle/>
          <a:p>
            <a:pPr algn="l"/>
            <a:r>
              <a:rPr sz="750" b="0">
                <a:solidFill>
                  <a:srgbClr val="E8EDF2"/>
                </a:solidFill>
                <a:latin typeface="JetBrains Mono"/>
              </a:rPr>
              <a:t>text-embedding-ada-002</a:t>
            </a:r>
          </a:p>
        </p:txBody>
      </p:sp>
      <p:sp>
        <p:nvSpPr>
          <p:cNvPr id="26" name="TextBox 25"/>
          <p:cNvSpPr txBox="1"/>
          <p:nvPr/>
        </p:nvSpPr>
        <p:spPr>
          <a:xfrm>
            <a:off x="508625" y="3010000"/>
            <a:ext cx="1100000" cy="160000"/>
          </a:xfrm>
          <a:prstGeom prst="rect">
            <a:avLst/>
          </a:prstGeom>
          <a:noFill/>
        </p:spPr>
        <p:txBody>
          <a:bodyPr wrap="square">
            <a:spAutoFit/>
          </a:bodyPr>
          <a:lstStyle/>
          <a:p>
            <a:pPr algn="l"/>
            <a:r>
              <a:rPr sz="750" b="1">
                <a:solidFill>
                  <a:srgbClr val="F2C94C"/>
                </a:solidFill>
                <a:latin typeface="Montserrat"/>
              </a:rPr>
              <a:t>Vector Store:</a:t>
            </a:r>
          </a:p>
        </p:txBody>
      </p:sp>
      <p:sp>
        <p:nvSpPr>
          <p:cNvPr id="27" name="TextBox 26"/>
          <p:cNvSpPr txBox="1"/>
          <p:nvPr/>
        </p:nvSpPr>
        <p:spPr>
          <a:xfrm>
            <a:off x="1628625" y="3010000"/>
            <a:ext cx="2550000" cy="160000"/>
          </a:xfrm>
          <a:prstGeom prst="rect">
            <a:avLst/>
          </a:prstGeom>
          <a:noFill/>
        </p:spPr>
        <p:txBody>
          <a:bodyPr wrap="square">
            <a:spAutoFit/>
          </a:bodyPr>
          <a:lstStyle/>
          <a:p>
            <a:pPr algn="l"/>
            <a:r>
              <a:rPr sz="750" b="0">
                <a:solidFill>
                  <a:srgbClr val="E8EDF2"/>
                </a:solidFill>
                <a:latin typeface="JetBrains Mono"/>
              </a:rPr>
              <a:t>FAISS (Facebook AI)</a:t>
            </a:r>
          </a:p>
        </p:txBody>
      </p:sp>
      <p:sp>
        <p:nvSpPr>
          <p:cNvPr id="28" name="TextBox 27"/>
          <p:cNvSpPr txBox="1"/>
          <p:nvPr/>
        </p:nvSpPr>
        <p:spPr>
          <a:xfrm>
            <a:off x="508625" y="3200000"/>
            <a:ext cx="1100000" cy="160000"/>
          </a:xfrm>
          <a:prstGeom prst="rect">
            <a:avLst/>
          </a:prstGeom>
          <a:noFill/>
        </p:spPr>
        <p:txBody>
          <a:bodyPr wrap="square">
            <a:spAutoFit/>
          </a:bodyPr>
          <a:lstStyle/>
          <a:p>
            <a:pPr algn="l"/>
            <a:r>
              <a:rPr sz="750" b="1">
                <a:solidFill>
                  <a:srgbClr val="F2C94C"/>
                </a:solidFill>
                <a:latin typeface="Montserrat"/>
              </a:rPr>
              <a:t>Documentos:</a:t>
            </a:r>
          </a:p>
        </p:txBody>
      </p:sp>
      <p:sp>
        <p:nvSpPr>
          <p:cNvPr id="29" name="TextBox 28"/>
          <p:cNvSpPr txBox="1"/>
          <p:nvPr/>
        </p:nvSpPr>
        <p:spPr>
          <a:xfrm>
            <a:off x="1628625" y="3200000"/>
            <a:ext cx="2550000" cy="160000"/>
          </a:xfrm>
          <a:prstGeom prst="rect">
            <a:avLst/>
          </a:prstGeom>
          <a:noFill/>
        </p:spPr>
        <p:txBody>
          <a:bodyPr wrap="square">
            <a:spAutoFit/>
          </a:bodyPr>
          <a:lstStyle/>
          <a:p>
            <a:pPr algn="l"/>
            <a:r>
              <a:rPr sz="750" b="0">
                <a:solidFill>
                  <a:srgbClr val="E8EDF2"/>
                </a:solidFill>
                <a:latin typeface="Inter"/>
              </a:rPr>
              <a:t>Dissertação + Manuais técnicos</a:t>
            </a:r>
          </a:p>
        </p:txBody>
      </p:sp>
      <p:sp>
        <p:nvSpPr>
          <p:cNvPr id="30" name="TextBox 29"/>
          <p:cNvSpPr txBox="1"/>
          <p:nvPr/>
        </p:nvSpPr>
        <p:spPr>
          <a:xfrm>
            <a:off x="508625" y="3390000"/>
            <a:ext cx="1100000" cy="160000"/>
          </a:xfrm>
          <a:prstGeom prst="rect">
            <a:avLst/>
          </a:prstGeom>
          <a:noFill/>
        </p:spPr>
        <p:txBody>
          <a:bodyPr wrap="square">
            <a:spAutoFit/>
          </a:bodyPr>
          <a:lstStyle/>
          <a:p>
            <a:pPr algn="l"/>
            <a:r>
              <a:rPr sz="750" b="1">
                <a:solidFill>
                  <a:srgbClr val="F2C94C"/>
                </a:solidFill>
                <a:latin typeface="Montserrat"/>
              </a:rPr>
              <a:t>Chunking:</a:t>
            </a:r>
          </a:p>
        </p:txBody>
      </p:sp>
      <p:sp>
        <p:nvSpPr>
          <p:cNvPr id="31" name="TextBox 30"/>
          <p:cNvSpPr txBox="1"/>
          <p:nvPr/>
        </p:nvSpPr>
        <p:spPr>
          <a:xfrm>
            <a:off x="1628625" y="3390000"/>
            <a:ext cx="2550000" cy="160000"/>
          </a:xfrm>
          <a:prstGeom prst="rect">
            <a:avLst/>
          </a:prstGeom>
          <a:noFill/>
        </p:spPr>
        <p:txBody>
          <a:bodyPr wrap="square">
            <a:spAutoFit/>
          </a:bodyPr>
          <a:lstStyle/>
          <a:p>
            <a:pPr algn="l"/>
            <a:r>
              <a:rPr sz="750" b="0">
                <a:solidFill>
                  <a:srgbClr val="E8EDF2"/>
                </a:solidFill>
                <a:latin typeface="Inter"/>
              </a:rPr>
              <a:t>500 tokens, overlap 50</a:t>
            </a:r>
          </a:p>
        </p:txBody>
      </p:sp>
      <p:sp>
        <p:nvSpPr>
          <p:cNvPr id="32" name="Rounded Rectangle 31"/>
          <p:cNvSpPr/>
          <p:nvPr/>
        </p:nvSpPr>
        <p:spPr>
          <a:xfrm>
            <a:off x="4528625" y="1050000"/>
            <a:ext cx="4186750" cy="135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28625" y="1050000"/>
            <a:ext cx="28575" cy="1350000"/>
          </a:xfrm>
          <a:prstGeom prst="rect">
            <a:avLst/>
          </a:prstGeom>
          <a:solidFill>
            <a:srgbClr val="BB6B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08625" y="1100000"/>
            <a:ext cx="4026750" cy="160000"/>
          </a:xfrm>
          <a:prstGeom prst="rect">
            <a:avLst/>
          </a:prstGeom>
          <a:noFill/>
        </p:spPr>
        <p:txBody>
          <a:bodyPr wrap="square">
            <a:spAutoFit/>
          </a:bodyPr>
          <a:lstStyle/>
          <a:p>
            <a:pPr algn="l"/>
            <a:r>
              <a:rPr sz="1000" b="1">
                <a:solidFill>
                  <a:srgbClr val="F2C94C"/>
                </a:solidFill>
                <a:latin typeface="Montserrat"/>
              </a:rPr>
              <a:t>FERRAMENTAS DO AGENTE (TOOLS)</a:t>
            </a:r>
          </a:p>
        </p:txBody>
      </p:sp>
      <p:sp>
        <p:nvSpPr>
          <p:cNvPr id="35" name="TextBox 34"/>
          <p:cNvSpPr txBox="1"/>
          <p:nvPr/>
        </p:nvSpPr>
        <p:spPr>
          <a:xfrm>
            <a:off x="4608625" y="1330000"/>
            <a:ext cx="4026750" cy="120000"/>
          </a:xfrm>
          <a:prstGeom prst="rect">
            <a:avLst/>
          </a:prstGeom>
          <a:noFill/>
        </p:spPr>
        <p:txBody>
          <a:bodyPr wrap="square">
            <a:spAutoFit/>
          </a:bodyPr>
          <a:lstStyle/>
          <a:p>
            <a:pPr algn="l"/>
            <a:r>
              <a:rPr sz="700" b="1">
                <a:solidFill>
                  <a:srgbClr val="27AE60"/>
                </a:solidFill>
                <a:latin typeface="JetBrains Mono"/>
              </a:rPr>
              <a:t>run_strategy_optimization</a:t>
            </a:r>
          </a:p>
        </p:txBody>
      </p:sp>
      <p:sp>
        <p:nvSpPr>
          <p:cNvPr id="36" name="TextBox 35"/>
          <p:cNvSpPr txBox="1"/>
          <p:nvPr/>
        </p:nvSpPr>
        <p:spPr>
          <a:xfrm>
            <a:off x="4608625" y="1450000"/>
            <a:ext cx="4026750" cy="120000"/>
          </a:xfrm>
          <a:prstGeom prst="rect">
            <a:avLst/>
          </a:prstGeom>
          <a:noFill/>
        </p:spPr>
        <p:txBody>
          <a:bodyPr wrap="square">
            <a:spAutoFit/>
          </a:bodyPr>
          <a:lstStyle/>
          <a:p>
            <a:pPr algn="l"/>
            <a:r>
              <a:rPr sz="650" b="0">
                <a:solidFill>
                  <a:srgbClr val="E8EDF2"/>
                </a:solidFill>
                <a:latin typeface="Inter"/>
              </a:rPr>
              <a:t>Grid search 2D de parâmetros</a:t>
            </a:r>
          </a:p>
        </p:txBody>
      </p:sp>
      <p:sp>
        <p:nvSpPr>
          <p:cNvPr id="37" name="TextBox 36"/>
          <p:cNvSpPr txBox="1"/>
          <p:nvPr/>
        </p:nvSpPr>
        <p:spPr>
          <a:xfrm>
            <a:off x="4608625" y="1580000"/>
            <a:ext cx="4026750" cy="120000"/>
          </a:xfrm>
          <a:prstGeom prst="rect">
            <a:avLst/>
          </a:prstGeom>
          <a:noFill/>
        </p:spPr>
        <p:txBody>
          <a:bodyPr wrap="square">
            <a:spAutoFit/>
          </a:bodyPr>
          <a:lstStyle/>
          <a:p>
            <a:pPr algn="l"/>
            <a:r>
              <a:rPr sz="700" b="1">
                <a:solidFill>
                  <a:srgbClr val="27AE60"/>
                </a:solidFill>
                <a:latin typeface="JetBrains Mono"/>
              </a:rPr>
              <a:t>run_global_optimization</a:t>
            </a:r>
          </a:p>
        </p:txBody>
      </p:sp>
      <p:sp>
        <p:nvSpPr>
          <p:cNvPr id="38" name="TextBox 37"/>
          <p:cNvSpPr txBox="1"/>
          <p:nvPr/>
        </p:nvSpPr>
        <p:spPr>
          <a:xfrm>
            <a:off x="4608625" y="1700000"/>
            <a:ext cx="4026750" cy="120000"/>
          </a:xfrm>
          <a:prstGeom prst="rect">
            <a:avLst/>
          </a:prstGeom>
          <a:noFill/>
        </p:spPr>
        <p:txBody>
          <a:bodyPr wrap="square">
            <a:spAutoFit/>
          </a:bodyPr>
          <a:lstStyle/>
          <a:p>
            <a:pPr algn="l"/>
            <a:r>
              <a:rPr sz="650" b="0">
                <a:solidFill>
                  <a:srgbClr val="E8EDF2"/>
                </a:solidFill>
                <a:latin typeface="Inter"/>
              </a:rPr>
              <a:t>Grid search 3D (+ Safety Factor)</a:t>
            </a:r>
          </a:p>
        </p:txBody>
      </p:sp>
      <p:sp>
        <p:nvSpPr>
          <p:cNvPr id="39" name="TextBox 38"/>
          <p:cNvSpPr txBox="1"/>
          <p:nvPr/>
        </p:nvSpPr>
        <p:spPr>
          <a:xfrm>
            <a:off x="4608625" y="1830000"/>
            <a:ext cx="4026750" cy="120000"/>
          </a:xfrm>
          <a:prstGeom prst="rect">
            <a:avLst/>
          </a:prstGeom>
          <a:noFill/>
        </p:spPr>
        <p:txBody>
          <a:bodyPr wrap="square">
            <a:spAutoFit/>
          </a:bodyPr>
          <a:lstStyle/>
          <a:p>
            <a:pPr algn="l"/>
            <a:r>
              <a:rPr sz="700" b="1">
                <a:solidFill>
                  <a:srgbClr val="2D9CDB"/>
                </a:solidFill>
                <a:latin typeface="JetBrains Mono"/>
              </a:rPr>
              <a:t>apply_new_parameters</a:t>
            </a:r>
          </a:p>
        </p:txBody>
      </p:sp>
      <p:sp>
        <p:nvSpPr>
          <p:cNvPr id="40" name="TextBox 39"/>
          <p:cNvSpPr txBox="1"/>
          <p:nvPr/>
        </p:nvSpPr>
        <p:spPr>
          <a:xfrm>
            <a:off x="4608625" y="1950000"/>
            <a:ext cx="4026750" cy="120000"/>
          </a:xfrm>
          <a:prstGeom prst="rect">
            <a:avLst/>
          </a:prstGeom>
          <a:noFill/>
        </p:spPr>
        <p:txBody>
          <a:bodyPr wrap="square">
            <a:spAutoFit/>
          </a:bodyPr>
          <a:lstStyle/>
          <a:p>
            <a:pPr algn="l"/>
            <a:r>
              <a:rPr sz="650" b="0">
                <a:solidFill>
                  <a:srgbClr val="E8EDF2"/>
                </a:solidFill>
                <a:latin typeface="Inter"/>
              </a:rPr>
              <a:t>Atualiza dashboard em tempo real</a:t>
            </a:r>
          </a:p>
        </p:txBody>
      </p:sp>
      <p:sp>
        <p:nvSpPr>
          <p:cNvPr id="41" name="TextBox 40"/>
          <p:cNvSpPr txBox="1"/>
          <p:nvPr/>
        </p:nvSpPr>
        <p:spPr>
          <a:xfrm>
            <a:off x="4608625" y="2080000"/>
            <a:ext cx="4026750" cy="120000"/>
          </a:xfrm>
          <a:prstGeom prst="rect">
            <a:avLst/>
          </a:prstGeom>
          <a:noFill/>
        </p:spPr>
        <p:txBody>
          <a:bodyPr wrap="square">
            <a:spAutoFit/>
          </a:bodyPr>
          <a:lstStyle/>
          <a:p>
            <a:pPr algn="l"/>
            <a:r>
              <a:rPr sz="700" b="1">
                <a:solidFill>
                  <a:srgbClr val="2D9CDB"/>
                </a:solidFill>
                <a:latin typeface="JetBrains Mono"/>
              </a:rPr>
              <a:t>generate_report</a:t>
            </a:r>
          </a:p>
        </p:txBody>
      </p:sp>
      <p:sp>
        <p:nvSpPr>
          <p:cNvPr id="42" name="TextBox 41"/>
          <p:cNvSpPr txBox="1"/>
          <p:nvPr/>
        </p:nvSpPr>
        <p:spPr>
          <a:xfrm>
            <a:off x="4608625" y="2200000"/>
            <a:ext cx="4026750" cy="120000"/>
          </a:xfrm>
          <a:prstGeom prst="rect">
            <a:avLst/>
          </a:prstGeom>
          <a:noFill/>
        </p:spPr>
        <p:txBody>
          <a:bodyPr wrap="square">
            <a:spAutoFit/>
          </a:bodyPr>
          <a:lstStyle/>
          <a:p>
            <a:pPr algn="l"/>
            <a:r>
              <a:rPr sz="650" b="0">
                <a:solidFill>
                  <a:srgbClr val="E8EDF2"/>
                </a:solidFill>
                <a:latin typeface="Inter"/>
              </a:rPr>
              <a:t>Relatório PDF automatizado</a:t>
            </a:r>
          </a:p>
        </p:txBody>
      </p:sp>
      <p:sp>
        <p:nvSpPr>
          <p:cNvPr id="43" name="Rounded Rectangle 42"/>
          <p:cNvSpPr/>
          <p:nvPr/>
        </p:nvSpPr>
        <p:spPr>
          <a:xfrm>
            <a:off x="4528625" y="2550000"/>
            <a:ext cx="4186750" cy="1100000"/>
          </a:xfrm>
          <a:prstGeom prst="roundRect">
            <a:avLst>
              <a:gd name="adj" fmla="val 5000"/>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28625" y="2550000"/>
            <a:ext cx="28575" cy="1100000"/>
          </a:xfrm>
          <a:prstGeom prst="rect">
            <a:avLst/>
          </a:prstGeom>
          <a:solidFill>
            <a:srgbClr val="EB5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08625" y="2600000"/>
            <a:ext cx="4026750" cy="160000"/>
          </a:xfrm>
          <a:prstGeom prst="rect">
            <a:avLst/>
          </a:prstGeom>
          <a:noFill/>
        </p:spPr>
        <p:txBody>
          <a:bodyPr wrap="square">
            <a:spAutoFit/>
          </a:bodyPr>
          <a:lstStyle/>
          <a:p>
            <a:pPr algn="l"/>
            <a:r>
              <a:rPr sz="1000" b="1">
                <a:solidFill>
                  <a:srgbClr val="F2C94C"/>
                </a:solidFill>
                <a:latin typeface="Montserrat"/>
              </a:rPr>
              <a:t>SISTEMA DUAL DE AGENTES</a:t>
            </a:r>
          </a:p>
        </p:txBody>
      </p:sp>
      <p:sp>
        <p:nvSpPr>
          <p:cNvPr id="46" name="TextBox 45"/>
          <p:cNvSpPr txBox="1"/>
          <p:nvPr/>
        </p:nvSpPr>
        <p:spPr>
          <a:xfrm>
            <a:off x="4608625" y="2820000"/>
            <a:ext cx="4026750" cy="140000"/>
          </a:xfrm>
          <a:prstGeom prst="rect">
            <a:avLst/>
          </a:prstGeom>
          <a:noFill/>
        </p:spPr>
        <p:txBody>
          <a:bodyPr wrap="square">
            <a:spAutoFit/>
          </a:bodyPr>
          <a:lstStyle/>
          <a:p>
            <a:pPr algn="l"/>
            <a:r>
              <a:rPr sz="750" b="1">
                <a:solidFill>
                  <a:srgbClr val="F2C94C"/>
                </a:solidFill>
                <a:latin typeface="Montserrat"/>
              </a:rPr>
              <a:t>Agente Proativo (Watchdog):</a:t>
            </a:r>
          </a:p>
        </p:txBody>
      </p:sp>
      <p:sp>
        <p:nvSpPr>
          <p:cNvPr id="47" name="TextBox 46"/>
          <p:cNvSpPr txBox="1"/>
          <p:nvPr/>
        </p:nvSpPr>
        <p:spPr>
          <a:xfrm>
            <a:off x="4608625" y="2960000"/>
            <a:ext cx="4026750" cy="220000"/>
          </a:xfrm>
          <a:prstGeom prst="rect">
            <a:avLst/>
          </a:prstGeom>
          <a:noFill/>
        </p:spPr>
        <p:txBody>
          <a:bodyPr wrap="square">
            <a:spAutoFit/>
          </a:bodyPr>
          <a:lstStyle/>
          <a:p>
            <a:pPr algn="l"/>
            <a:r>
              <a:rPr sz="700" b="0">
                <a:solidFill>
                  <a:srgbClr val="E8EDF2"/>
                </a:solidFill>
                <a:latin typeface="Inter"/>
              </a:rPr>
              <a:t>Monitora ORI continuamente. Envia alertas via Telegram/Email quando detecta risco High.</a:t>
            </a:r>
          </a:p>
        </p:txBody>
      </p:sp>
      <p:sp>
        <p:nvSpPr>
          <p:cNvPr id="48" name="TextBox 47"/>
          <p:cNvSpPr txBox="1"/>
          <p:nvPr/>
        </p:nvSpPr>
        <p:spPr>
          <a:xfrm>
            <a:off x="4608625" y="3200000"/>
            <a:ext cx="4026750" cy="140000"/>
          </a:xfrm>
          <a:prstGeom prst="rect">
            <a:avLst/>
          </a:prstGeom>
          <a:noFill/>
        </p:spPr>
        <p:txBody>
          <a:bodyPr wrap="square">
            <a:spAutoFit/>
          </a:bodyPr>
          <a:lstStyle/>
          <a:p>
            <a:pPr algn="l"/>
            <a:r>
              <a:rPr sz="750" b="1">
                <a:solidFill>
                  <a:srgbClr val="F2C94C"/>
                </a:solidFill>
                <a:latin typeface="Montserrat"/>
              </a:rPr>
              <a:t>Agente Interativo (Copilot):</a:t>
            </a:r>
          </a:p>
        </p:txBody>
      </p:sp>
      <p:sp>
        <p:nvSpPr>
          <p:cNvPr id="49" name="TextBox 48"/>
          <p:cNvSpPr txBox="1"/>
          <p:nvPr/>
        </p:nvSpPr>
        <p:spPr>
          <a:xfrm>
            <a:off x="4608625" y="3340000"/>
            <a:ext cx="4026750" cy="220000"/>
          </a:xfrm>
          <a:prstGeom prst="rect">
            <a:avLst/>
          </a:prstGeom>
          <a:noFill/>
        </p:spPr>
        <p:txBody>
          <a:bodyPr wrap="square">
            <a:spAutoFit/>
          </a:bodyPr>
          <a:lstStyle/>
          <a:p>
            <a:pPr algn="l"/>
            <a:r>
              <a:rPr sz="700" b="0">
                <a:solidFill>
                  <a:srgbClr val="E8EDF2"/>
                </a:solidFill>
                <a:latin typeface="Inter"/>
              </a:rPr>
              <a:t>Responde consultas em linguagem natural. Executa otimizações e gera relatórios sob demanda.</a:t>
            </a:r>
          </a:p>
        </p:txBody>
      </p:sp>
      <p:sp>
        <p:nvSpPr>
          <p:cNvPr id="50" name="Rounded Rectangle 49"/>
          <p:cNvSpPr/>
          <p:nvPr/>
        </p:nvSpPr>
        <p:spPr>
          <a:xfrm>
            <a:off x="428625" y="3850000"/>
            <a:ext cx="8286750" cy="400000"/>
          </a:xfrm>
          <a:prstGeom prst="roundRect">
            <a:avLst>
              <a:gd name="adj" fmla="val 5000"/>
            </a:avLst>
          </a:prstGeom>
          <a:solidFill>
            <a:srgbClr val="1E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28625" y="3850000"/>
            <a:ext cx="28575" cy="400000"/>
          </a:xfrm>
          <a:prstGeom prst="rect">
            <a:avLst/>
          </a:prstGeom>
          <a:solidFill>
            <a:srgbClr val="F2C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8625" y="3890000"/>
            <a:ext cx="8100000" cy="150000"/>
          </a:xfrm>
          <a:prstGeom prst="rect">
            <a:avLst/>
          </a:prstGeom>
          <a:noFill/>
        </p:spPr>
        <p:txBody>
          <a:bodyPr wrap="square">
            <a:spAutoFit/>
          </a:bodyPr>
          <a:lstStyle/>
          <a:p>
            <a:pPr algn="l"/>
            <a:r>
              <a:rPr sz="900" b="1">
                <a:solidFill>
                  <a:srgbClr val="F2C94C"/>
                </a:solidFill>
                <a:latin typeface="Montserrat"/>
              </a:rPr>
              <a:t>NOTA SOBRE ESCOPO</a:t>
            </a:r>
          </a:p>
        </p:txBody>
      </p:sp>
      <p:sp>
        <p:nvSpPr>
          <p:cNvPr id="53" name="TextBox 52"/>
          <p:cNvSpPr txBox="1"/>
          <p:nvPr/>
        </p:nvSpPr>
        <p:spPr>
          <a:xfrm>
            <a:off x="508625" y="4050000"/>
            <a:ext cx="8100000" cy="150000"/>
          </a:xfrm>
          <a:prstGeom prst="rect">
            <a:avLst/>
          </a:prstGeom>
          <a:noFill/>
        </p:spPr>
        <p:txBody>
          <a:bodyPr wrap="square">
            <a:spAutoFit/>
          </a:bodyPr>
          <a:lstStyle/>
          <a:p>
            <a:pPr algn="l"/>
            <a:r>
              <a:rPr sz="700" b="0">
                <a:solidFill>
                  <a:srgbClr val="E8EDF2"/>
                </a:solidFill>
                <a:latin typeface="Inter"/>
              </a:rPr>
              <a:t>O AI Copilot não é o foco principal da dissertação, mas sim uma ferramenta complementar de suporte à decisão. O foco central permanece na arquitetura de previsão (CEEMDAN-EWT-TFT) e no sistema de gestão de risco (ORI).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2026-02-28T21:44:04Z</dcterms:created>
  <dcterms:modified xsi:type="dcterms:W3CDTF">2026-02-28T21:44:04Z</dcterms:modified>
</cp:coreProperties>
</file>